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349" r:id="rId3"/>
    <p:sldId id="257" r:id="rId4"/>
    <p:sldId id="258" r:id="rId5"/>
    <p:sldId id="259" r:id="rId6"/>
    <p:sldId id="260" r:id="rId7"/>
    <p:sldId id="261" r:id="rId8"/>
    <p:sldId id="262" r:id="rId9"/>
    <p:sldId id="263" r:id="rId10"/>
    <p:sldId id="356" r:id="rId11"/>
    <p:sldId id="340" r:id="rId12"/>
    <p:sldId id="351" r:id="rId13"/>
    <p:sldId id="352" r:id="rId14"/>
    <p:sldId id="353" r:id="rId15"/>
    <p:sldId id="357" r:id="rId16"/>
    <p:sldId id="354" r:id="rId17"/>
    <p:sldId id="343" r:id="rId18"/>
    <p:sldId id="344" r:id="rId19"/>
    <p:sldId id="350" r:id="rId20"/>
    <p:sldId id="297" r:id="rId21"/>
    <p:sldId id="266" r:id="rId22"/>
    <p:sldId id="288" r:id="rId23"/>
    <p:sldId id="328" r:id="rId24"/>
    <p:sldId id="348" r:id="rId25"/>
    <p:sldId id="293" r:id="rId26"/>
    <p:sldId id="332" r:id="rId27"/>
    <p:sldId id="362" r:id="rId28"/>
    <p:sldId id="361" r:id="rId29"/>
    <p:sldId id="363" r:id="rId30"/>
    <p:sldId id="364" r:id="rId31"/>
    <p:sldId id="365" r:id="rId32"/>
    <p:sldId id="366" r:id="rId33"/>
    <p:sldId id="367" r:id="rId34"/>
    <p:sldId id="368" r:id="rId35"/>
    <p:sldId id="359" r:id="rId36"/>
    <p:sldId id="358" r:id="rId37"/>
    <p:sldId id="333" r:id="rId38"/>
    <p:sldId id="337" r:id="rId39"/>
    <p:sldId id="369" r:id="rId40"/>
    <p:sldId id="338" r:id="rId41"/>
    <p:sldId id="360" r:id="rId42"/>
    <p:sldId id="339" r:id="rId43"/>
    <p:sldId id="370" r:id="rId44"/>
    <p:sldId id="371" r:id="rId45"/>
    <p:sldId id="372" r:id="rId46"/>
    <p:sldId id="373" r:id="rId47"/>
    <p:sldId id="374" r:id="rId48"/>
    <p:sldId id="375" r:id="rId49"/>
    <p:sldId id="376" r:id="rId50"/>
    <p:sldId id="377" r:id="rId51"/>
    <p:sldId id="378" r:id="rId52"/>
    <p:sldId id="305" r:id="rId53"/>
    <p:sldId id="306" r:id="rId54"/>
    <p:sldId id="307" r:id="rId55"/>
    <p:sldId id="308" r:id="rId56"/>
    <p:sldId id="345" r:id="rId57"/>
    <p:sldId id="346" r:id="rId58"/>
    <p:sldId id="314" r:id="rId59"/>
    <p:sldId id="315" r:id="rId60"/>
    <p:sldId id="285" r:id="rId61"/>
    <p:sldId id="321" r:id="rId62"/>
    <p:sldId id="287"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434" autoAdjust="0"/>
  </p:normalViewPr>
  <p:slideViewPr>
    <p:cSldViewPr snapToGrid="0">
      <p:cViewPr varScale="1">
        <p:scale>
          <a:sx n="74" d="100"/>
          <a:sy n="74" d="100"/>
        </p:scale>
        <p:origin x="55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CE501F-CD1C-4216-AE69-36E606679034}" type="datetimeFigureOut">
              <a:rPr lang="en-IN" smtClean="0"/>
              <a:t>18-11-2024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FFE07-7815-44DB-B341-7D7708DAFEF0}" type="slidenum">
              <a:rPr lang="en-IN" smtClean="0"/>
              <a:t>‹#›</a:t>
            </a:fld>
            <a:endParaRPr lang="en-IN"/>
          </a:p>
        </p:txBody>
      </p:sp>
    </p:spTree>
    <p:extLst>
      <p:ext uri="{BB962C8B-B14F-4D97-AF65-F5344CB8AC3E}">
        <p14:creationId xmlns:p14="http://schemas.microsoft.com/office/powerpoint/2010/main" val="177909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747211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883931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201939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C61B8BA-8C01-4062-BDEE-CF2683840E9A}" type="datetimeFigureOut">
              <a:rPr lang="en-IN" smtClean="0"/>
              <a:t>18-11-2024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079882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C61B8BA-8C01-4062-BDEE-CF2683840E9A}" type="datetimeFigureOut">
              <a:rPr lang="en-IN" smtClean="0"/>
              <a:t>18-11-2024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77075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C61B8BA-8C01-4062-BDEE-CF2683840E9A}" type="datetimeFigureOut">
              <a:rPr lang="en-IN" smtClean="0"/>
              <a:t>18-11-2024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5370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61B8BA-8C01-4062-BDEE-CF2683840E9A}" type="datetimeFigureOut">
              <a:rPr lang="en-IN" smtClean="0"/>
              <a:t>18-11-2024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737012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18-11-2024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927424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18-11-2024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997955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80099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18-11-2024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88684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61B8BA-8C01-4062-BDEE-CF2683840E9A}" type="datetimeFigureOut">
              <a:rPr lang="en-IN" smtClean="0"/>
              <a:t>18-11-2024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A2DE6C-0E8E-4FF2-9EF3-9145EE6F7FF6}" type="slidenum">
              <a:rPr lang="en-IN" smtClean="0"/>
              <a:t>‹#›</a:t>
            </a:fld>
            <a:endParaRPr lang="en-IN"/>
          </a:p>
        </p:txBody>
      </p:sp>
    </p:spTree>
    <p:extLst>
      <p:ext uri="{BB962C8B-B14F-4D97-AF65-F5344CB8AC3E}">
        <p14:creationId xmlns:p14="http://schemas.microsoft.com/office/powerpoint/2010/main" val="1122005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kaggle.com/datasets/shankar24397/dry-eye-disease-in-medical-student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MGD1K/MGD1k/tree/mai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3944" y="139088"/>
            <a:ext cx="11658600" cy="63865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 name="Title 1"/>
          <p:cNvSpPr>
            <a:spLocks noGrp="1"/>
          </p:cNvSpPr>
          <p:nvPr>
            <p:ph type="ctrTitle"/>
          </p:nvPr>
        </p:nvSpPr>
        <p:spPr>
          <a:xfrm>
            <a:off x="1013960" y="2292440"/>
            <a:ext cx="10258567" cy="1774206"/>
          </a:xfrm>
        </p:spPr>
        <p:txBody>
          <a:bodyPr>
            <a:normAutofit fontScale="90000"/>
          </a:bodyPr>
          <a:lstStyle/>
          <a:p>
            <a:pPr>
              <a:lnSpc>
                <a:spcPct val="150000"/>
              </a:lnSpc>
            </a:pPr>
            <a:r>
              <a:rPr lang="en-IN" sz="3200" b="1" dirty="0">
                <a:latin typeface="Times New Roman" panose="02020603050405020304" pitchFamily="18" charset="0"/>
                <a:cs typeface="Times New Roman" panose="02020603050405020304" pitchFamily="18" charset="0"/>
              </a:rPr>
              <a:t>AI-Based Advanced Approaches and Dry Eye Disease Detection</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Based on Multi-Source Evidence: Cases, Applications,</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Issues, and Future Directions</a:t>
            </a:r>
          </a:p>
        </p:txBody>
      </p:sp>
    </p:spTree>
    <p:extLst>
      <p:ext uri="{BB962C8B-B14F-4D97-AF65-F5344CB8AC3E}">
        <p14:creationId xmlns:p14="http://schemas.microsoft.com/office/powerpoint/2010/main" val="11500473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smtClean="0">
                <a:latin typeface="Times New Roman" panose="02020603050405020304" pitchFamily="18" charset="0"/>
                <a:cs typeface="Times New Roman" panose="02020603050405020304" pitchFamily="18" charset="0"/>
              </a:rPr>
              <a:t>Domain 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76518" y="1690688"/>
            <a:ext cx="11204620" cy="4735870"/>
          </a:xfrm>
        </p:spPr>
        <p:txBody>
          <a:bodyPr>
            <a:normAutofit/>
          </a:bodyPr>
          <a:lstStyle/>
          <a:p>
            <a:pPr algn="just">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Image processing </a:t>
            </a:r>
            <a:r>
              <a:rPr lang="en-IN" sz="2000" dirty="0">
                <a:latin typeface="Times New Roman" panose="02020603050405020304" pitchFamily="18" charset="0"/>
                <a:cs typeface="Times New Roman" panose="02020603050405020304" pitchFamily="18" charset="0"/>
              </a:rPr>
              <a:t>is a fundamental field in computer science and engineering that deals with the analysis, manipulation, and interpretation of digital images</a:t>
            </a:r>
            <a:r>
              <a:rPr lang="en-IN" sz="2000" dirty="0" smtClean="0">
                <a:latin typeface="Times New Roman" panose="02020603050405020304" pitchFamily="18" charset="0"/>
                <a:cs typeface="Times New Roman" panose="02020603050405020304" pitchFamily="18" charset="0"/>
              </a:rPr>
              <a:t>.</a:t>
            </a:r>
          </a:p>
          <a:p>
            <a:pPr algn="just">
              <a:lnSpc>
                <a:spcPct val="150000"/>
              </a:lnSpc>
            </a:pP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It encompasses a wide range of techniques and algorithms used to perform various tasks, such as enhancing image quality, extracting features, recognizing patterns, and performing image-based decision making</a:t>
            </a:r>
            <a:r>
              <a:rPr lang="en-IN" sz="2000" dirty="0" smtClean="0">
                <a:latin typeface="Times New Roman" panose="02020603050405020304" pitchFamily="18" charset="0"/>
                <a:cs typeface="Times New Roman" panose="02020603050405020304" pitchFamily="18" charset="0"/>
              </a:rPr>
              <a:t>.</a:t>
            </a:r>
          </a:p>
          <a:p>
            <a:pPr algn="just">
              <a:lnSpc>
                <a:spcPct val="150000"/>
              </a:lnSpc>
            </a:pPr>
            <a:r>
              <a:rPr lang="en-IN" sz="2000" dirty="0">
                <a:latin typeface="Times New Roman" panose="02020603050405020304" pitchFamily="18" charset="0"/>
                <a:cs typeface="Times New Roman" panose="02020603050405020304" pitchFamily="18" charset="0"/>
              </a:rPr>
              <a:t>Image processing techniques can be applied in a wide range of domains, including computer vision, medical imaging, remote sensing, security and surveillance, and multimedia applications, among others.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The </a:t>
            </a:r>
            <a:r>
              <a:rPr lang="en-IN" sz="2000" dirty="0">
                <a:latin typeface="Times New Roman" panose="02020603050405020304" pitchFamily="18" charset="0"/>
                <a:cs typeface="Times New Roman" panose="02020603050405020304" pitchFamily="18" charset="0"/>
              </a:rPr>
              <a:t>field of image processing is continuously evolving, with new algorithms and techniques being developed to address more complex and challenging problems.</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9357624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647131" y="240754"/>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05629" y="1223492"/>
            <a:ext cx="11378540" cy="5267460"/>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This study explores advanced AI-based methodologies for detecting dry eye disease through multi-source evidence, focusing on symptom prediction, disease classification, and eye blink detection.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We </a:t>
            </a:r>
            <a:r>
              <a:rPr lang="en-IN" sz="2000" dirty="0">
                <a:latin typeface="Times New Roman" panose="02020603050405020304" pitchFamily="18" charset="0"/>
                <a:cs typeface="Times New Roman" panose="02020603050405020304" pitchFamily="18" charset="0"/>
              </a:rPr>
              <a:t>employ a </a:t>
            </a:r>
            <a:r>
              <a:rPr lang="en-IN" sz="2000" b="1" dirty="0">
                <a:latin typeface="Times New Roman" panose="02020603050405020304" pitchFamily="18" charset="0"/>
                <a:cs typeface="Times New Roman" panose="02020603050405020304" pitchFamily="18" charset="0"/>
              </a:rPr>
              <a:t>Multi-Layer Perceptron (MLP) </a:t>
            </a:r>
            <a:r>
              <a:rPr lang="en-IN" sz="2000" dirty="0">
                <a:latin typeface="Times New Roman" panose="02020603050405020304" pitchFamily="18" charset="0"/>
                <a:cs typeface="Times New Roman" panose="02020603050405020304" pitchFamily="18" charset="0"/>
              </a:rPr>
              <a:t>to predict dry eye disease based on symptomatic data, leveraging its capability to model complex, non-linear relationships.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Additionally</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MobileNet</a:t>
            </a:r>
            <a:r>
              <a:rPr lang="en-IN" sz="2000" dirty="0">
                <a:latin typeface="Times New Roman" panose="02020603050405020304" pitchFamily="18" charset="0"/>
                <a:cs typeface="Times New Roman" panose="02020603050405020304" pitchFamily="18" charset="0"/>
              </a:rPr>
              <a:t> is utilized to determine the presence of eye disease, offering a lightweight yet effective approach for real-time classification with reduced computational overhead.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To </a:t>
            </a:r>
            <a:r>
              <a:rPr lang="en-IN" sz="2000" dirty="0">
                <a:latin typeface="Times New Roman" panose="02020603050405020304" pitchFamily="18" charset="0"/>
                <a:cs typeface="Times New Roman" panose="02020603050405020304" pitchFamily="18" charset="0"/>
              </a:rPr>
              <a:t>complement these methods, </a:t>
            </a:r>
            <a:r>
              <a:rPr lang="en-IN" sz="2000" b="1" dirty="0">
                <a:latin typeface="Times New Roman" panose="02020603050405020304" pitchFamily="18" charset="0"/>
                <a:cs typeface="Times New Roman" panose="02020603050405020304" pitchFamily="18" charset="0"/>
              </a:rPr>
              <a:t>VGG-19</a:t>
            </a:r>
            <a:r>
              <a:rPr lang="en-IN" sz="2000" dirty="0">
                <a:latin typeface="Times New Roman" panose="02020603050405020304" pitchFamily="18" charset="0"/>
                <a:cs typeface="Times New Roman" panose="02020603050405020304" pitchFamily="18" charset="0"/>
              </a:rPr>
              <a:t> is applied for eye blink prediction, enhancing diagnostic accuracy by analyzing temporal features in eye movement patterns.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This </a:t>
            </a:r>
            <a:r>
              <a:rPr lang="en-IN" sz="2000" dirty="0">
                <a:latin typeface="Times New Roman" panose="02020603050405020304" pitchFamily="18" charset="0"/>
                <a:cs typeface="Times New Roman" panose="02020603050405020304" pitchFamily="18" charset="0"/>
              </a:rPr>
              <a:t>integrated approach aims to improve the precision and efficiency of dry eye disease detection, addressing current challenges and paving the way for future advancements in ophthalmic AI applications.</a:t>
            </a:r>
          </a:p>
        </p:txBody>
      </p:sp>
    </p:spTree>
    <p:extLst>
      <p:ext uri="{BB962C8B-B14F-4D97-AF65-F5344CB8AC3E}">
        <p14:creationId xmlns:p14="http://schemas.microsoft.com/office/powerpoint/2010/main" val="8403078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smtClean="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5155" y="1519707"/>
            <a:ext cx="11165983" cy="4932608"/>
          </a:xfrm>
        </p:spPr>
        <p:txBody>
          <a:bodyPr>
            <a:normAutofit/>
          </a:bodyPr>
          <a:lstStyle/>
          <a:p>
            <a:pPr marL="0" indent="0" algn="just">
              <a:lnSpc>
                <a:spcPct val="150000"/>
              </a:lnSpc>
              <a:buNone/>
            </a:pPr>
            <a:r>
              <a:rPr lang="en-IN" sz="2000" dirty="0" smtClean="0">
                <a:latin typeface="Times New Roman" panose="02020603050405020304" pitchFamily="18" charset="0"/>
                <a:cs typeface="Times New Roman" panose="02020603050405020304" pitchFamily="18" charset="0"/>
              </a:rPr>
              <a:t>The main objective of our project is, </a:t>
            </a:r>
          </a:p>
          <a:p>
            <a:pPr algn="just">
              <a:lnSpc>
                <a:spcPct val="150000"/>
              </a:lnSpc>
            </a:pPr>
            <a:r>
              <a:rPr lang="en-IN" sz="2000" dirty="0">
                <a:latin typeface="Times New Roman" panose="02020603050405020304" pitchFamily="18" charset="0"/>
                <a:cs typeface="Times New Roman" panose="02020603050405020304" pitchFamily="18" charset="0"/>
              </a:rPr>
              <a:t>To predict the likelihood of dry eye disease based on symptomatic data collected from patients. The MLP model will utilize deep neural network architecture to capture complex, non-linear relationships within symptom data, enhancing the accuracy of disease prediction</a:t>
            </a:r>
            <a:r>
              <a:rPr lang="en-IN" sz="2000" dirty="0" smtClean="0">
                <a:latin typeface="Times New Roman" panose="02020603050405020304" pitchFamily="18" charset="0"/>
                <a:cs typeface="Times New Roman" panose="02020603050405020304" pitchFamily="18" charset="0"/>
              </a:rPr>
              <a:t>.</a:t>
            </a:r>
          </a:p>
          <a:p>
            <a:pPr algn="just">
              <a:lnSpc>
                <a:spcPct val="150000"/>
              </a:lnSpc>
            </a:pPr>
            <a:r>
              <a:rPr lang="en-IN" sz="2000" dirty="0">
                <a:latin typeface="Times New Roman" panose="02020603050405020304" pitchFamily="18" charset="0"/>
                <a:cs typeface="Times New Roman" panose="02020603050405020304" pitchFamily="18" charset="0"/>
              </a:rPr>
              <a:t>To determine the presence of eye disease by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visual data using </a:t>
            </a:r>
            <a:r>
              <a:rPr lang="en-IN" sz="2000" dirty="0" err="1">
                <a:latin typeface="Times New Roman" panose="02020603050405020304" pitchFamily="18" charset="0"/>
                <a:cs typeface="Times New Roman" panose="02020603050405020304" pitchFamily="18" charset="0"/>
              </a:rPr>
              <a:t>MobileNet</a:t>
            </a:r>
            <a:r>
              <a:rPr lang="en-IN" sz="2000" dirty="0">
                <a:latin typeface="Times New Roman" panose="02020603050405020304" pitchFamily="18" charset="0"/>
                <a:cs typeface="Times New Roman" panose="02020603050405020304" pitchFamily="18" charset="0"/>
              </a:rPr>
              <a:t>, a lightweight convolutional neural network. </a:t>
            </a:r>
            <a:r>
              <a:rPr lang="en-IN" sz="2000" dirty="0" err="1">
                <a:latin typeface="Times New Roman" panose="02020603050405020304" pitchFamily="18" charset="0"/>
                <a:cs typeface="Times New Roman" panose="02020603050405020304" pitchFamily="18" charset="0"/>
              </a:rPr>
              <a:t>MobileNet</a:t>
            </a:r>
            <a:r>
              <a:rPr lang="en-IN" sz="2000" dirty="0">
                <a:latin typeface="Times New Roman" panose="02020603050405020304" pitchFamily="18" charset="0"/>
                <a:cs typeface="Times New Roman" panose="02020603050405020304" pitchFamily="18" charset="0"/>
              </a:rPr>
              <a:t> is designed for efficiency and effectiveness, making it suitable for real-time classification tasks in practical settings.</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9190392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73487" y="1287887"/>
            <a:ext cx="11556576" cy="5125792"/>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Dry Eye Disease (DED) is a common and often debilitating condition characterized by a persistent sensation of dryness and irritation in the eyes, accompanied by various symptoms such as redness, burning, and blurred vision.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It </a:t>
            </a:r>
            <a:r>
              <a:rPr lang="en-IN" sz="2000" dirty="0">
                <a:latin typeface="Times New Roman" panose="02020603050405020304" pitchFamily="18" charset="0"/>
                <a:cs typeface="Times New Roman" panose="02020603050405020304" pitchFamily="18" charset="0"/>
              </a:rPr>
              <a:t>results from an imbalance in the tear film, which can be caused by either reduced tear production or excessive tear evaporation.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The </a:t>
            </a:r>
            <a:r>
              <a:rPr lang="en-IN" sz="2000" dirty="0">
                <a:latin typeface="Times New Roman" panose="02020603050405020304" pitchFamily="18" charset="0"/>
                <a:cs typeface="Times New Roman" panose="02020603050405020304" pitchFamily="18" charset="0"/>
              </a:rPr>
              <a:t>prevalence of DED has been rising globally due to increased exposure to environmental factors, such as air pollution and prolonged screen use, as well as an aging population</a:t>
            </a:r>
            <a:r>
              <a:rPr lang="en-IN" sz="2000" dirty="0" smtClean="0">
                <a:latin typeface="Times New Roman" panose="02020603050405020304" pitchFamily="18" charset="0"/>
                <a:cs typeface="Times New Roman" panose="02020603050405020304" pitchFamily="18" charset="0"/>
              </a:rPr>
              <a:t>.</a:t>
            </a:r>
          </a:p>
          <a:p>
            <a:pPr algn="just">
              <a:lnSpc>
                <a:spcPct val="150000"/>
              </a:lnSpc>
            </a:pPr>
            <a:r>
              <a:rPr lang="en-IN" sz="2000" dirty="0">
                <a:latin typeface="Times New Roman" panose="02020603050405020304" pitchFamily="18" charset="0"/>
                <a:cs typeface="Times New Roman" panose="02020603050405020304" pitchFamily="18" charset="0"/>
              </a:rPr>
              <a:t>DED can significantly impact an individual’s quality of life, affecting daily activities and overall well-being. The condition not only leads to discomfort but can also impair visual function and cause secondary complications like corneal damage and recurrent infections.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3656838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7462"/>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Existing system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2125" y="1313645"/>
            <a:ext cx="11346286" cy="5061397"/>
          </a:xfrm>
        </p:spPr>
        <p:txBody>
          <a:bodyPr>
            <a:normAutofit lnSpcReduction="10000"/>
          </a:bodyPr>
          <a:lstStyle/>
          <a:p>
            <a:pPr algn="just">
              <a:lnSpc>
                <a:spcPct val="150000"/>
              </a:lnSpc>
            </a:pPr>
            <a:r>
              <a:rPr lang="en-IN" sz="2000" dirty="0">
                <a:latin typeface="Times New Roman" panose="02020603050405020304" pitchFamily="18" charset="0"/>
                <a:cs typeface="Times New Roman" panose="02020603050405020304" pitchFamily="18" charset="0"/>
              </a:rPr>
              <a:t>In existing systems The OSDI is a patient-reported questionnaire designed to assess the frequency and severity of dry eye symptoms, as well as the impact of these symptoms on daily life.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While </a:t>
            </a:r>
            <a:r>
              <a:rPr lang="en-IN" sz="2000" dirty="0">
                <a:latin typeface="Times New Roman" panose="02020603050405020304" pitchFamily="18" charset="0"/>
                <a:cs typeface="Times New Roman" panose="02020603050405020304" pitchFamily="18" charset="0"/>
              </a:rPr>
              <a:t>the OSDI provides useful subjective information, it is inherently limited by its reliance on patient self-reporting, which can introduce biases and inconsistencies.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Additionally</a:t>
            </a:r>
            <a:r>
              <a:rPr lang="en-IN" sz="2000" dirty="0">
                <a:latin typeface="Times New Roman" panose="02020603050405020304" pitchFamily="18" charset="0"/>
                <a:cs typeface="Times New Roman" panose="02020603050405020304" pitchFamily="18" charset="0"/>
              </a:rPr>
              <a:t>, the questionnaire may not fully address the underlying pathophysiological mechanisms of dry eye disease, limiting its ability to guide precise treatment.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Machine </a:t>
            </a:r>
            <a:r>
              <a:rPr lang="en-IN" sz="2000" dirty="0">
                <a:latin typeface="Times New Roman" panose="02020603050405020304" pitchFamily="18" charset="0"/>
                <a:cs typeface="Times New Roman" panose="02020603050405020304" pitchFamily="18" charset="0"/>
              </a:rPr>
              <a:t>Learning (ML) algorithms have begun to be explored as adjuncts or alternatives to traditional diagnostic methods.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Algorithms </a:t>
            </a:r>
            <a:r>
              <a:rPr lang="en-IN" sz="2000" dirty="0">
                <a:latin typeface="Times New Roman" panose="02020603050405020304" pitchFamily="18" charset="0"/>
                <a:cs typeface="Times New Roman" panose="02020603050405020304" pitchFamily="18" charset="0"/>
              </a:rPr>
              <a:t>such as Support Vector Machines (SVM) and Random Forests have been used to classify dry eye disease based on features extracted from clinical data and patient-reported outcomes.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842681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365126"/>
            <a:ext cx="11448312" cy="755336"/>
          </a:xfrm>
        </p:spPr>
        <p:txBody>
          <a:bodyPr>
            <a:normAutofit/>
          </a:bodyPr>
          <a:lstStyle/>
          <a:p>
            <a:pPr algn="ctr"/>
            <a:r>
              <a:rPr lang="en-US" b="1" dirty="0" smtClean="0">
                <a:latin typeface="Times New Roman" panose="02020603050405020304" pitchFamily="18" charset="0"/>
                <a:cs typeface="Times New Roman" panose="02020603050405020304" pitchFamily="18" charset="0"/>
              </a:rPr>
              <a:t>Disadvantages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6366" y="927279"/>
            <a:ext cx="11333409" cy="5563673"/>
          </a:xfrm>
        </p:spPr>
        <p:txBody>
          <a:bodyPr>
            <a:noAutofit/>
          </a:bodyPr>
          <a:lstStyle/>
          <a:p>
            <a:pPr lvl="0" algn="just">
              <a:lnSpc>
                <a:spcPct val="150000"/>
              </a:lnSpc>
            </a:pPr>
            <a:r>
              <a:rPr lang="en-IN" sz="1900" dirty="0" smtClean="0">
                <a:latin typeface="Times New Roman" panose="02020603050405020304" pitchFamily="18" charset="0"/>
                <a:cs typeface="Times New Roman" panose="02020603050405020304" pitchFamily="18" charset="0"/>
              </a:rPr>
              <a:t>Traditional </a:t>
            </a:r>
            <a:r>
              <a:rPr lang="en-IN" sz="1900" dirty="0">
                <a:latin typeface="Times New Roman" panose="02020603050405020304" pitchFamily="18" charset="0"/>
                <a:cs typeface="Times New Roman" panose="02020603050405020304" pitchFamily="18" charset="0"/>
              </a:rPr>
              <a:t>tests such as </a:t>
            </a:r>
            <a:r>
              <a:rPr lang="en-IN" sz="1900" dirty="0" err="1">
                <a:latin typeface="Times New Roman" panose="02020603050405020304" pitchFamily="18" charset="0"/>
                <a:cs typeface="Times New Roman" panose="02020603050405020304" pitchFamily="18" charset="0"/>
              </a:rPr>
              <a:t>Schirmer’s</a:t>
            </a:r>
            <a:r>
              <a:rPr lang="en-IN" sz="1900" dirty="0">
                <a:latin typeface="Times New Roman" panose="02020603050405020304" pitchFamily="18" charset="0"/>
                <a:cs typeface="Times New Roman" panose="02020603050405020304" pitchFamily="18" charset="0"/>
              </a:rPr>
              <a:t> Test and Tear Break-Up Time (TBUT) can be influenced by patient factors and environmental conditions, leading to variability in results and potential inconsistencies in diagnosing dry eye disease.</a:t>
            </a:r>
          </a:p>
          <a:p>
            <a:pPr lvl="0" algn="just">
              <a:lnSpc>
                <a:spcPct val="150000"/>
              </a:lnSpc>
            </a:pPr>
            <a:r>
              <a:rPr lang="en-IN" sz="1900" dirty="0" smtClean="0">
                <a:latin typeface="Times New Roman" panose="02020603050405020304" pitchFamily="18" charset="0"/>
                <a:cs typeface="Times New Roman" panose="02020603050405020304" pitchFamily="18" charset="0"/>
              </a:rPr>
              <a:t>Conventional </a:t>
            </a:r>
            <a:r>
              <a:rPr lang="en-IN" sz="1900" dirty="0">
                <a:latin typeface="Times New Roman" panose="02020603050405020304" pitchFamily="18" charset="0"/>
                <a:cs typeface="Times New Roman" panose="02020603050405020304" pitchFamily="18" charset="0"/>
              </a:rPr>
              <a:t>methods like the Ocular Surface Disease Index (OSDI) primarily capture subjective symptoms and may not fully address the underlying pathophysiological mechanisms of dry eye disease, limiting their ability to provide a comprehensive diagnosis</a:t>
            </a:r>
            <a:r>
              <a:rPr lang="en-IN" sz="1900" dirty="0" smtClean="0">
                <a:latin typeface="Times New Roman" panose="02020603050405020304" pitchFamily="18" charset="0"/>
                <a:cs typeface="Times New Roman" panose="02020603050405020304" pitchFamily="18" charset="0"/>
              </a:rPr>
              <a:t>.</a:t>
            </a:r>
          </a:p>
          <a:p>
            <a:pPr lvl="0" algn="just">
              <a:lnSpc>
                <a:spcPct val="150000"/>
              </a:lnSpc>
            </a:pPr>
            <a:r>
              <a:rPr lang="en-IN" sz="1900" dirty="0" smtClean="0">
                <a:latin typeface="Times New Roman" panose="02020603050405020304" pitchFamily="18" charset="0"/>
                <a:cs typeface="Times New Roman" panose="02020603050405020304" pitchFamily="18" charset="0"/>
              </a:rPr>
              <a:t>Early </a:t>
            </a:r>
            <a:r>
              <a:rPr lang="en-IN" sz="1900" dirty="0">
                <a:latin typeface="Times New Roman" panose="02020603050405020304" pitchFamily="18" charset="0"/>
                <a:cs typeface="Times New Roman" panose="02020603050405020304" pitchFamily="18" charset="0"/>
              </a:rPr>
              <a:t>machine learning algorithms, such as Support Vector Machines (SVM) and Random Forests, can be complex to implement and tune. </a:t>
            </a:r>
          </a:p>
          <a:p>
            <a:pPr lvl="0" algn="just">
              <a:lnSpc>
                <a:spcPct val="150000"/>
              </a:lnSpc>
            </a:pPr>
            <a:r>
              <a:rPr lang="en-IN" sz="1900" dirty="0" smtClean="0">
                <a:latin typeface="Times New Roman" panose="02020603050405020304" pitchFamily="18" charset="0"/>
                <a:cs typeface="Times New Roman" panose="02020603050405020304" pitchFamily="18" charset="0"/>
              </a:rPr>
              <a:t>SVMs </a:t>
            </a:r>
            <a:r>
              <a:rPr lang="en-IN" sz="1900" dirty="0">
                <a:latin typeface="Times New Roman" panose="02020603050405020304" pitchFamily="18" charset="0"/>
                <a:cs typeface="Times New Roman" panose="02020603050405020304" pitchFamily="18" charset="0"/>
              </a:rPr>
              <a:t>require careful parameter adjustment and can be computationally intensive, while Random Forests may become less interpretable with numerous trees.</a:t>
            </a:r>
          </a:p>
          <a:p>
            <a:pPr lvl="0" algn="just">
              <a:lnSpc>
                <a:spcPct val="150000"/>
              </a:lnSpc>
            </a:pPr>
            <a:r>
              <a:rPr lang="en-IN" sz="1900" dirty="0" smtClean="0">
                <a:latin typeface="Times New Roman" panose="02020603050405020304" pitchFamily="18" charset="0"/>
                <a:cs typeface="Times New Roman" panose="02020603050405020304" pitchFamily="18" charset="0"/>
              </a:rPr>
              <a:t>Many </a:t>
            </a:r>
            <a:r>
              <a:rPr lang="en-IN" sz="1900" dirty="0">
                <a:latin typeface="Times New Roman" panose="02020603050405020304" pitchFamily="18" charset="0"/>
                <a:cs typeface="Times New Roman" panose="02020603050405020304" pitchFamily="18" charset="0"/>
              </a:rPr>
              <a:t>traditional diagnostic methods require specialized equipment and significant time for administration and analysis, which can limit their efficiency and accessibility in clinical settings</a:t>
            </a:r>
            <a:r>
              <a:rPr lang="en-IN" sz="1900" dirty="0" smtClean="0">
                <a:latin typeface="Times New Roman" panose="02020603050405020304" pitchFamily="18" charset="0"/>
                <a:cs typeface="Times New Roman" panose="02020603050405020304" pitchFamily="18" charset="0"/>
              </a:rPr>
              <a:t>.</a:t>
            </a:r>
            <a:endParaRPr lang="en-IN" sz="19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8774797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8048" y="242888"/>
            <a:ext cx="10515600"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99246" y="1184857"/>
            <a:ext cx="11457870" cy="5318974"/>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proposed system aims to enhance the detection and prediction of dry eye disease (DED) through a multi-faceted approach utilizing advanced machine learning models.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For </a:t>
            </a:r>
            <a:r>
              <a:rPr lang="en-IN" sz="2000" dirty="0">
                <a:latin typeface="Times New Roman" panose="02020603050405020304" pitchFamily="18" charset="0"/>
                <a:cs typeface="Times New Roman" panose="02020603050405020304" pitchFamily="18" charset="0"/>
              </a:rPr>
              <a:t>symptom-based prediction, we employ a Multi-Layer Perceptron (MLP) to classify DED based on a CSV dataset of dry eye symptoms.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MLP </a:t>
            </a:r>
            <a:r>
              <a:rPr lang="en-IN" sz="2000" dirty="0">
                <a:latin typeface="Times New Roman" panose="02020603050405020304" pitchFamily="18" charset="0"/>
                <a:cs typeface="Times New Roman" panose="02020603050405020304" pitchFamily="18" charset="0"/>
              </a:rPr>
              <a:t>will be used for classification, and performance will be evaluated using metrics including accuracy, precision, recall, and F1-score to determine whether the disease is affected. For visual diagnosis, </a:t>
            </a:r>
            <a:r>
              <a:rPr lang="en-IN" sz="2000" dirty="0" err="1">
                <a:latin typeface="Times New Roman" panose="02020603050405020304" pitchFamily="18" charset="0"/>
                <a:cs typeface="Times New Roman" panose="02020603050405020304" pitchFamily="18" charset="0"/>
              </a:rPr>
              <a:t>MobileNet</a:t>
            </a:r>
            <a:r>
              <a:rPr lang="en-IN" sz="2000" dirty="0">
                <a:latin typeface="Times New Roman" panose="02020603050405020304" pitchFamily="18" charset="0"/>
                <a:cs typeface="Times New Roman" panose="02020603050405020304" pitchFamily="18" charset="0"/>
              </a:rPr>
              <a:t> will be applied to images of eye diseases.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err="1" smtClean="0">
                <a:latin typeface="Times New Roman" panose="02020603050405020304" pitchFamily="18" charset="0"/>
                <a:cs typeface="Times New Roman" panose="02020603050405020304" pitchFamily="18" charset="0"/>
              </a:rPr>
              <a:t>MobileNet</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will be trained and tested, and its effectiveness will be assessed based on accuracy and error rate in predicting the presence of eye disease.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Additionally</a:t>
            </a:r>
            <a:r>
              <a:rPr lang="en-IN" sz="2000" dirty="0">
                <a:latin typeface="Times New Roman" panose="02020603050405020304" pitchFamily="18" charset="0"/>
                <a:cs typeface="Times New Roman" panose="02020603050405020304" pitchFamily="18" charset="0"/>
              </a:rPr>
              <a:t>, VGG-19 will be utilized to predict eye blinks using an eye blink dataset, involving similar preprocessing and feature extraction steps. </a:t>
            </a:r>
            <a:endParaRPr lang="en-IN" sz="2000"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42830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365125"/>
            <a:ext cx="11474069" cy="81007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3639" y="1017431"/>
            <a:ext cx="11281893" cy="5460642"/>
          </a:xfrm>
        </p:spPr>
        <p:txBody>
          <a:bodyPr>
            <a:noAutofit/>
          </a:bodyPr>
          <a:lstStyle/>
          <a:p>
            <a:pPr lvl="0" algn="just">
              <a:lnSpc>
                <a:spcPct val="150000"/>
              </a:lnSpc>
            </a:pPr>
            <a:r>
              <a:rPr lang="en-IN" sz="1900" dirty="0" smtClean="0">
                <a:latin typeface="Times New Roman" panose="02020603050405020304" pitchFamily="18" charset="0"/>
                <a:cs typeface="Times New Roman" panose="02020603050405020304" pitchFamily="18" charset="0"/>
              </a:rPr>
              <a:t>The </a:t>
            </a:r>
            <a:r>
              <a:rPr lang="en-IN" sz="1900" dirty="0">
                <a:latin typeface="Times New Roman" panose="02020603050405020304" pitchFamily="18" charset="0"/>
                <a:cs typeface="Times New Roman" panose="02020603050405020304" pitchFamily="18" charset="0"/>
              </a:rPr>
              <a:t>integration of MLP for symptom-based prediction, </a:t>
            </a:r>
            <a:r>
              <a:rPr lang="en-IN" sz="1900" dirty="0" err="1">
                <a:latin typeface="Times New Roman" panose="02020603050405020304" pitchFamily="18" charset="0"/>
                <a:cs typeface="Times New Roman" panose="02020603050405020304" pitchFamily="18" charset="0"/>
              </a:rPr>
              <a:t>MobileNet</a:t>
            </a:r>
            <a:r>
              <a:rPr lang="en-IN" sz="1900" dirty="0">
                <a:latin typeface="Times New Roman" panose="02020603050405020304" pitchFamily="18" charset="0"/>
                <a:cs typeface="Times New Roman" panose="02020603050405020304" pitchFamily="18" charset="0"/>
              </a:rPr>
              <a:t> for visual diagnosis, and VGG-19 for blink prediction provides a holistic approach to detecting and </a:t>
            </a:r>
            <a:r>
              <a:rPr lang="en-IN" sz="1900" dirty="0" err="1">
                <a:latin typeface="Times New Roman" panose="02020603050405020304" pitchFamily="18" charset="0"/>
                <a:cs typeface="Times New Roman" panose="02020603050405020304" pitchFamily="18" charset="0"/>
              </a:rPr>
              <a:t>analyzing</a:t>
            </a:r>
            <a:r>
              <a:rPr lang="en-IN" sz="1900" dirty="0">
                <a:latin typeface="Times New Roman" panose="02020603050405020304" pitchFamily="18" charset="0"/>
                <a:cs typeface="Times New Roman" panose="02020603050405020304" pitchFamily="18" charset="0"/>
              </a:rPr>
              <a:t> dry eye disease and related conditions.</a:t>
            </a:r>
          </a:p>
          <a:p>
            <a:pPr lvl="0" algn="just">
              <a:lnSpc>
                <a:spcPct val="150000"/>
              </a:lnSpc>
            </a:pPr>
            <a:r>
              <a:rPr lang="en-IN" sz="1900" dirty="0" smtClean="0">
                <a:latin typeface="Times New Roman" panose="02020603050405020304" pitchFamily="18" charset="0"/>
                <a:cs typeface="Times New Roman" panose="02020603050405020304" pitchFamily="18" charset="0"/>
              </a:rPr>
              <a:t>By </a:t>
            </a:r>
            <a:r>
              <a:rPr lang="en-IN" sz="1900" dirty="0">
                <a:latin typeface="Times New Roman" panose="02020603050405020304" pitchFamily="18" charset="0"/>
                <a:cs typeface="Times New Roman" panose="02020603050405020304" pitchFamily="18" charset="0"/>
              </a:rPr>
              <a:t>leveraging machine learning models, the system reduces the reliance on subjective assessments and patient self-reporting, leading to more consistent and objective diagnostic results.</a:t>
            </a:r>
          </a:p>
          <a:p>
            <a:pPr lvl="0" algn="just">
              <a:lnSpc>
                <a:spcPct val="150000"/>
              </a:lnSpc>
            </a:pPr>
            <a:r>
              <a:rPr lang="en-IN" sz="1900" dirty="0" smtClean="0">
                <a:latin typeface="Times New Roman" panose="02020603050405020304" pitchFamily="18" charset="0"/>
                <a:cs typeface="Times New Roman" panose="02020603050405020304" pitchFamily="18" charset="0"/>
              </a:rPr>
              <a:t>Utilizing </a:t>
            </a:r>
            <a:r>
              <a:rPr lang="en-IN" sz="1900" dirty="0">
                <a:latin typeface="Times New Roman" panose="02020603050405020304" pitchFamily="18" charset="0"/>
                <a:cs typeface="Times New Roman" panose="02020603050405020304" pitchFamily="18" charset="0"/>
              </a:rPr>
              <a:t>advanced models like MLP, </a:t>
            </a:r>
            <a:r>
              <a:rPr lang="en-IN" sz="1900" dirty="0" err="1">
                <a:latin typeface="Times New Roman" panose="02020603050405020304" pitchFamily="18" charset="0"/>
                <a:cs typeface="Times New Roman" panose="02020603050405020304" pitchFamily="18" charset="0"/>
              </a:rPr>
              <a:t>MobileNet</a:t>
            </a:r>
            <a:r>
              <a:rPr lang="en-IN" sz="1900" dirty="0">
                <a:latin typeface="Times New Roman" panose="02020603050405020304" pitchFamily="18" charset="0"/>
                <a:cs typeface="Times New Roman" panose="02020603050405020304" pitchFamily="18" charset="0"/>
              </a:rPr>
              <a:t>, and VGG-19 allows for sophisticated pattern recognition and classification, potentially improving the accuracy of detecting dry eye disease, eye disease presence, and eye blink patterns compared to traditional methods.</a:t>
            </a:r>
          </a:p>
          <a:p>
            <a:pPr lvl="0" algn="just">
              <a:lnSpc>
                <a:spcPct val="150000"/>
              </a:lnSpc>
            </a:pPr>
            <a:r>
              <a:rPr lang="en-IN" sz="1900" dirty="0" smtClean="0">
                <a:latin typeface="Times New Roman" panose="02020603050405020304" pitchFamily="18" charset="0"/>
                <a:cs typeface="Times New Roman" panose="02020603050405020304" pitchFamily="18" charset="0"/>
              </a:rPr>
              <a:t>The </a:t>
            </a:r>
            <a:r>
              <a:rPr lang="en-IN" sz="1900" dirty="0">
                <a:latin typeface="Times New Roman" panose="02020603050405020304" pitchFamily="18" charset="0"/>
                <a:cs typeface="Times New Roman" panose="02020603050405020304" pitchFamily="18" charset="0"/>
              </a:rPr>
              <a:t>use of automated machine learning models streamlines the diagnostic process, reducing the time required for analysis and enabling real-time or near-real-time assessments.</a:t>
            </a:r>
          </a:p>
          <a:p>
            <a:pPr lvl="0" algn="just">
              <a:lnSpc>
                <a:spcPct val="150000"/>
              </a:lnSpc>
            </a:pPr>
            <a:r>
              <a:rPr lang="en-IN" sz="1900" dirty="0" smtClean="0">
                <a:latin typeface="Times New Roman" panose="02020603050405020304" pitchFamily="18" charset="0"/>
                <a:cs typeface="Times New Roman" panose="02020603050405020304" pitchFamily="18" charset="0"/>
              </a:rPr>
              <a:t>The </a:t>
            </a:r>
            <a:r>
              <a:rPr lang="en-IN" sz="1900" dirty="0">
                <a:latin typeface="Times New Roman" panose="02020603050405020304" pitchFamily="18" charset="0"/>
                <a:cs typeface="Times New Roman" panose="02020603050405020304" pitchFamily="18" charset="0"/>
              </a:rPr>
              <a:t>system combines various types of data, including symptom records, imaging data, and blink patterns, to provide a more comprehensive evaluation of the condition, enhancing diagnostic precision.</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09026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4" name="Title 1"/>
          <p:cNvSpPr>
            <a:spLocks noGrp="1"/>
          </p:cNvSpPr>
          <p:nvPr>
            <p:ph type="title"/>
          </p:nvPr>
        </p:nvSpPr>
        <p:spPr>
          <a:xfrm>
            <a:off x="731687" y="334044"/>
            <a:ext cx="10515600" cy="984247"/>
          </a:xfrm>
        </p:spPr>
        <p:txBody>
          <a:bodyPr/>
          <a:lstStyle/>
          <a:p>
            <a:pPr algn="ctr"/>
            <a:r>
              <a:rPr lang="en-US" b="1" dirty="0" smtClean="0">
                <a:latin typeface="Times New Roman" panose="02020603050405020304" pitchFamily="18" charset="0"/>
                <a:cs typeface="Times New Roman" panose="02020603050405020304" pitchFamily="18" charset="0"/>
              </a:rPr>
              <a:t>Architecture diagram</a:t>
            </a:r>
            <a:endParaRPr lang="en-IN" b="1" dirty="0">
              <a:latin typeface="Times New Roman" panose="02020603050405020304" pitchFamily="18" charset="0"/>
              <a:cs typeface="Times New Roman" panose="02020603050405020304" pitchFamily="18" charset="0"/>
            </a:endParaRPr>
          </a:p>
        </p:txBody>
      </p:sp>
      <p:grpSp>
        <p:nvGrpSpPr>
          <p:cNvPr id="15" name="Group 14"/>
          <p:cNvGrpSpPr/>
          <p:nvPr/>
        </p:nvGrpSpPr>
        <p:grpSpPr>
          <a:xfrm>
            <a:off x="900752" y="1405767"/>
            <a:ext cx="10346535" cy="4885851"/>
            <a:chOff x="900752" y="1405767"/>
            <a:chExt cx="10346535" cy="4885851"/>
          </a:xfrm>
        </p:grpSpPr>
        <p:sp>
          <p:nvSpPr>
            <p:cNvPr id="63" name="TextBox 4"/>
            <p:cNvSpPr txBox="1"/>
            <p:nvPr/>
          </p:nvSpPr>
          <p:spPr>
            <a:xfrm>
              <a:off x="1932467" y="2784703"/>
              <a:ext cx="1733322" cy="619058"/>
            </a:xfrm>
            <a:prstGeom prst="rect">
              <a:avLst/>
            </a:prstGeom>
            <a:noFill/>
          </p:spPr>
          <p:txBody>
            <a:bodyPr wrap="square" rtlCol="0">
              <a:noAutofit/>
            </a:bodyPr>
            <a:lstStyle/>
            <a:p>
              <a:pPr algn="ctr">
                <a:spcAft>
                  <a:spcPts val="0"/>
                </a:spcAft>
                <a:defRPr/>
              </a:pPr>
              <a:r>
                <a:rPr lang="en-IN" sz="1400" b="1" dirty="0" smtClean="0">
                  <a:latin typeface="Times New Roman" panose="02020603050405020304" pitchFamily="18" charset="0"/>
                  <a:ea typeface="Times New Roman" panose="02020603050405020304" pitchFamily="18" charset="0"/>
                  <a:cs typeface="Times New Roman" panose="02020603050405020304" pitchFamily="18" charset="0"/>
                </a:rPr>
                <a:t>Input Dataset (Images and CSV file)</a:t>
              </a:r>
              <a:endParaRPr lang="en-IN" sz="1400" b="1"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90004" y="1764595"/>
              <a:ext cx="1218251" cy="907339"/>
            </a:xfrm>
            <a:prstGeom prst="rect">
              <a:avLst/>
            </a:prstGeom>
          </p:spPr>
        </p:pic>
        <p:pic>
          <p:nvPicPr>
            <p:cNvPr id="3" name="Picture 2"/>
            <p:cNvPicPr>
              <a:picLocks noChangeAspect="1"/>
            </p:cNvPicPr>
            <p:nvPr/>
          </p:nvPicPr>
          <p:blipFill>
            <a:blip r:embed="rId3"/>
            <a:stretch>
              <a:fillRect/>
            </a:stretch>
          </p:blipFill>
          <p:spPr>
            <a:xfrm>
              <a:off x="4964965" y="1632127"/>
              <a:ext cx="1126475" cy="1172274"/>
            </a:xfrm>
            <a:prstGeom prst="rect">
              <a:avLst/>
            </a:prstGeom>
          </p:spPr>
        </p:pic>
        <p:sp>
          <p:nvSpPr>
            <p:cNvPr id="28" name="TextBox 4"/>
            <p:cNvSpPr txBox="1"/>
            <p:nvPr/>
          </p:nvSpPr>
          <p:spPr>
            <a:xfrm>
              <a:off x="4464577" y="2748656"/>
              <a:ext cx="2367144" cy="786603"/>
            </a:xfrm>
            <a:prstGeom prst="rect">
              <a:avLst/>
            </a:prstGeom>
            <a:noFill/>
          </p:spPr>
          <p:txBody>
            <a:bodyPr wrap="square" rtlCol="0">
              <a:noAutofit/>
            </a:bodyPr>
            <a:lstStyle/>
            <a:p>
              <a:pPr algn="ctr">
                <a:spcAft>
                  <a:spcPts val="0"/>
                </a:spcAft>
                <a:defRPr/>
              </a:pPr>
              <a:r>
                <a:rPr lang="en-US" sz="1400" b="1" dirty="0" smtClean="0">
                  <a:latin typeface="Times New Roman" panose="02020603050405020304" pitchFamily="18" charset="0"/>
                  <a:ea typeface="Times New Roman" panose="02020603050405020304" pitchFamily="18" charset="0"/>
                  <a:cs typeface="Times New Roman" panose="02020603050405020304" pitchFamily="18" charset="0"/>
                </a:rPr>
                <a:t>Precompile Process</a:t>
              </a:r>
            </a:p>
            <a:p>
              <a:pPr algn="ctr">
                <a:spcAft>
                  <a:spcPts val="0"/>
                </a:spcAft>
                <a:defRPr/>
              </a:pPr>
              <a: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t>(Handling Missing values, Image Resize and Gray scale Conversions )</a:t>
              </a:r>
              <a:endParaRPr lang="en-US"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7" name="Straight Arrow Connector 6"/>
            <p:cNvCxnSpPr>
              <a:stCxn id="27" idx="3"/>
              <a:endCxn id="3" idx="1"/>
            </p:cNvCxnSpPr>
            <p:nvPr/>
          </p:nvCxnSpPr>
          <p:spPr>
            <a:xfrm>
              <a:off x="3408255" y="2218265"/>
              <a:ext cx="15567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4"/>
            <p:cNvSpPr txBox="1"/>
            <p:nvPr/>
          </p:nvSpPr>
          <p:spPr>
            <a:xfrm>
              <a:off x="7754301" y="2804401"/>
              <a:ext cx="1880095" cy="475986"/>
            </a:xfrm>
            <a:prstGeom prst="rect">
              <a:avLst/>
            </a:prstGeom>
            <a:noFill/>
          </p:spPr>
          <p:txBody>
            <a:bodyPr wrap="square" rtlCol="0">
              <a:noAutofit/>
            </a:bodyPr>
            <a:lstStyle/>
            <a:p>
              <a:pPr algn="ctr">
                <a:spcAft>
                  <a:spcPts val="0"/>
                </a:spcAft>
                <a:defRPr/>
              </a:pPr>
              <a:r>
                <a:rPr lang="en-US" sz="1400" b="1" dirty="0" smtClean="0">
                  <a:latin typeface="Times New Roman" panose="02020603050405020304" pitchFamily="18" charset="0"/>
                  <a:ea typeface="Times New Roman" panose="02020603050405020304" pitchFamily="18" charset="0"/>
                  <a:cs typeface="Times New Roman" panose="02020603050405020304" pitchFamily="18" charset="0"/>
                </a:rPr>
                <a:t>Data / Image Slicing</a:t>
              </a:r>
            </a:p>
            <a:p>
              <a:pPr algn="ctr">
                <a:spcAft>
                  <a:spcPts val="0"/>
                </a:spcAft>
                <a:defRPr/>
              </a:pPr>
              <a: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t>(Test and Train)</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10" name="Straight Arrow Connector 9"/>
            <p:cNvCxnSpPr>
              <a:stCxn id="3" idx="3"/>
            </p:cNvCxnSpPr>
            <p:nvPr/>
          </p:nvCxnSpPr>
          <p:spPr>
            <a:xfrm flipV="1">
              <a:off x="6091440" y="2218264"/>
              <a:ext cx="165238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p:nvPr/>
          </p:nvCxnSpPr>
          <p:spPr>
            <a:xfrm>
              <a:off x="9356046" y="2208415"/>
              <a:ext cx="1084796" cy="41667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4"/>
            <p:cNvSpPr txBox="1"/>
            <p:nvPr/>
          </p:nvSpPr>
          <p:spPr>
            <a:xfrm>
              <a:off x="7071040" y="5233119"/>
              <a:ext cx="1733322" cy="888586"/>
            </a:xfrm>
            <a:prstGeom prst="rect">
              <a:avLst/>
            </a:prstGeom>
            <a:noFill/>
          </p:spPr>
          <p:txBody>
            <a:bodyPr wrap="square" rtlCol="0">
              <a:noAutofit/>
            </a:bodyPr>
            <a:lstStyle/>
            <a:p>
              <a:pPr algn="ctr">
                <a:spcAft>
                  <a:spcPts val="0"/>
                </a:spcAft>
                <a:defRPr/>
              </a:pPr>
              <a:r>
                <a:rPr lang="en-US" sz="1400" b="1" dirty="0" smtClean="0">
                  <a:latin typeface="Times New Roman" panose="02020603050405020304" pitchFamily="18" charset="0"/>
                  <a:ea typeface="Times New Roman" panose="02020603050405020304" pitchFamily="18" charset="0"/>
                  <a:cs typeface="Times New Roman" panose="02020603050405020304" pitchFamily="18" charset="0"/>
                </a:rPr>
                <a:t>Classification</a:t>
              </a:r>
            </a:p>
            <a:p>
              <a:pPr algn="ctr">
                <a:spcAft>
                  <a:spcPts val="0"/>
                </a:spcAft>
                <a:defRPr/>
              </a:pPr>
              <a: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t>(MLP, VGG-19 and Mobile Net)</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4"/>
            <a:stretch>
              <a:fillRect/>
            </a:stretch>
          </p:blipFill>
          <p:spPr>
            <a:xfrm>
              <a:off x="3844434" y="4006371"/>
              <a:ext cx="1683768" cy="1174293"/>
            </a:xfrm>
            <a:prstGeom prst="rect">
              <a:avLst/>
            </a:prstGeom>
          </p:spPr>
        </p:pic>
        <p:sp>
          <p:nvSpPr>
            <p:cNvPr id="39" name="TextBox 4"/>
            <p:cNvSpPr txBox="1"/>
            <p:nvPr/>
          </p:nvSpPr>
          <p:spPr>
            <a:xfrm>
              <a:off x="3794880" y="5354354"/>
              <a:ext cx="1733322" cy="937264"/>
            </a:xfrm>
            <a:prstGeom prst="rect">
              <a:avLst/>
            </a:prstGeom>
            <a:noFill/>
          </p:spPr>
          <p:txBody>
            <a:bodyPr wrap="square" rtlCol="0">
              <a:noAutofit/>
            </a:bodyPr>
            <a:lstStyle/>
            <a:p>
              <a:pPr algn="ctr">
                <a:spcAft>
                  <a:spcPts val="0"/>
                </a:spcAft>
                <a:defRPr/>
              </a:pPr>
              <a:r>
                <a:rPr lang="en-US" sz="1400" b="1" dirty="0" smtClean="0">
                  <a:latin typeface="Times New Roman" panose="02020603050405020304" pitchFamily="18" charset="0"/>
                  <a:ea typeface="Times New Roman" panose="02020603050405020304" pitchFamily="18" charset="0"/>
                  <a:cs typeface="Times New Roman" panose="02020603050405020304" pitchFamily="18" charset="0"/>
                </a:rPr>
                <a:t>Performance Metrics</a:t>
              </a:r>
            </a:p>
            <a:p>
              <a:pPr algn="ctr">
                <a:spcAft>
                  <a:spcPts val="0"/>
                </a:spcAft>
                <a:defRPr/>
              </a:pPr>
              <a: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t>(Accuracy and Error Rate)</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16" name="Straight Arrow Connector 15"/>
            <p:cNvCxnSpPr/>
            <p:nvPr/>
          </p:nvCxnSpPr>
          <p:spPr>
            <a:xfrm flipH="1">
              <a:off x="5465352" y="4725464"/>
              <a:ext cx="13663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5"/>
            <a:stretch>
              <a:fillRect/>
            </a:stretch>
          </p:blipFill>
          <p:spPr>
            <a:xfrm>
              <a:off x="900752" y="4037361"/>
              <a:ext cx="2253725" cy="1521846"/>
            </a:xfrm>
            <a:prstGeom prst="rect">
              <a:avLst/>
            </a:prstGeom>
          </p:spPr>
        </p:pic>
        <p:cxnSp>
          <p:nvCxnSpPr>
            <p:cNvPr id="20" name="Elbow Connector 19"/>
            <p:cNvCxnSpPr>
              <a:stCxn id="14" idx="1"/>
              <a:endCxn id="18" idx="3"/>
            </p:cNvCxnSpPr>
            <p:nvPr/>
          </p:nvCxnSpPr>
          <p:spPr>
            <a:xfrm rot="10800000" flipV="1">
              <a:off x="3154477" y="4593518"/>
              <a:ext cx="689957" cy="20476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4"/>
            <p:cNvSpPr txBox="1"/>
            <p:nvPr/>
          </p:nvSpPr>
          <p:spPr>
            <a:xfrm>
              <a:off x="1065805" y="5530566"/>
              <a:ext cx="1733322" cy="662241"/>
            </a:xfrm>
            <a:prstGeom prst="rect">
              <a:avLst/>
            </a:prstGeom>
            <a:noFill/>
          </p:spPr>
          <p:txBody>
            <a:bodyPr wrap="square" rtlCol="0">
              <a:noAutofit/>
            </a:bodyPr>
            <a:lstStyle/>
            <a:p>
              <a:pPr algn="ctr">
                <a:spcAft>
                  <a:spcPts val="0"/>
                </a:spcAft>
                <a:defRPr/>
              </a:pPr>
              <a:r>
                <a:rPr lang="en-US" sz="1400" b="1" dirty="0" smtClean="0">
                  <a:latin typeface="Times New Roman" panose="02020603050405020304" pitchFamily="18" charset="0"/>
                  <a:ea typeface="Times New Roman" panose="02020603050405020304" pitchFamily="18" charset="0"/>
                  <a:cs typeface="Times New Roman" panose="02020603050405020304" pitchFamily="18" charset="0"/>
                </a:rPr>
                <a:t>Prediction</a:t>
              </a:r>
            </a:p>
            <a:p>
              <a:pPr algn="ctr">
                <a:spcAft>
                  <a:spcPts val="0"/>
                </a:spcAft>
                <a:defRPr/>
              </a:pPr>
              <a: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t>(Affected or Not)</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9" name="TextBox 4"/>
            <p:cNvSpPr txBox="1"/>
            <p:nvPr/>
          </p:nvSpPr>
          <p:spPr>
            <a:xfrm>
              <a:off x="9513965" y="3711273"/>
              <a:ext cx="1733322" cy="699951"/>
            </a:xfrm>
            <a:prstGeom prst="rect">
              <a:avLst/>
            </a:prstGeom>
            <a:noFill/>
          </p:spPr>
          <p:txBody>
            <a:bodyPr wrap="square" rtlCol="0">
              <a:noAutofit/>
            </a:bodyPr>
            <a:lstStyle/>
            <a:p>
              <a:pPr algn="ctr">
                <a:spcAft>
                  <a:spcPts val="0"/>
                </a:spcAft>
                <a:defRPr/>
              </a:pPr>
              <a:r>
                <a:rPr lang="en-US" sz="1400" b="1" dirty="0" smtClean="0">
                  <a:latin typeface="Times New Roman" panose="02020603050405020304" pitchFamily="18" charset="0"/>
                  <a:ea typeface="Times New Roman" panose="02020603050405020304" pitchFamily="18" charset="0"/>
                  <a:cs typeface="Times New Roman" panose="02020603050405020304" pitchFamily="18" charset="0"/>
                </a:rPr>
                <a:t>Feature Extraction</a:t>
              </a:r>
            </a:p>
            <a:p>
              <a:pPr algn="ctr">
                <a:spcAft>
                  <a:spcPts val="0"/>
                </a:spcAft>
                <a:defRPr/>
              </a:pPr>
              <a:r>
                <a:rPr lang="en-US" sz="1400" dirty="0" smtClean="0">
                  <a:latin typeface="Times New Roman" panose="02020603050405020304" pitchFamily="18" charset="0"/>
                  <a:ea typeface="Times New Roman" panose="02020603050405020304" pitchFamily="18" charset="0"/>
                  <a:cs typeface="Times New Roman" panose="02020603050405020304" pitchFamily="18" charset="0"/>
                </a:rPr>
                <a:t>(Mean, Median and Variance, GLCM)</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6" name="Elbow Connector 5"/>
            <p:cNvCxnSpPr>
              <a:stCxn id="29" idx="2"/>
            </p:cNvCxnSpPr>
            <p:nvPr/>
          </p:nvCxnSpPr>
          <p:spPr>
            <a:xfrm rot="5400000">
              <a:off x="9401605" y="3625377"/>
              <a:ext cx="193176" cy="176486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6"/>
            <a:stretch>
              <a:fillRect/>
            </a:stretch>
          </p:blipFill>
          <p:spPr>
            <a:xfrm>
              <a:off x="7995740" y="1405767"/>
              <a:ext cx="1397215" cy="1356271"/>
            </a:xfrm>
            <a:prstGeom prst="rect">
              <a:avLst/>
            </a:prstGeom>
          </p:spPr>
        </p:pic>
        <p:pic>
          <p:nvPicPr>
            <p:cNvPr id="9" name="Picture 8"/>
            <p:cNvPicPr>
              <a:picLocks noChangeAspect="1"/>
            </p:cNvPicPr>
            <p:nvPr/>
          </p:nvPicPr>
          <p:blipFill>
            <a:blip r:embed="rId7"/>
            <a:stretch>
              <a:fillRect/>
            </a:stretch>
          </p:blipFill>
          <p:spPr>
            <a:xfrm>
              <a:off x="9716606" y="2671933"/>
              <a:ext cx="1530681" cy="1033449"/>
            </a:xfrm>
            <a:prstGeom prst="rect">
              <a:avLst/>
            </a:prstGeom>
          </p:spPr>
        </p:pic>
        <p:pic>
          <p:nvPicPr>
            <p:cNvPr id="12" name="Picture 11"/>
            <p:cNvPicPr>
              <a:picLocks noChangeAspect="1"/>
            </p:cNvPicPr>
            <p:nvPr/>
          </p:nvPicPr>
          <p:blipFill>
            <a:blip r:embed="rId8"/>
            <a:stretch>
              <a:fillRect/>
            </a:stretch>
          </p:blipFill>
          <p:spPr>
            <a:xfrm>
              <a:off x="6967933" y="4044098"/>
              <a:ext cx="1647825" cy="1189021"/>
            </a:xfrm>
            <a:prstGeom prst="rect">
              <a:avLst/>
            </a:prstGeom>
          </p:spPr>
        </p:pic>
      </p:grpSp>
    </p:spTree>
    <p:extLst>
      <p:ext uri="{BB962C8B-B14F-4D97-AF65-F5344CB8AC3E}">
        <p14:creationId xmlns:p14="http://schemas.microsoft.com/office/powerpoint/2010/main" val="18203151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4" name="Title 1"/>
          <p:cNvSpPr>
            <a:spLocks noGrp="1"/>
          </p:cNvSpPr>
          <p:nvPr>
            <p:ph type="title"/>
          </p:nvPr>
        </p:nvSpPr>
        <p:spPr>
          <a:xfrm>
            <a:off x="505562" y="166716"/>
            <a:ext cx="11004018" cy="963115"/>
          </a:xfrm>
        </p:spPr>
        <p:txBody>
          <a:bodyPr>
            <a:normAutofit/>
          </a:bodyPr>
          <a:lstStyle/>
          <a:p>
            <a:pPr algn="ctr"/>
            <a:r>
              <a:rPr lang="en-US" b="1" dirty="0" smtClean="0">
                <a:latin typeface="Times New Roman" panose="02020603050405020304" pitchFamily="18" charset="0"/>
                <a:cs typeface="Times New Roman" panose="02020603050405020304" pitchFamily="18" charset="0"/>
              </a:rPr>
              <a:t>Flow diagram</a:t>
            </a:r>
            <a:endParaRPr lang="en-IN" b="1" dirty="0">
              <a:latin typeface="Times New Roman" panose="02020603050405020304" pitchFamily="18" charset="0"/>
              <a:cs typeface="Times New Roman" panose="02020603050405020304" pitchFamily="18" charset="0"/>
            </a:endParaRPr>
          </a:p>
        </p:txBody>
      </p:sp>
      <p:grpSp>
        <p:nvGrpSpPr>
          <p:cNvPr id="135" name="Group 134"/>
          <p:cNvGrpSpPr/>
          <p:nvPr/>
        </p:nvGrpSpPr>
        <p:grpSpPr>
          <a:xfrm>
            <a:off x="1196880" y="1129831"/>
            <a:ext cx="9621382" cy="5254977"/>
            <a:chOff x="1370274" y="1196425"/>
            <a:chExt cx="9621382" cy="5254977"/>
          </a:xfrm>
        </p:grpSpPr>
        <p:sp>
          <p:nvSpPr>
            <p:cNvPr id="43" name="Oval 42"/>
            <p:cNvSpPr/>
            <p:nvPr/>
          </p:nvSpPr>
          <p:spPr>
            <a:xfrm>
              <a:off x="5446026" y="1196425"/>
              <a:ext cx="2707920" cy="47720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latin typeface="Times New Roman" panose="02020603050405020304" pitchFamily="18" charset="0"/>
                  <a:cs typeface="Times New Roman" panose="02020603050405020304" pitchFamily="18" charset="0"/>
                </a:rPr>
                <a:t>Start Project</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44" name="Rectangle 43"/>
            <p:cNvSpPr/>
            <p:nvPr/>
          </p:nvSpPr>
          <p:spPr>
            <a:xfrm>
              <a:off x="5560430" y="2027253"/>
              <a:ext cx="2487507" cy="2869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Precompile</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46" name="Rectangle 45"/>
            <p:cNvSpPr/>
            <p:nvPr/>
          </p:nvSpPr>
          <p:spPr>
            <a:xfrm>
              <a:off x="5560430" y="2505537"/>
              <a:ext cx="2487507" cy="2869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Image Splitting</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47" name="Parallelogram 46"/>
            <p:cNvSpPr/>
            <p:nvPr/>
          </p:nvSpPr>
          <p:spPr>
            <a:xfrm>
              <a:off x="5560427" y="3471679"/>
              <a:ext cx="2487507" cy="303712"/>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Algorithm (MobileNet)</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48" name="Diamond 47"/>
            <p:cNvSpPr/>
            <p:nvPr/>
          </p:nvSpPr>
          <p:spPr>
            <a:xfrm>
              <a:off x="5505321" y="3954744"/>
              <a:ext cx="2597714" cy="661238"/>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Prediction</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49" name="Straight Arrow Connector 48"/>
            <p:cNvCxnSpPr>
              <a:stCxn id="47" idx="4"/>
              <a:endCxn id="48" idx="0"/>
            </p:cNvCxnSpPr>
            <p:nvPr/>
          </p:nvCxnSpPr>
          <p:spPr>
            <a:xfrm flipH="1">
              <a:off x="6804180" y="3775391"/>
              <a:ext cx="1" cy="1793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5560427" y="2959910"/>
              <a:ext cx="2487507" cy="2869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Feature Extraction (GLCM)</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51" name="Straight Arrow Connector 50"/>
            <p:cNvCxnSpPr>
              <a:stCxn id="44" idx="2"/>
              <a:endCxn id="46" idx="0"/>
            </p:cNvCxnSpPr>
            <p:nvPr/>
          </p:nvCxnSpPr>
          <p:spPr>
            <a:xfrm>
              <a:off x="6804184" y="2314226"/>
              <a:ext cx="0" cy="191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6" idx="2"/>
              <a:endCxn id="50" idx="0"/>
            </p:cNvCxnSpPr>
            <p:nvPr/>
          </p:nvCxnSpPr>
          <p:spPr>
            <a:xfrm flipH="1">
              <a:off x="6804180" y="2792510"/>
              <a:ext cx="4" cy="167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50" idx="2"/>
              <a:endCxn id="47" idx="0"/>
            </p:cNvCxnSpPr>
            <p:nvPr/>
          </p:nvCxnSpPr>
          <p:spPr>
            <a:xfrm>
              <a:off x="6804180" y="3246883"/>
              <a:ext cx="0" cy="224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4169703" y="3873933"/>
              <a:ext cx="1185974" cy="8190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latin typeface="Times New Roman" panose="02020603050405020304" pitchFamily="18" charset="0"/>
                  <a:cs typeface="Times New Roman" panose="02020603050405020304" pitchFamily="18" charset="0"/>
                </a:rPr>
                <a:t>Affected by eye disease</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56" name="Oval 55"/>
            <p:cNvSpPr/>
            <p:nvPr/>
          </p:nvSpPr>
          <p:spPr>
            <a:xfrm>
              <a:off x="6198161" y="4882835"/>
              <a:ext cx="1203650" cy="88201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latin typeface="Times New Roman" panose="02020603050405020304" pitchFamily="18" charset="0"/>
                  <a:cs typeface="Times New Roman" panose="02020603050405020304" pitchFamily="18" charset="0"/>
                </a:rPr>
                <a:t>Not Affected</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57" name="Straight Arrow Connector 56"/>
            <p:cNvCxnSpPr>
              <a:stCxn id="48" idx="2"/>
              <a:endCxn id="56" idx="0"/>
            </p:cNvCxnSpPr>
            <p:nvPr/>
          </p:nvCxnSpPr>
          <p:spPr>
            <a:xfrm flipH="1">
              <a:off x="6799986" y="4615982"/>
              <a:ext cx="4192" cy="266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3649614" y="4052525"/>
              <a:ext cx="526541" cy="257344"/>
            </a:xfrm>
            <a:prstGeom prst="rect">
              <a:avLst/>
            </a:prstGeom>
            <a:noFill/>
          </p:spPr>
          <p:txBody>
            <a:bodyPr wrap="square" rtlCol="0">
              <a:spAutoFit/>
            </a:bodyPr>
            <a:lstStyle/>
            <a:p>
              <a:pPr algn="ctr"/>
              <a:r>
                <a:rPr lang="en-IN" sz="1400" dirty="0" smtClean="0">
                  <a:latin typeface="Times New Roman" panose="02020603050405020304" pitchFamily="18" charset="0"/>
                  <a:cs typeface="Times New Roman" panose="02020603050405020304" pitchFamily="18" charset="0"/>
                </a:rPr>
                <a:t>Yes</a:t>
              </a:r>
              <a:endParaRPr lang="en-IN" sz="1400" dirty="0">
                <a:latin typeface="Times New Roman" panose="02020603050405020304" pitchFamily="18" charset="0"/>
                <a:cs typeface="Times New Roman" panose="02020603050405020304" pitchFamily="18" charset="0"/>
              </a:endParaRPr>
            </a:p>
          </p:txBody>
        </p:sp>
        <p:sp>
          <p:nvSpPr>
            <p:cNvPr id="59" name="TextBox 58"/>
            <p:cNvSpPr txBox="1"/>
            <p:nvPr/>
          </p:nvSpPr>
          <p:spPr>
            <a:xfrm>
              <a:off x="6804178" y="4699889"/>
              <a:ext cx="526541" cy="257344"/>
            </a:xfrm>
            <a:prstGeom prst="rect">
              <a:avLst/>
            </a:prstGeom>
            <a:noFill/>
          </p:spPr>
          <p:txBody>
            <a:bodyPr wrap="square" rtlCol="0">
              <a:spAutoFit/>
            </a:bodyPr>
            <a:lstStyle/>
            <a:p>
              <a:pPr algn="ctr"/>
              <a:r>
                <a:rPr lang="en-IN" sz="1400" dirty="0" smtClean="0">
                  <a:latin typeface="Times New Roman" panose="02020603050405020304" pitchFamily="18" charset="0"/>
                  <a:cs typeface="Times New Roman" panose="02020603050405020304" pitchFamily="18" charset="0"/>
                </a:rPr>
                <a:t>No</a:t>
              </a:r>
              <a:endParaRPr lang="en-IN" sz="1400" dirty="0">
                <a:latin typeface="Times New Roman" panose="02020603050405020304" pitchFamily="18" charset="0"/>
                <a:cs typeface="Times New Roman" panose="02020603050405020304" pitchFamily="18" charset="0"/>
              </a:endParaRPr>
            </a:p>
          </p:txBody>
        </p:sp>
        <p:sp>
          <p:nvSpPr>
            <p:cNvPr id="60" name="Oval 59"/>
            <p:cNvSpPr/>
            <p:nvPr/>
          </p:nvSpPr>
          <p:spPr>
            <a:xfrm>
              <a:off x="5505321" y="6061599"/>
              <a:ext cx="2707920" cy="38980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latin typeface="Times New Roman" panose="02020603050405020304" pitchFamily="18" charset="0"/>
                  <a:cs typeface="Times New Roman" panose="02020603050405020304" pitchFamily="18" charset="0"/>
                </a:rPr>
                <a:t>End Project</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1451661" y="1981793"/>
              <a:ext cx="2487507" cy="2869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Data Collect and Precompile</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3" name="Elbow Connector 2"/>
            <p:cNvCxnSpPr>
              <a:stCxn id="43" idx="4"/>
              <a:endCxn id="24" idx="0"/>
            </p:cNvCxnSpPr>
            <p:nvPr/>
          </p:nvCxnSpPr>
          <p:spPr>
            <a:xfrm rot="5400000">
              <a:off x="4593621" y="-224572"/>
              <a:ext cx="308160" cy="410457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451661" y="2504812"/>
              <a:ext cx="2487507" cy="2869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Data Splitting</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28" name="Rectangle 27"/>
            <p:cNvSpPr/>
            <p:nvPr/>
          </p:nvSpPr>
          <p:spPr>
            <a:xfrm>
              <a:off x="1451661" y="3026849"/>
              <a:ext cx="2487507" cy="2869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Classification</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6" name="Straight Arrow Connector 5"/>
            <p:cNvCxnSpPr>
              <a:stCxn id="24" idx="2"/>
              <a:endCxn id="27" idx="0"/>
            </p:cNvCxnSpPr>
            <p:nvPr/>
          </p:nvCxnSpPr>
          <p:spPr>
            <a:xfrm>
              <a:off x="2695415" y="2268765"/>
              <a:ext cx="0" cy="236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27" idx="2"/>
              <a:endCxn id="28" idx="0"/>
            </p:cNvCxnSpPr>
            <p:nvPr/>
          </p:nvCxnSpPr>
          <p:spPr>
            <a:xfrm>
              <a:off x="2695415" y="2791784"/>
              <a:ext cx="0" cy="2350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Parallelogram 32"/>
            <p:cNvSpPr/>
            <p:nvPr/>
          </p:nvSpPr>
          <p:spPr>
            <a:xfrm>
              <a:off x="1425378" y="3605572"/>
              <a:ext cx="2487507" cy="303712"/>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Model Generation</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37" name="Diamond 36"/>
            <p:cNvSpPr/>
            <p:nvPr/>
          </p:nvSpPr>
          <p:spPr>
            <a:xfrm>
              <a:off x="1370274" y="4113821"/>
              <a:ext cx="2597714" cy="661238"/>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Prediction</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25" name="Straight Arrow Connector 24"/>
            <p:cNvCxnSpPr>
              <a:stCxn id="28" idx="2"/>
              <a:endCxn id="33" idx="1"/>
            </p:cNvCxnSpPr>
            <p:nvPr/>
          </p:nvCxnSpPr>
          <p:spPr>
            <a:xfrm>
              <a:off x="2695415" y="3313821"/>
              <a:ext cx="11681" cy="2917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33" idx="4"/>
              <a:endCxn id="37" idx="0"/>
            </p:cNvCxnSpPr>
            <p:nvPr/>
          </p:nvCxnSpPr>
          <p:spPr>
            <a:xfrm flipH="1">
              <a:off x="2669131" y="3909284"/>
              <a:ext cx="1" cy="2045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p:cNvSpPr/>
            <p:nvPr/>
          </p:nvSpPr>
          <p:spPr>
            <a:xfrm>
              <a:off x="2076144" y="5093058"/>
              <a:ext cx="1185974" cy="8190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latin typeface="Times New Roman" panose="02020603050405020304" pitchFamily="18" charset="0"/>
                  <a:cs typeface="Times New Roman" panose="02020603050405020304" pitchFamily="18" charset="0"/>
                </a:rPr>
                <a:t>Not Affected</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34" name="Straight Arrow Connector 33"/>
            <p:cNvCxnSpPr>
              <a:stCxn id="37" idx="2"/>
              <a:endCxn id="61" idx="0"/>
            </p:cNvCxnSpPr>
            <p:nvPr/>
          </p:nvCxnSpPr>
          <p:spPr>
            <a:xfrm>
              <a:off x="2669131" y="4775059"/>
              <a:ext cx="0" cy="317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Rectangle 61"/>
            <p:cNvSpPr/>
            <p:nvPr/>
          </p:nvSpPr>
          <p:spPr>
            <a:xfrm>
              <a:off x="8437371" y="1993194"/>
              <a:ext cx="2487507" cy="2869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Precompile</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63" name="Rectangle 62"/>
            <p:cNvSpPr/>
            <p:nvPr/>
          </p:nvSpPr>
          <p:spPr>
            <a:xfrm>
              <a:off x="8437366" y="2474522"/>
              <a:ext cx="2487507" cy="2869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Image Splitting</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39" name="Straight Arrow Connector 38"/>
            <p:cNvCxnSpPr>
              <a:stCxn id="62" idx="2"/>
              <a:endCxn id="63" idx="0"/>
            </p:cNvCxnSpPr>
            <p:nvPr/>
          </p:nvCxnSpPr>
          <p:spPr>
            <a:xfrm flipH="1">
              <a:off x="9681120" y="2280166"/>
              <a:ext cx="5" cy="194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Rectangle 63"/>
            <p:cNvSpPr/>
            <p:nvPr/>
          </p:nvSpPr>
          <p:spPr>
            <a:xfrm>
              <a:off x="8437366" y="2956453"/>
              <a:ext cx="2487507" cy="2869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Feature Extraction (GLCM)</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68" name="Parallelogram 67"/>
            <p:cNvSpPr/>
            <p:nvPr/>
          </p:nvSpPr>
          <p:spPr>
            <a:xfrm>
              <a:off x="8449046" y="3453282"/>
              <a:ext cx="2487507" cy="303712"/>
            </a:xfrm>
            <a:prstGeom prst="parallelogram">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Algorithm (VGG-19)</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71" name="Straight Arrow Connector 70"/>
            <p:cNvCxnSpPr>
              <a:stCxn id="63" idx="2"/>
              <a:endCxn id="64" idx="0"/>
            </p:cNvCxnSpPr>
            <p:nvPr/>
          </p:nvCxnSpPr>
          <p:spPr>
            <a:xfrm>
              <a:off x="9681120" y="2761494"/>
              <a:ext cx="0" cy="1949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4" idx="2"/>
              <a:endCxn id="68" idx="0"/>
            </p:cNvCxnSpPr>
            <p:nvPr/>
          </p:nvCxnSpPr>
          <p:spPr>
            <a:xfrm>
              <a:off x="9681120" y="3243425"/>
              <a:ext cx="11680" cy="209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Diamond 75"/>
            <p:cNvSpPr/>
            <p:nvPr/>
          </p:nvSpPr>
          <p:spPr>
            <a:xfrm>
              <a:off x="8393942" y="3990873"/>
              <a:ext cx="2597714" cy="661238"/>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Prediction</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77" name="Straight Arrow Connector 76"/>
            <p:cNvCxnSpPr>
              <a:stCxn id="68" idx="4"/>
              <a:endCxn id="76" idx="0"/>
            </p:cNvCxnSpPr>
            <p:nvPr/>
          </p:nvCxnSpPr>
          <p:spPr>
            <a:xfrm flipH="1">
              <a:off x="9692799" y="3756994"/>
              <a:ext cx="1" cy="233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Elbow Connector 86"/>
            <p:cNvCxnSpPr>
              <a:stCxn id="43" idx="4"/>
              <a:endCxn id="44" idx="0"/>
            </p:cNvCxnSpPr>
            <p:nvPr/>
          </p:nvCxnSpPr>
          <p:spPr>
            <a:xfrm rot="16200000" flipH="1">
              <a:off x="6625275" y="1848344"/>
              <a:ext cx="353620" cy="419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48" idx="1"/>
              <a:endCxn id="54" idx="6"/>
            </p:cNvCxnSpPr>
            <p:nvPr/>
          </p:nvCxnSpPr>
          <p:spPr>
            <a:xfrm flipH="1" flipV="1">
              <a:off x="5355677" y="4283465"/>
              <a:ext cx="149644" cy="1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Elbow Connector 96"/>
            <p:cNvCxnSpPr>
              <a:stCxn id="37" idx="3"/>
              <a:endCxn id="54" idx="2"/>
            </p:cNvCxnSpPr>
            <p:nvPr/>
          </p:nvCxnSpPr>
          <p:spPr>
            <a:xfrm flipV="1">
              <a:off x="3967988" y="4283465"/>
              <a:ext cx="201715" cy="16097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5294479" y="3985149"/>
              <a:ext cx="526541" cy="257344"/>
            </a:xfrm>
            <a:prstGeom prst="rect">
              <a:avLst/>
            </a:prstGeom>
            <a:noFill/>
          </p:spPr>
          <p:txBody>
            <a:bodyPr wrap="square" rtlCol="0">
              <a:spAutoFit/>
            </a:bodyPr>
            <a:lstStyle/>
            <a:p>
              <a:pPr algn="ctr"/>
              <a:r>
                <a:rPr lang="en-IN" sz="1400" dirty="0" smtClean="0">
                  <a:latin typeface="Times New Roman" panose="02020603050405020304" pitchFamily="18" charset="0"/>
                  <a:cs typeface="Times New Roman" panose="02020603050405020304" pitchFamily="18" charset="0"/>
                </a:rPr>
                <a:t>Yes</a:t>
              </a:r>
              <a:endParaRPr lang="en-IN" sz="1400" dirty="0">
                <a:latin typeface="Times New Roman" panose="02020603050405020304" pitchFamily="18" charset="0"/>
                <a:cs typeface="Times New Roman" panose="02020603050405020304" pitchFamily="18" charset="0"/>
              </a:endParaRPr>
            </a:p>
          </p:txBody>
        </p:sp>
        <p:sp>
          <p:nvSpPr>
            <p:cNvPr id="103" name="Oval 102"/>
            <p:cNvSpPr/>
            <p:nvPr/>
          </p:nvSpPr>
          <p:spPr>
            <a:xfrm>
              <a:off x="9090575" y="4976741"/>
              <a:ext cx="1203650" cy="88201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solidFill>
                    <a:schemeClr val="tx1"/>
                  </a:solidFill>
                  <a:latin typeface="Times New Roman" panose="02020603050405020304" pitchFamily="18" charset="0"/>
                  <a:cs typeface="Times New Roman" panose="02020603050405020304" pitchFamily="18" charset="0"/>
                </a:rPr>
                <a:t>Blink Prediction</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104" name="Straight Arrow Connector 103"/>
            <p:cNvCxnSpPr>
              <a:stCxn id="76" idx="2"/>
              <a:endCxn id="103" idx="0"/>
            </p:cNvCxnSpPr>
            <p:nvPr/>
          </p:nvCxnSpPr>
          <p:spPr>
            <a:xfrm flipH="1">
              <a:off x="9692400" y="4652111"/>
              <a:ext cx="399" cy="324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Elbow Connector 109"/>
            <p:cNvCxnSpPr>
              <a:stCxn id="61" idx="4"/>
              <a:endCxn id="60" idx="0"/>
            </p:cNvCxnSpPr>
            <p:nvPr/>
          </p:nvCxnSpPr>
          <p:spPr>
            <a:xfrm rot="16200000" flipH="1">
              <a:off x="4689468" y="3891785"/>
              <a:ext cx="149477" cy="419015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Elbow Connector 113"/>
            <p:cNvCxnSpPr/>
            <p:nvPr/>
          </p:nvCxnSpPr>
          <p:spPr>
            <a:xfrm rot="5400000">
              <a:off x="8195021" y="4562248"/>
              <a:ext cx="213038" cy="2833119"/>
            </a:xfrm>
            <a:prstGeom prst="bentConnector3">
              <a:avLst>
                <a:gd name="adj1" fmla="val 6813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endCxn id="60" idx="0"/>
            </p:cNvCxnSpPr>
            <p:nvPr/>
          </p:nvCxnSpPr>
          <p:spPr>
            <a:xfrm>
              <a:off x="6859281" y="5691561"/>
              <a:ext cx="0" cy="370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Elbow Connector 129"/>
            <p:cNvCxnSpPr>
              <a:stCxn id="43" idx="4"/>
              <a:endCxn id="62" idx="0"/>
            </p:cNvCxnSpPr>
            <p:nvPr/>
          </p:nvCxnSpPr>
          <p:spPr>
            <a:xfrm rot="16200000" flipH="1">
              <a:off x="8080775" y="392843"/>
              <a:ext cx="319561" cy="288113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10533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31630" y="316471"/>
            <a:ext cx="10751881" cy="707886"/>
          </a:xfrm>
          <a:prstGeom prst="rect">
            <a:avLst/>
          </a:prstGeom>
          <a:noFill/>
        </p:spPr>
        <p:txBody>
          <a:bodyPr wrap="square" rtlCol="0">
            <a:spAutoFit/>
          </a:bodyPr>
          <a:lstStyle/>
          <a:p>
            <a:pPr algn="ctr"/>
            <a:r>
              <a:rPr lang="en-US"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4" name="Rectangle 33"/>
          <p:cNvSpPr/>
          <p:nvPr/>
        </p:nvSpPr>
        <p:spPr>
          <a:xfrm>
            <a:off x="178271" y="138179"/>
            <a:ext cx="11658600" cy="6757225"/>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103" name="Group 102"/>
          <p:cNvGrpSpPr/>
          <p:nvPr/>
        </p:nvGrpSpPr>
        <p:grpSpPr>
          <a:xfrm>
            <a:off x="2150771" y="1024357"/>
            <a:ext cx="8071121" cy="5659778"/>
            <a:chOff x="953036" y="1024357"/>
            <a:chExt cx="8071121" cy="5659778"/>
          </a:xfrm>
        </p:grpSpPr>
        <p:sp>
          <p:nvSpPr>
            <p:cNvPr id="62" name="Rectangle 61"/>
            <p:cNvSpPr>
              <a:spLocks/>
            </p:cNvSpPr>
            <p:nvPr/>
          </p:nvSpPr>
          <p:spPr bwMode="auto">
            <a:xfrm>
              <a:off x="3590249" y="1024357"/>
              <a:ext cx="3283305" cy="565977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grpSp>
          <p:nvGrpSpPr>
            <p:cNvPr id="63" name="Group 62"/>
            <p:cNvGrpSpPr/>
            <p:nvPr/>
          </p:nvGrpSpPr>
          <p:grpSpPr>
            <a:xfrm>
              <a:off x="8210015" y="1640805"/>
              <a:ext cx="474601" cy="1239591"/>
              <a:chOff x="5653214" y="1602382"/>
              <a:chExt cx="464766" cy="1441770"/>
            </a:xfrm>
          </p:grpSpPr>
          <p:sp>
            <p:nvSpPr>
              <p:cNvPr id="86" name="Freeform 85"/>
              <p:cNvSpPr>
                <a:spLocks/>
              </p:cNvSpPr>
              <p:nvPr/>
            </p:nvSpPr>
            <p:spPr bwMode="auto">
              <a:xfrm>
                <a:off x="5653214" y="1602382"/>
                <a:ext cx="464766" cy="473075"/>
              </a:xfrm>
              <a:custGeom>
                <a:avLst/>
                <a:gdLst>
                  <a:gd name="T0" fmla="*/ 335 w 732"/>
                  <a:gd name="T1" fmla="*/ 1 h 745"/>
                  <a:gd name="T2" fmla="*/ 278 w 732"/>
                  <a:gd name="T3" fmla="*/ 10 h 745"/>
                  <a:gd name="T4" fmla="*/ 223 w 732"/>
                  <a:gd name="T5" fmla="*/ 29 h 745"/>
                  <a:gd name="T6" fmla="*/ 173 w 732"/>
                  <a:gd name="T7" fmla="*/ 55 h 745"/>
                  <a:gd name="T8" fmla="*/ 127 w 732"/>
                  <a:gd name="T9" fmla="*/ 89 h 745"/>
                  <a:gd name="T10" fmla="*/ 88 w 732"/>
                  <a:gd name="T11" fmla="*/ 129 h 745"/>
                  <a:gd name="T12" fmla="*/ 54 w 732"/>
                  <a:gd name="T13" fmla="*/ 176 h 745"/>
                  <a:gd name="T14" fmla="*/ 28 w 732"/>
                  <a:gd name="T15" fmla="*/ 227 h 745"/>
                  <a:gd name="T16" fmla="*/ 10 w 732"/>
                  <a:gd name="T17" fmla="*/ 282 h 745"/>
                  <a:gd name="T18" fmla="*/ 1 w 732"/>
                  <a:gd name="T19" fmla="*/ 341 h 745"/>
                  <a:gd name="T20" fmla="*/ 1 w 732"/>
                  <a:gd name="T21" fmla="*/ 402 h 745"/>
                  <a:gd name="T22" fmla="*/ 10 w 732"/>
                  <a:gd name="T23" fmla="*/ 461 h 745"/>
                  <a:gd name="T24" fmla="*/ 28 w 732"/>
                  <a:gd name="T25" fmla="*/ 516 h 745"/>
                  <a:gd name="T26" fmla="*/ 54 w 732"/>
                  <a:gd name="T27" fmla="*/ 567 h 745"/>
                  <a:gd name="T28" fmla="*/ 88 w 732"/>
                  <a:gd name="T29" fmla="*/ 614 h 745"/>
                  <a:gd name="T30" fmla="*/ 127 w 732"/>
                  <a:gd name="T31" fmla="*/ 654 h 745"/>
                  <a:gd name="T32" fmla="*/ 173 w 732"/>
                  <a:gd name="T33" fmla="*/ 688 h 745"/>
                  <a:gd name="T34" fmla="*/ 223 w 732"/>
                  <a:gd name="T35" fmla="*/ 714 h 745"/>
                  <a:gd name="T36" fmla="*/ 278 w 732"/>
                  <a:gd name="T37" fmla="*/ 733 h 745"/>
                  <a:gd name="T38" fmla="*/ 335 w 732"/>
                  <a:gd name="T39" fmla="*/ 742 h 745"/>
                  <a:gd name="T40" fmla="*/ 396 w 732"/>
                  <a:gd name="T41" fmla="*/ 742 h 745"/>
                  <a:gd name="T42" fmla="*/ 453 w 732"/>
                  <a:gd name="T43" fmla="*/ 733 h 745"/>
                  <a:gd name="T44" fmla="*/ 508 w 732"/>
                  <a:gd name="T45" fmla="*/ 714 h 745"/>
                  <a:gd name="T46" fmla="*/ 558 w 732"/>
                  <a:gd name="T47" fmla="*/ 688 h 745"/>
                  <a:gd name="T48" fmla="*/ 604 w 732"/>
                  <a:gd name="T49" fmla="*/ 654 h 745"/>
                  <a:gd name="T50" fmla="*/ 643 w 732"/>
                  <a:gd name="T51" fmla="*/ 614 h 745"/>
                  <a:gd name="T52" fmla="*/ 677 w 732"/>
                  <a:gd name="T53" fmla="*/ 567 h 745"/>
                  <a:gd name="T54" fmla="*/ 703 w 732"/>
                  <a:gd name="T55" fmla="*/ 516 h 745"/>
                  <a:gd name="T56" fmla="*/ 721 w 732"/>
                  <a:gd name="T57" fmla="*/ 461 h 745"/>
                  <a:gd name="T58" fmla="*/ 730 w 732"/>
                  <a:gd name="T59" fmla="*/ 402 h 745"/>
                  <a:gd name="T60" fmla="*/ 730 w 732"/>
                  <a:gd name="T61" fmla="*/ 341 h 745"/>
                  <a:gd name="T62" fmla="*/ 721 w 732"/>
                  <a:gd name="T63" fmla="*/ 282 h 745"/>
                  <a:gd name="T64" fmla="*/ 703 w 732"/>
                  <a:gd name="T65" fmla="*/ 227 h 745"/>
                  <a:gd name="T66" fmla="*/ 677 w 732"/>
                  <a:gd name="T67" fmla="*/ 176 h 745"/>
                  <a:gd name="T68" fmla="*/ 643 w 732"/>
                  <a:gd name="T69" fmla="*/ 129 h 745"/>
                  <a:gd name="T70" fmla="*/ 604 w 732"/>
                  <a:gd name="T71" fmla="*/ 89 h 745"/>
                  <a:gd name="T72" fmla="*/ 558 w 732"/>
                  <a:gd name="T73" fmla="*/ 55 h 745"/>
                  <a:gd name="T74" fmla="*/ 508 w 732"/>
                  <a:gd name="T75" fmla="*/ 29 h 745"/>
                  <a:gd name="T76" fmla="*/ 453 w 732"/>
                  <a:gd name="T77" fmla="*/ 10 h 745"/>
                  <a:gd name="T78" fmla="*/ 396 w 732"/>
                  <a:gd name="T79" fmla="*/ 1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32" h="745">
                    <a:moveTo>
                      <a:pt x="366" y="0"/>
                    </a:moveTo>
                    <a:lnTo>
                      <a:pt x="335" y="1"/>
                    </a:lnTo>
                    <a:lnTo>
                      <a:pt x="306" y="4"/>
                    </a:lnTo>
                    <a:lnTo>
                      <a:pt x="278" y="10"/>
                    </a:lnTo>
                    <a:lnTo>
                      <a:pt x="250" y="18"/>
                    </a:lnTo>
                    <a:lnTo>
                      <a:pt x="223" y="29"/>
                    </a:lnTo>
                    <a:lnTo>
                      <a:pt x="197" y="41"/>
                    </a:lnTo>
                    <a:lnTo>
                      <a:pt x="173" y="55"/>
                    </a:lnTo>
                    <a:lnTo>
                      <a:pt x="149" y="71"/>
                    </a:lnTo>
                    <a:lnTo>
                      <a:pt x="127" y="89"/>
                    </a:lnTo>
                    <a:lnTo>
                      <a:pt x="107" y="108"/>
                    </a:lnTo>
                    <a:lnTo>
                      <a:pt x="88" y="129"/>
                    </a:lnTo>
                    <a:lnTo>
                      <a:pt x="70" y="152"/>
                    </a:lnTo>
                    <a:lnTo>
                      <a:pt x="54" y="176"/>
                    </a:lnTo>
                    <a:lnTo>
                      <a:pt x="40" y="201"/>
                    </a:lnTo>
                    <a:lnTo>
                      <a:pt x="28" y="227"/>
                    </a:lnTo>
                    <a:lnTo>
                      <a:pt x="18" y="254"/>
                    </a:lnTo>
                    <a:lnTo>
                      <a:pt x="10" y="282"/>
                    </a:lnTo>
                    <a:lnTo>
                      <a:pt x="4" y="311"/>
                    </a:lnTo>
                    <a:lnTo>
                      <a:pt x="1" y="341"/>
                    </a:lnTo>
                    <a:lnTo>
                      <a:pt x="0" y="372"/>
                    </a:lnTo>
                    <a:lnTo>
                      <a:pt x="1" y="402"/>
                    </a:lnTo>
                    <a:lnTo>
                      <a:pt x="4" y="432"/>
                    </a:lnTo>
                    <a:lnTo>
                      <a:pt x="10" y="461"/>
                    </a:lnTo>
                    <a:lnTo>
                      <a:pt x="18" y="489"/>
                    </a:lnTo>
                    <a:lnTo>
                      <a:pt x="28" y="516"/>
                    </a:lnTo>
                    <a:lnTo>
                      <a:pt x="40" y="542"/>
                    </a:lnTo>
                    <a:lnTo>
                      <a:pt x="54" y="567"/>
                    </a:lnTo>
                    <a:lnTo>
                      <a:pt x="70" y="591"/>
                    </a:lnTo>
                    <a:lnTo>
                      <a:pt x="88" y="614"/>
                    </a:lnTo>
                    <a:lnTo>
                      <a:pt x="107" y="635"/>
                    </a:lnTo>
                    <a:lnTo>
                      <a:pt x="127" y="654"/>
                    </a:lnTo>
                    <a:lnTo>
                      <a:pt x="149" y="672"/>
                    </a:lnTo>
                    <a:lnTo>
                      <a:pt x="173" y="688"/>
                    </a:lnTo>
                    <a:lnTo>
                      <a:pt x="197" y="702"/>
                    </a:lnTo>
                    <a:lnTo>
                      <a:pt x="223" y="714"/>
                    </a:lnTo>
                    <a:lnTo>
                      <a:pt x="250" y="725"/>
                    </a:lnTo>
                    <a:lnTo>
                      <a:pt x="278" y="733"/>
                    </a:lnTo>
                    <a:lnTo>
                      <a:pt x="306" y="739"/>
                    </a:lnTo>
                    <a:lnTo>
                      <a:pt x="335" y="742"/>
                    </a:lnTo>
                    <a:lnTo>
                      <a:pt x="366" y="744"/>
                    </a:lnTo>
                    <a:lnTo>
                      <a:pt x="396" y="742"/>
                    </a:lnTo>
                    <a:lnTo>
                      <a:pt x="425" y="739"/>
                    </a:lnTo>
                    <a:lnTo>
                      <a:pt x="453" y="733"/>
                    </a:lnTo>
                    <a:lnTo>
                      <a:pt x="481" y="725"/>
                    </a:lnTo>
                    <a:lnTo>
                      <a:pt x="508" y="714"/>
                    </a:lnTo>
                    <a:lnTo>
                      <a:pt x="534" y="702"/>
                    </a:lnTo>
                    <a:lnTo>
                      <a:pt x="558" y="688"/>
                    </a:lnTo>
                    <a:lnTo>
                      <a:pt x="582" y="672"/>
                    </a:lnTo>
                    <a:lnTo>
                      <a:pt x="604" y="654"/>
                    </a:lnTo>
                    <a:lnTo>
                      <a:pt x="624" y="635"/>
                    </a:lnTo>
                    <a:lnTo>
                      <a:pt x="643" y="614"/>
                    </a:lnTo>
                    <a:lnTo>
                      <a:pt x="661" y="591"/>
                    </a:lnTo>
                    <a:lnTo>
                      <a:pt x="677" y="567"/>
                    </a:lnTo>
                    <a:lnTo>
                      <a:pt x="691" y="542"/>
                    </a:lnTo>
                    <a:lnTo>
                      <a:pt x="703" y="516"/>
                    </a:lnTo>
                    <a:lnTo>
                      <a:pt x="713" y="489"/>
                    </a:lnTo>
                    <a:lnTo>
                      <a:pt x="721" y="461"/>
                    </a:lnTo>
                    <a:lnTo>
                      <a:pt x="727" y="432"/>
                    </a:lnTo>
                    <a:lnTo>
                      <a:pt x="730" y="402"/>
                    </a:lnTo>
                    <a:lnTo>
                      <a:pt x="732" y="372"/>
                    </a:lnTo>
                    <a:lnTo>
                      <a:pt x="730" y="341"/>
                    </a:lnTo>
                    <a:lnTo>
                      <a:pt x="727" y="311"/>
                    </a:lnTo>
                    <a:lnTo>
                      <a:pt x="721" y="282"/>
                    </a:lnTo>
                    <a:lnTo>
                      <a:pt x="713" y="254"/>
                    </a:lnTo>
                    <a:lnTo>
                      <a:pt x="703" y="227"/>
                    </a:lnTo>
                    <a:lnTo>
                      <a:pt x="691" y="201"/>
                    </a:lnTo>
                    <a:lnTo>
                      <a:pt x="677" y="176"/>
                    </a:lnTo>
                    <a:lnTo>
                      <a:pt x="661" y="152"/>
                    </a:lnTo>
                    <a:lnTo>
                      <a:pt x="643" y="129"/>
                    </a:lnTo>
                    <a:lnTo>
                      <a:pt x="624" y="108"/>
                    </a:lnTo>
                    <a:lnTo>
                      <a:pt x="604" y="89"/>
                    </a:lnTo>
                    <a:lnTo>
                      <a:pt x="582" y="71"/>
                    </a:lnTo>
                    <a:lnTo>
                      <a:pt x="558" y="55"/>
                    </a:lnTo>
                    <a:lnTo>
                      <a:pt x="534" y="41"/>
                    </a:lnTo>
                    <a:lnTo>
                      <a:pt x="508" y="29"/>
                    </a:lnTo>
                    <a:lnTo>
                      <a:pt x="481" y="18"/>
                    </a:lnTo>
                    <a:lnTo>
                      <a:pt x="453" y="10"/>
                    </a:lnTo>
                    <a:lnTo>
                      <a:pt x="425" y="4"/>
                    </a:lnTo>
                    <a:lnTo>
                      <a:pt x="396" y="1"/>
                    </a:lnTo>
                    <a:lnTo>
                      <a:pt x="366"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87" name="Freeform 86"/>
              <p:cNvSpPr>
                <a:spLocks/>
              </p:cNvSpPr>
              <p:nvPr/>
            </p:nvSpPr>
            <p:spPr bwMode="auto">
              <a:xfrm>
                <a:off x="5885597" y="2112605"/>
                <a:ext cx="0" cy="719455"/>
              </a:xfrm>
              <a:custGeom>
                <a:avLst/>
                <a:gdLst>
                  <a:gd name="T0" fmla="*/ 0 h 1133"/>
                  <a:gd name="T1" fmla="*/ 1133 h 1133"/>
                </a:gdLst>
                <a:ahLst/>
                <a:cxnLst>
                  <a:cxn ang="0">
                    <a:pos x="0" y="T0"/>
                  </a:cxn>
                  <a:cxn ang="0">
                    <a:pos x="0" y="T1"/>
                  </a:cxn>
                </a:cxnLst>
                <a:rect l="0" t="0" r="r" b="b"/>
                <a:pathLst>
                  <a:path h="1133">
                    <a:moveTo>
                      <a:pt x="0" y="0"/>
                    </a:moveTo>
                    <a:lnTo>
                      <a:pt x="0" y="113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88" name="Freeform 87"/>
              <p:cNvSpPr>
                <a:spLocks/>
              </p:cNvSpPr>
              <p:nvPr/>
            </p:nvSpPr>
            <p:spPr bwMode="auto">
              <a:xfrm>
                <a:off x="5895439" y="2310090"/>
                <a:ext cx="216510" cy="118745"/>
              </a:xfrm>
              <a:custGeom>
                <a:avLst/>
                <a:gdLst>
                  <a:gd name="T0" fmla="*/ 0 w 341"/>
                  <a:gd name="T1" fmla="*/ 0 h 187"/>
                  <a:gd name="T2" fmla="*/ 341 w 341"/>
                  <a:gd name="T3" fmla="*/ 186 h 187"/>
                </a:gdLst>
                <a:ahLst/>
                <a:cxnLst>
                  <a:cxn ang="0">
                    <a:pos x="T0" y="T1"/>
                  </a:cxn>
                  <a:cxn ang="0">
                    <a:pos x="T2" y="T3"/>
                  </a:cxn>
                </a:cxnLst>
                <a:rect l="0" t="0" r="r" b="b"/>
                <a:pathLst>
                  <a:path w="341" h="187">
                    <a:moveTo>
                      <a:pt x="0" y="0"/>
                    </a:moveTo>
                    <a:lnTo>
                      <a:pt x="341" y="18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89" name="Freeform 88"/>
              <p:cNvSpPr>
                <a:spLocks/>
              </p:cNvSpPr>
              <p:nvPr/>
            </p:nvSpPr>
            <p:spPr bwMode="auto">
              <a:xfrm>
                <a:off x="5895439" y="2856507"/>
                <a:ext cx="124763" cy="187645"/>
              </a:xfrm>
              <a:custGeom>
                <a:avLst/>
                <a:gdLst>
                  <a:gd name="T0" fmla="*/ 0 w 341"/>
                  <a:gd name="T1" fmla="*/ 0 h 187"/>
                  <a:gd name="T2" fmla="*/ 341 w 341"/>
                  <a:gd name="T3" fmla="*/ 186 h 187"/>
                </a:gdLst>
                <a:ahLst/>
                <a:cxnLst>
                  <a:cxn ang="0">
                    <a:pos x="T0" y="T1"/>
                  </a:cxn>
                  <a:cxn ang="0">
                    <a:pos x="T2" y="T3"/>
                  </a:cxn>
                </a:cxnLst>
                <a:rect l="0" t="0" r="r" b="b"/>
                <a:pathLst>
                  <a:path w="341" h="187">
                    <a:moveTo>
                      <a:pt x="0" y="0"/>
                    </a:moveTo>
                    <a:lnTo>
                      <a:pt x="341" y="18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90" name="Freeform 89"/>
              <p:cNvSpPr>
                <a:spLocks/>
              </p:cNvSpPr>
              <p:nvPr/>
            </p:nvSpPr>
            <p:spPr bwMode="auto">
              <a:xfrm>
                <a:off x="5664802" y="2843808"/>
                <a:ext cx="215874" cy="200344"/>
              </a:xfrm>
              <a:custGeom>
                <a:avLst/>
                <a:gdLst>
                  <a:gd name="T0" fmla="*/ 288 w 289"/>
                  <a:gd name="T1" fmla="*/ 0 h 337"/>
                  <a:gd name="T2" fmla="*/ 0 w 289"/>
                  <a:gd name="T3" fmla="*/ 337 h 337"/>
                </a:gdLst>
                <a:ahLst/>
                <a:cxnLst>
                  <a:cxn ang="0">
                    <a:pos x="T0" y="T1"/>
                  </a:cxn>
                  <a:cxn ang="0">
                    <a:pos x="T2" y="T3"/>
                  </a:cxn>
                </a:cxnLst>
                <a:rect l="0" t="0" r="r" b="b"/>
                <a:pathLst>
                  <a:path w="289" h="337">
                    <a:moveTo>
                      <a:pt x="288" y="0"/>
                    </a:moveTo>
                    <a:lnTo>
                      <a:pt x="0" y="337"/>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91" name="Freeform 90"/>
              <p:cNvSpPr>
                <a:spLocks/>
              </p:cNvSpPr>
              <p:nvPr/>
            </p:nvSpPr>
            <p:spPr bwMode="auto">
              <a:xfrm>
                <a:off x="5658297" y="2326875"/>
                <a:ext cx="222379" cy="165425"/>
              </a:xfrm>
              <a:custGeom>
                <a:avLst/>
                <a:gdLst>
                  <a:gd name="T0" fmla="*/ 288 w 289"/>
                  <a:gd name="T1" fmla="*/ 0 h 337"/>
                  <a:gd name="T2" fmla="*/ 0 w 289"/>
                  <a:gd name="T3" fmla="*/ 337 h 337"/>
                </a:gdLst>
                <a:ahLst/>
                <a:cxnLst>
                  <a:cxn ang="0">
                    <a:pos x="T0" y="T1"/>
                  </a:cxn>
                  <a:cxn ang="0">
                    <a:pos x="T2" y="T3"/>
                  </a:cxn>
                </a:cxnLst>
                <a:rect l="0" t="0" r="r" b="b"/>
                <a:pathLst>
                  <a:path w="289" h="337">
                    <a:moveTo>
                      <a:pt x="288" y="0"/>
                    </a:moveTo>
                    <a:lnTo>
                      <a:pt x="0" y="337"/>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grpSp>
        <p:sp>
          <p:nvSpPr>
            <p:cNvPr id="64" name="Rectangle 63"/>
            <p:cNvSpPr/>
            <p:nvPr/>
          </p:nvSpPr>
          <p:spPr>
            <a:xfrm>
              <a:off x="953036" y="3862422"/>
              <a:ext cx="790601" cy="297517"/>
            </a:xfrm>
            <a:prstGeom prst="rect">
              <a:avLst/>
            </a:prstGeom>
          </p:spPr>
          <p:txBody>
            <a:bodyPr wrap="none">
              <a:spAutoFit/>
            </a:bodyPr>
            <a:lstStyle/>
            <a:p>
              <a:pPr marL="73025">
                <a:lnSpc>
                  <a:spcPts val="1580"/>
                </a:lnSpc>
                <a:spcBef>
                  <a:spcPts val="110"/>
                </a:spcBef>
                <a:spcAft>
                  <a:spcPts val="0"/>
                </a:spcAft>
              </a:pPr>
              <a:r>
                <a:rPr lang="en-IN" sz="1400" kern="12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lang="en-IN" sz="1400" kern="1200" spc="-2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y</a:t>
              </a:r>
              <a:r>
                <a:rPr lang="en-IN" sz="1400" kern="1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lang="en-IN" sz="14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a:t>
              </a:r>
              <a:r>
                <a:rPr lang="en-IN" sz="1400" kern="1200" spc="2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a:t>
              </a:r>
              <a:r>
                <a:rPr lang="en-IN" sz="14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grpSp>
          <p:nvGrpSpPr>
            <p:cNvPr id="65" name="Group 64"/>
            <p:cNvGrpSpPr/>
            <p:nvPr/>
          </p:nvGrpSpPr>
          <p:grpSpPr>
            <a:xfrm>
              <a:off x="1202344" y="2499511"/>
              <a:ext cx="474601" cy="1239591"/>
              <a:chOff x="201143" y="1512408"/>
              <a:chExt cx="464766" cy="1441770"/>
            </a:xfrm>
          </p:grpSpPr>
          <p:sp>
            <p:nvSpPr>
              <p:cNvPr id="80" name="Freeform 79"/>
              <p:cNvSpPr>
                <a:spLocks/>
              </p:cNvSpPr>
              <p:nvPr/>
            </p:nvSpPr>
            <p:spPr bwMode="auto">
              <a:xfrm>
                <a:off x="201143" y="1512408"/>
                <a:ext cx="464766" cy="473075"/>
              </a:xfrm>
              <a:custGeom>
                <a:avLst/>
                <a:gdLst>
                  <a:gd name="T0" fmla="*/ 335 w 732"/>
                  <a:gd name="T1" fmla="*/ 1 h 745"/>
                  <a:gd name="T2" fmla="*/ 278 w 732"/>
                  <a:gd name="T3" fmla="*/ 10 h 745"/>
                  <a:gd name="T4" fmla="*/ 223 w 732"/>
                  <a:gd name="T5" fmla="*/ 29 h 745"/>
                  <a:gd name="T6" fmla="*/ 173 w 732"/>
                  <a:gd name="T7" fmla="*/ 55 h 745"/>
                  <a:gd name="T8" fmla="*/ 127 w 732"/>
                  <a:gd name="T9" fmla="*/ 89 h 745"/>
                  <a:gd name="T10" fmla="*/ 88 w 732"/>
                  <a:gd name="T11" fmla="*/ 129 h 745"/>
                  <a:gd name="T12" fmla="*/ 54 w 732"/>
                  <a:gd name="T13" fmla="*/ 176 h 745"/>
                  <a:gd name="T14" fmla="*/ 28 w 732"/>
                  <a:gd name="T15" fmla="*/ 227 h 745"/>
                  <a:gd name="T16" fmla="*/ 10 w 732"/>
                  <a:gd name="T17" fmla="*/ 282 h 745"/>
                  <a:gd name="T18" fmla="*/ 1 w 732"/>
                  <a:gd name="T19" fmla="*/ 341 h 745"/>
                  <a:gd name="T20" fmla="*/ 1 w 732"/>
                  <a:gd name="T21" fmla="*/ 402 h 745"/>
                  <a:gd name="T22" fmla="*/ 10 w 732"/>
                  <a:gd name="T23" fmla="*/ 461 h 745"/>
                  <a:gd name="T24" fmla="*/ 28 w 732"/>
                  <a:gd name="T25" fmla="*/ 516 h 745"/>
                  <a:gd name="T26" fmla="*/ 54 w 732"/>
                  <a:gd name="T27" fmla="*/ 567 h 745"/>
                  <a:gd name="T28" fmla="*/ 88 w 732"/>
                  <a:gd name="T29" fmla="*/ 614 h 745"/>
                  <a:gd name="T30" fmla="*/ 127 w 732"/>
                  <a:gd name="T31" fmla="*/ 654 h 745"/>
                  <a:gd name="T32" fmla="*/ 173 w 732"/>
                  <a:gd name="T33" fmla="*/ 688 h 745"/>
                  <a:gd name="T34" fmla="*/ 223 w 732"/>
                  <a:gd name="T35" fmla="*/ 714 h 745"/>
                  <a:gd name="T36" fmla="*/ 278 w 732"/>
                  <a:gd name="T37" fmla="*/ 733 h 745"/>
                  <a:gd name="T38" fmla="*/ 335 w 732"/>
                  <a:gd name="T39" fmla="*/ 742 h 745"/>
                  <a:gd name="T40" fmla="*/ 396 w 732"/>
                  <a:gd name="T41" fmla="*/ 742 h 745"/>
                  <a:gd name="T42" fmla="*/ 453 w 732"/>
                  <a:gd name="T43" fmla="*/ 733 h 745"/>
                  <a:gd name="T44" fmla="*/ 508 w 732"/>
                  <a:gd name="T45" fmla="*/ 714 h 745"/>
                  <a:gd name="T46" fmla="*/ 558 w 732"/>
                  <a:gd name="T47" fmla="*/ 688 h 745"/>
                  <a:gd name="T48" fmla="*/ 604 w 732"/>
                  <a:gd name="T49" fmla="*/ 654 h 745"/>
                  <a:gd name="T50" fmla="*/ 643 w 732"/>
                  <a:gd name="T51" fmla="*/ 614 h 745"/>
                  <a:gd name="T52" fmla="*/ 677 w 732"/>
                  <a:gd name="T53" fmla="*/ 567 h 745"/>
                  <a:gd name="T54" fmla="*/ 703 w 732"/>
                  <a:gd name="T55" fmla="*/ 516 h 745"/>
                  <a:gd name="T56" fmla="*/ 721 w 732"/>
                  <a:gd name="T57" fmla="*/ 461 h 745"/>
                  <a:gd name="T58" fmla="*/ 730 w 732"/>
                  <a:gd name="T59" fmla="*/ 402 h 745"/>
                  <a:gd name="T60" fmla="*/ 730 w 732"/>
                  <a:gd name="T61" fmla="*/ 341 h 745"/>
                  <a:gd name="T62" fmla="*/ 721 w 732"/>
                  <a:gd name="T63" fmla="*/ 282 h 745"/>
                  <a:gd name="T64" fmla="*/ 703 w 732"/>
                  <a:gd name="T65" fmla="*/ 227 h 745"/>
                  <a:gd name="T66" fmla="*/ 677 w 732"/>
                  <a:gd name="T67" fmla="*/ 176 h 745"/>
                  <a:gd name="T68" fmla="*/ 643 w 732"/>
                  <a:gd name="T69" fmla="*/ 129 h 745"/>
                  <a:gd name="T70" fmla="*/ 604 w 732"/>
                  <a:gd name="T71" fmla="*/ 89 h 745"/>
                  <a:gd name="T72" fmla="*/ 558 w 732"/>
                  <a:gd name="T73" fmla="*/ 55 h 745"/>
                  <a:gd name="T74" fmla="*/ 508 w 732"/>
                  <a:gd name="T75" fmla="*/ 29 h 745"/>
                  <a:gd name="T76" fmla="*/ 453 w 732"/>
                  <a:gd name="T77" fmla="*/ 10 h 745"/>
                  <a:gd name="T78" fmla="*/ 396 w 732"/>
                  <a:gd name="T79" fmla="*/ 1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32" h="745">
                    <a:moveTo>
                      <a:pt x="366" y="0"/>
                    </a:moveTo>
                    <a:lnTo>
                      <a:pt x="335" y="1"/>
                    </a:lnTo>
                    <a:lnTo>
                      <a:pt x="306" y="4"/>
                    </a:lnTo>
                    <a:lnTo>
                      <a:pt x="278" y="10"/>
                    </a:lnTo>
                    <a:lnTo>
                      <a:pt x="250" y="18"/>
                    </a:lnTo>
                    <a:lnTo>
                      <a:pt x="223" y="29"/>
                    </a:lnTo>
                    <a:lnTo>
                      <a:pt x="197" y="41"/>
                    </a:lnTo>
                    <a:lnTo>
                      <a:pt x="173" y="55"/>
                    </a:lnTo>
                    <a:lnTo>
                      <a:pt x="149" y="71"/>
                    </a:lnTo>
                    <a:lnTo>
                      <a:pt x="127" y="89"/>
                    </a:lnTo>
                    <a:lnTo>
                      <a:pt x="107" y="108"/>
                    </a:lnTo>
                    <a:lnTo>
                      <a:pt x="88" y="129"/>
                    </a:lnTo>
                    <a:lnTo>
                      <a:pt x="70" y="152"/>
                    </a:lnTo>
                    <a:lnTo>
                      <a:pt x="54" y="176"/>
                    </a:lnTo>
                    <a:lnTo>
                      <a:pt x="40" y="201"/>
                    </a:lnTo>
                    <a:lnTo>
                      <a:pt x="28" y="227"/>
                    </a:lnTo>
                    <a:lnTo>
                      <a:pt x="18" y="254"/>
                    </a:lnTo>
                    <a:lnTo>
                      <a:pt x="10" y="282"/>
                    </a:lnTo>
                    <a:lnTo>
                      <a:pt x="4" y="311"/>
                    </a:lnTo>
                    <a:lnTo>
                      <a:pt x="1" y="341"/>
                    </a:lnTo>
                    <a:lnTo>
                      <a:pt x="0" y="372"/>
                    </a:lnTo>
                    <a:lnTo>
                      <a:pt x="1" y="402"/>
                    </a:lnTo>
                    <a:lnTo>
                      <a:pt x="4" y="432"/>
                    </a:lnTo>
                    <a:lnTo>
                      <a:pt x="10" y="461"/>
                    </a:lnTo>
                    <a:lnTo>
                      <a:pt x="18" y="489"/>
                    </a:lnTo>
                    <a:lnTo>
                      <a:pt x="28" y="516"/>
                    </a:lnTo>
                    <a:lnTo>
                      <a:pt x="40" y="542"/>
                    </a:lnTo>
                    <a:lnTo>
                      <a:pt x="54" y="567"/>
                    </a:lnTo>
                    <a:lnTo>
                      <a:pt x="70" y="591"/>
                    </a:lnTo>
                    <a:lnTo>
                      <a:pt x="88" y="614"/>
                    </a:lnTo>
                    <a:lnTo>
                      <a:pt x="107" y="635"/>
                    </a:lnTo>
                    <a:lnTo>
                      <a:pt x="127" y="654"/>
                    </a:lnTo>
                    <a:lnTo>
                      <a:pt x="149" y="672"/>
                    </a:lnTo>
                    <a:lnTo>
                      <a:pt x="173" y="688"/>
                    </a:lnTo>
                    <a:lnTo>
                      <a:pt x="197" y="702"/>
                    </a:lnTo>
                    <a:lnTo>
                      <a:pt x="223" y="714"/>
                    </a:lnTo>
                    <a:lnTo>
                      <a:pt x="250" y="725"/>
                    </a:lnTo>
                    <a:lnTo>
                      <a:pt x="278" y="733"/>
                    </a:lnTo>
                    <a:lnTo>
                      <a:pt x="306" y="739"/>
                    </a:lnTo>
                    <a:lnTo>
                      <a:pt x="335" y="742"/>
                    </a:lnTo>
                    <a:lnTo>
                      <a:pt x="366" y="744"/>
                    </a:lnTo>
                    <a:lnTo>
                      <a:pt x="396" y="742"/>
                    </a:lnTo>
                    <a:lnTo>
                      <a:pt x="425" y="739"/>
                    </a:lnTo>
                    <a:lnTo>
                      <a:pt x="453" y="733"/>
                    </a:lnTo>
                    <a:lnTo>
                      <a:pt x="481" y="725"/>
                    </a:lnTo>
                    <a:lnTo>
                      <a:pt x="508" y="714"/>
                    </a:lnTo>
                    <a:lnTo>
                      <a:pt x="534" y="702"/>
                    </a:lnTo>
                    <a:lnTo>
                      <a:pt x="558" y="688"/>
                    </a:lnTo>
                    <a:lnTo>
                      <a:pt x="582" y="672"/>
                    </a:lnTo>
                    <a:lnTo>
                      <a:pt x="604" y="654"/>
                    </a:lnTo>
                    <a:lnTo>
                      <a:pt x="624" y="635"/>
                    </a:lnTo>
                    <a:lnTo>
                      <a:pt x="643" y="614"/>
                    </a:lnTo>
                    <a:lnTo>
                      <a:pt x="661" y="591"/>
                    </a:lnTo>
                    <a:lnTo>
                      <a:pt x="677" y="567"/>
                    </a:lnTo>
                    <a:lnTo>
                      <a:pt x="691" y="542"/>
                    </a:lnTo>
                    <a:lnTo>
                      <a:pt x="703" y="516"/>
                    </a:lnTo>
                    <a:lnTo>
                      <a:pt x="713" y="489"/>
                    </a:lnTo>
                    <a:lnTo>
                      <a:pt x="721" y="461"/>
                    </a:lnTo>
                    <a:lnTo>
                      <a:pt x="727" y="432"/>
                    </a:lnTo>
                    <a:lnTo>
                      <a:pt x="730" y="402"/>
                    </a:lnTo>
                    <a:lnTo>
                      <a:pt x="732" y="372"/>
                    </a:lnTo>
                    <a:lnTo>
                      <a:pt x="730" y="341"/>
                    </a:lnTo>
                    <a:lnTo>
                      <a:pt x="727" y="311"/>
                    </a:lnTo>
                    <a:lnTo>
                      <a:pt x="721" y="282"/>
                    </a:lnTo>
                    <a:lnTo>
                      <a:pt x="713" y="254"/>
                    </a:lnTo>
                    <a:lnTo>
                      <a:pt x="703" y="227"/>
                    </a:lnTo>
                    <a:lnTo>
                      <a:pt x="691" y="201"/>
                    </a:lnTo>
                    <a:lnTo>
                      <a:pt x="677" y="176"/>
                    </a:lnTo>
                    <a:lnTo>
                      <a:pt x="661" y="152"/>
                    </a:lnTo>
                    <a:lnTo>
                      <a:pt x="643" y="129"/>
                    </a:lnTo>
                    <a:lnTo>
                      <a:pt x="624" y="108"/>
                    </a:lnTo>
                    <a:lnTo>
                      <a:pt x="604" y="89"/>
                    </a:lnTo>
                    <a:lnTo>
                      <a:pt x="582" y="71"/>
                    </a:lnTo>
                    <a:lnTo>
                      <a:pt x="558" y="55"/>
                    </a:lnTo>
                    <a:lnTo>
                      <a:pt x="534" y="41"/>
                    </a:lnTo>
                    <a:lnTo>
                      <a:pt x="508" y="29"/>
                    </a:lnTo>
                    <a:lnTo>
                      <a:pt x="481" y="18"/>
                    </a:lnTo>
                    <a:lnTo>
                      <a:pt x="453" y="10"/>
                    </a:lnTo>
                    <a:lnTo>
                      <a:pt x="425" y="4"/>
                    </a:lnTo>
                    <a:lnTo>
                      <a:pt x="396" y="1"/>
                    </a:lnTo>
                    <a:lnTo>
                      <a:pt x="366"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81" name="Freeform 80"/>
              <p:cNvSpPr>
                <a:spLocks/>
              </p:cNvSpPr>
              <p:nvPr/>
            </p:nvSpPr>
            <p:spPr bwMode="auto">
              <a:xfrm>
                <a:off x="433526" y="2022631"/>
                <a:ext cx="0" cy="719455"/>
              </a:xfrm>
              <a:custGeom>
                <a:avLst/>
                <a:gdLst>
                  <a:gd name="T0" fmla="*/ 0 h 1133"/>
                  <a:gd name="T1" fmla="*/ 1133 h 1133"/>
                </a:gdLst>
                <a:ahLst/>
                <a:cxnLst>
                  <a:cxn ang="0">
                    <a:pos x="0" y="T0"/>
                  </a:cxn>
                  <a:cxn ang="0">
                    <a:pos x="0" y="T1"/>
                  </a:cxn>
                </a:cxnLst>
                <a:rect l="0" t="0" r="r" b="b"/>
                <a:pathLst>
                  <a:path h="1133">
                    <a:moveTo>
                      <a:pt x="0" y="0"/>
                    </a:moveTo>
                    <a:lnTo>
                      <a:pt x="0" y="113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82" name="Freeform 81"/>
              <p:cNvSpPr>
                <a:spLocks/>
              </p:cNvSpPr>
              <p:nvPr/>
            </p:nvSpPr>
            <p:spPr bwMode="auto">
              <a:xfrm>
                <a:off x="443368" y="2220116"/>
                <a:ext cx="216510" cy="118745"/>
              </a:xfrm>
              <a:custGeom>
                <a:avLst/>
                <a:gdLst>
                  <a:gd name="T0" fmla="*/ 0 w 341"/>
                  <a:gd name="T1" fmla="*/ 0 h 187"/>
                  <a:gd name="T2" fmla="*/ 341 w 341"/>
                  <a:gd name="T3" fmla="*/ 186 h 187"/>
                </a:gdLst>
                <a:ahLst/>
                <a:cxnLst>
                  <a:cxn ang="0">
                    <a:pos x="T0" y="T1"/>
                  </a:cxn>
                  <a:cxn ang="0">
                    <a:pos x="T2" y="T3"/>
                  </a:cxn>
                </a:cxnLst>
                <a:rect l="0" t="0" r="r" b="b"/>
                <a:pathLst>
                  <a:path w="341" h="187">
                    <a:moveTo>
                      <a:pt x="0" y="0"/>
                    </a:moveTo>
                    <a:lnTo>
                      <a:pt x="341" y="18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83" name="Freeform 82"/>
              <p:cNvSpPr>
                <a:spLocks/>
              </p:cNvSpPr>
              <p:nvPr/>
            </p:nvSpPr>
            <p:spPr bwMode="auto">
              <a:xfrm>
                <a:off x="443368" y="2766533"/>
                <a:ext cx="124763" cy="187645"/>
              </a:xfrm>
              <a:custGeom>
                <a:avLst/>
                <a:gdLst>
                  <a:gd name="T0" fmla="*/ 0 w 341"/>
                  <a:gd name="T1" fmla="*/ 0 h 187"/>
                  <a:gd name="T2" fmla="*/ 341 w 341"/>
                  <a:gd name="T3" fmla="*/ 186 h 187"/>
                </a:gdLst>
                <a:ahLst/>
                <a:cxnLst>
                  <a:cxn ang="0">
                    <a:pos x="T0" y="T1"/>
                  </a:cxn>
                  <a:cxn ang="0">
                    <a:pos x="T2" y="T3"/>
                  </a:cxn>
                </a:cxnLst>
                <a:rect l="0" t="0" r="r" b="b"/>
                <a:pathLst>
                  <a:path w="341" h="187">
                    <a:moveTo>
                      <a:pt x="0" y="0"/>
                    </a:moveTo>
                    <a:lnTo>
                      <a:pt x="341" y="18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84" name="Freeform 83"/>
              <p:cNvSpPr>
                <a:spLocks/>
              </p:cNvSpPr>
              <p:nvPr/>
            </p:nvSpPr>
            <p:spPr bwMode="auto">
              <a:xfrm>
                <a:off x="212731" y="2753834"/>
                <a:ext cx="215874" cy="200344"/>
              </a:xfrm>
              <a:custGeom>
                <a:avLst/>
                <a:gdLst>
                  <a:gd name="T0" fmla="*/ 288 w 289"/>
                  <a:gd name="T1" fmla="*/ 0 h 337"/>
                  <a:gd name="T2" fmla="*/ 0 w 289"/>
                  <a:gd name="T3" fmla="*/ 337 h 337"/>
                </a:gdLst>
                <a:ahLst/>
                <a:cxnLst>
                  <a:cxn ang="0">
                    <a:pos x="T0" y="T1"/>
                  </a:cxn>
                  <a:cxn ang="0">
                    <a:pos x="T2" y="T3"/>
                  </a:cxn>
                </a:cxnLst>
                <a:rect l="0" t="0" r="r" b="b"/>
                <a:pathLst>
                  <a:path w="289" h="337">
                    <a:moveTo>
                      <a:pt x="288" y="0"/>
                    </a:moveTo>
                    <a:lnTo>
                      <a:pt x="0" y="337"/>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85" name="Freeform 84"/>
              <p:cNvSpPr>
                <a:spLocks/>
              </p:cNvSpPr>
              <p:nvPr/>
            </p:nvSpPr>
            <p:spPr bwMode="auto">
              <a:xfrm>
                <a:off x="206226" y="2236901"/>
                <a:ext cx="222379" cy="165425"/>
              </a:xfrm>
              <a:custGeom>
                <a:avLst/>
                <a:gdLst>
                  <a:gd name="T0" fmla="*/ 288 w 289"/>
                  <a:gd name="T1" fmla="*/ 0 h 337"/>
                  <a:gd name="T2" fmla="*/ 0 w 289"/>
                  <a:gd name="T3" fmla="*/ 337 h 337"/>
                </a:gdLst>
                <a:ahLst/>
                <a:cxnLst>
                  <a:cxn ang="0">
                    <a:pos x="T0" y="T1"/>
                  </a:cxn>
                  <a:cxn ang="0">
                    <a:pos x="T2" y="T3"/>
                  </a:cxn>
                </a:cxnLst>
                <a:rect l="0" t="0" r="r" b="b"/>
                <a:pathLst>
                  <a:path w="289" h="337">
                    <a:moveTo>
                      <a:pt x="288" y="0"/>
                    </a:moveTo>
                    <a:lnTo>
                      <a:pt x="0" y="337"/>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grpSp>
        <p:sp>
          <p:nvSpPr>
            <p:cNvPr id="66" name="Rectangle 65"/>
            <p:cNvSpPr/>
            <p:nvPr/>
          </p:nvSpPr>
          <p:spPr>
            <a:xfrm>
              <a:off x="8182901" y="2847140"/>
              <a:ext cx="841256" cy="297517"/>
            </a:xfrm>
            <a:prstGeom prst="rect">
              <a:avLst/>
            </a:prstGeom>
          </p:spPr>
          <p:txBody>
            <a:bodyPr wrap="none">
              <a:spAutoFit/>
            </a:bodyPr>
            <a:lstStyle/>
            <a:p>
              <a:pPr marR="311150" algn="r">
                <a:lnSpc>
                  <a:spcPts val="1580"/>
                </a:lnSpc>
                <a:spcBef>
                  <a:spcPts val="110"/>
                </a:spcBef>
                <a:spcAft>
                  <a:spcPts val="0"/>
                </a:spcAft>
              </a:pPr>
              <a:r>
                <a:rPr lang="en-IN" sz="14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a:t>
              </a:r>
              <a:r>
                <a:rPr lang="en-IN" sz="1400" kern="12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lang="en-IN" sz="1400" kern="1200" spc="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a:t>
              </a:r>
              <a:r>
                <a:rPr lang="en-IN" sz="14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67" name="Oval 66"/>
            <p:cNvSpPr/>
            <p:nvPr/>
          </p:nvSpPr>
          <p:spPr>
            <a:xfrm>
              <a:off x="4128835" y="1155320"/>
              <a:ext cx="2218335" cy="459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Dry Eye (csv)</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68" name="Oval 67"/>
            <p:cNvSpPr/>
            <p:nvPr/>
          </p:nvSpPr>
          <p:spPr>
            <a:xfrm>
              <a:off x="4255554" y="4323882"/>
              <a:ext cx="2218335" cy="459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Eye Disease (Image)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69" name="Oval 68"/>
            <p:cNvSpPr/>
            <p:nvPr/>
          </p:nvSpPr>
          <p:spPr>
            <a:xfrm>
              <a:off x="4220897" y="1724566"/>
              <a:ext cx="2218335" cy="6361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IN" sz="1200" dirty="0" smtClean="0">
                  <a:solidFill>
                    <a:schemeClr val="tx1"/>
                  </a:solidFill>
                  <a:latin typeface="Times New Roman" panose="02020603050405020304" pitchFamily="18" charset="0"/>
                  <a:cs typeface="Times New Roman" panose="02020603050405020304" pitchFamily="18" charset="0"/>
                </a:rPr>
                <a:t>Handling Missing Values &amp; Label Encoding</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0" name="Oval 69"/>
            <p:cNvSpPr/>
            <p:nvPr/>
          </p:nvSpPr>
          <p:spPr>
            <a:xfrm>
              <a:off x="4216350" y="2510243"/>
              <a:ext cx="2218335" cy="459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 Splitting</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 name="Oval 70"/>
            <p:cNvSpPr/>
            <p:nvPr/>
          </p:nvSpPr>
          <p:spPr>
            <a:xfrm>
              <a:off x="4180829" y="3120342"/>
              <a:ext cx="2218335" cy="4590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MLP</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72" name="Straight Arrow Connector 71"/>
            <p:cNvCxnSpPr>
              <a:endCxn id="67" idx="6"/>
            </p:cNvCxnSpPr>
            <p:nvPr/>
          </p:nvCxnSpPr>
          <p:spPr>
            <a:xfrm flipH="1" flipV="1">
              <a:off x="6347170" y="1384824"/>
              <a:ext cx="1687636" cy="9923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67" idx="2"/>
            </p:cNvCxnSpPr>
            <p:nvPr/>
          </p:nvCxnSpPr>
          <p:spPr>
            <a:xfrm flipH="1">
              <a:off x="1699645" y="1384824"/>
              <a:ext cx="2429190" cy="18032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endCxn id="69" idx="2"/>
            </p:cNvCxnSpPr>
            <p:nvPr/>
          </p:nvCxnSpPr>
          <p:spPr>
            <a:xfrm flipV="1">
              <a:off x="1758687" y="2042655"/>
              <a:ext cx="2462210" cy="10570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70" idx="2"/>
            </p:cNvCxnSpPr>
            <p:nvPr/>
          </p:nvCxnSpPr>
          <p:spPr>
            <a:xfrm flipV="1">
              <a:off x="1735987" y="2739747"/>
              <a:ext cx="2480363" cy="4177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endCxn id="71" idx="2"/>
            </p:cNvCxnSpPr>
            <p:nvPr/>
          </p:nvCxnSpPr>
          <p:spPr>
            <a:xfrm>
              <a:off x="1745512" y="3175148"/>
              <a:ext cx="2435317" cy="1746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93" idx="2"/>
            </p:cNvCxnSpPr>
            <p:nvPr/>
          </p:nvCxnSpPr>
          <p:spPr>
            <a:xfrm>
              <a:off x="1735987" y="3268472"/>
              <a:ext cx="2519567" cy="18752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Oval 77"/>
            <p:cNvSpPr/>
            <p:nvPr/>
          </p:nvSpPr>
          <p:spPr>
            <a:xfrm>
              <a:off x="4211421" y="3739541"/>
              <a:ext cx="2218335" cy="4590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Performance Analysis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79" name="Straight Arrow Connector 78"/>
            <p:cNvCxnSpPr>
              <a:endCxn id="78" idx="2"/>
            </p:cNvCxnSpPr>
            <p:nvPr/>
          </p:nvCxnSpPr>
          <p:spPr>
            <a:xfrm>
              <a:off x="1766450" y="3157542"/>
              <a:ext cx="2444971" cy="8115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endCxn id="68" idx="6"/>
            </p:cNvCxnSpPr>
            <p:nvPr/>
          </p:nvCxnSpPr>
          <p:spPr>
            <a:xfrm flipH="1">
              <a:off x="6473889" y="2405930"/>
              <a:ext cx="1518439" cy="21474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Oval 92"/>
            <p:cNvSpPr/>
            <p:nvPr/>
          </p:nvSpPr>
          <p:spPr>
            <a:xfrm>
              <a:off x="4255554" y="4914224"/>
              <a:ext cx="2218335" cy="459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Pre-compile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4" name="Oval 93"/>
            <p:cNvSpPr/>
            <p:nvPr/>
          </p:nvSpPr>
          <p:spPr>
            <a:xfrm>
              <a:off x="4255554" y="5504603"/>
              <a:ext cx="2218335" cy="459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Feature Extraction</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59" name="Straight Arrow Connector 58"/>
            <p:cNvCxnSpPr>
              <a:stCxn id="68" idx="2"/>
            </p:cNvCxnSpPr>
            <p:nvPr/>
          </p:nvCxnSpPr>
          <p:spPr>
            <a:xfrm flipH="1" flipV="1">
              <a:off x="1766450" y="3188113"/>
              <a:ext cx="2489104" cy="13652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Oval 94"/>
            <p:cNvSpPr/>
            <p:nvPr/>
          </p:nvSpPr>
          <p:spPr>
            <a:xfrm>
              <a:off x="4255554" y="6109806"/>
              <a:ext cx="2218335" cy="45900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Mobile Net &amp; VGG-19</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96" name="Straight Arrow Connector 95"/>
            <p:cNvCxnSpPr>
              <a:endCxn id="94" idx="2"/>
            </p:cNvCxnSpPr>
            <p:nvPr/>
          </p:nvCxnSpPr>
          <p:spPr>
            <a:xfrm>
              <a:off x="1722317" y="3307924"/>
              <a:ext cx="2533237" cy="24261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endCxn id="95" idx="2"/>
            </p:cNvCxnSpPr>
            <p:nvPr/>
          </p:nvCxnSpPr>
          <p:spPr>
            <a:xfrm>
              <a:off x="1688995" y="3268472"/>
              <a:ext cx="2566559" cy="30708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653558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6807" y="464939"/>
            <a:ext cx="11152097" cy="707886"/>
          </a:xfrm>
          <a:prstGeom prst="rect">
            <a:avLst/>
          </a:prstGeom>
          <a:noFill/>
        </p:spPr>
        <p:txBody>
          <a:bodyPr wrap="square" rtlCol="0">
            <a:spAutoFit/>
          </a:bodyPr>
          <a:lstStyle/>
          <a:p>
            <a:pPr algn="ctr"/>
            <a:r>
              <a:rPr lang="en-US"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3" name="Rectangle 22"/>
          <p:cNvSpPr/>
          <p:nvPr/>
        </p:nvSpPr>
        <p:spPr>
          <a:xfrm>
            <a:off x="207987" y="162879"/>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124" name="Group 123"/>
          <p:cNvGrpSpPr/>
          <p:nvPr/>
        </p:nvGrpSpPr>
        <p:grpSpPr>
          <a:xfrm>
            <a:off x="366807" y="1172825"/>
            <a:ext cx="11404483" cy="5294038"/>
            <a:chOff x="366807" y="1172825"/>
            <a:chExt cx="11404483" cy="5294038"/>
          </a:xfrm>
        </p:grpSpPr>
        <p:sp>
          <p:nvSpPr>
            <p:cNvPr id="83" name="Oval 82"/>
            <p:cNvSpPr/>
            <p:nvPr/>
          </p:nvSpPr>
          <p:spPr>
            <a:xfrm>
              <a:off x="5942856" y="6151558"/>
              <a:ext cx="780869" cy="31530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sp>
          <p:nvSpPr>
            <p:cNvPr id="82" name="Oval 81"/>
            <p:cNvSpPr/>
            <p:nvPr/>
          </p:nvSpPr>
          <p:spPr>
            <a:xfrm>
              <a:off x="5822016" y="1172825"/>
              <a:ext cx="780869" cy="31530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sp>
          <p:nvSpPr>
            <p:cNvPr id="21" name="Freeform 20"/>
            <p:cNvSpPr>
              <a:spLocks/>
            </p:cNvSpPr>
            <p:nvPr/>
          </p:nvSpPr>
          <p:spPr bwMode="auto">
            <a:xfrm>
              <a:off x="5990545" y="1208354"/>
              <a:ext cx="448391" cy="244246"/>
            </a:xfrm>
            <a:custGeom>
              <a:avLst/>
              <a:gdLst>
                <a:gd name="T0" fmla="*/ 195 w 438"/>
                <a:gd name="T1" fmla="*/ 1 h 412"/>
                <a:gd name="T2" fmla="*/ 149 w 438"/>
                <a:gd name="T3" fmla="*/ 10 h 412"/>
                <a:gd name="T4" fmla="*/ 108 w 438"/>
                <a:gd name="T5" fmla="*/ 28 h 412"/>
                <a:gd name="T6" fmla="*/ 72 w 438"/>
                <a:gd name="T7" fmla="*/ 52 h 412"/>
                <a:gd name="T8" fmla="*/ 42 w 438"/>
                <a:gd name="T9" fmla="*/ 83 h 412"/>
                <a:gd name="T10" fmla="*/ 19 w 438"/>
                <a:gd name="T11" fmla="*/ 120 h 412"/>
                <a:gd name="T12" fmla="*/ 5 w 438"/>
                <a:gd name="T13" fmla="*/ 161 h 412"/>
                <a:gd name="T14" fmla="*/ 0 w 438"/>
                <a:gd name="T15" fmla="*/ 205 h 412"/>
                <a:gd name="T16" fmla="*/ 1 w 438"/>
                <a:gd name="T17" fmla="*/ 228 h 412"/>
                <a:gd name="T18" fmla="*/ 11 w 438"/>
                <a:gd name="T19" fmla="*/ 270 h 412"/>
                <a:gd name="T20" fmla="*/ 29 w 438"/>
                <a:gd name="T21" fmla="*/ 309 h 412"/>
                <a:gd name="T22" fmla="*/ 56 w 438"/>
                <a:gd name="T23" fmla="*/ 343 h 412"/>
                <a:gd name="T24" fmla="*/ 89 w 438"/>
                <a:gd name="T25" fmla="*/ 372 h 412"/>
                <a:gd name="T26" fmla="*/ 128 w 438"/>
                <a:gd name="T27" fmla="*/ 393 h 412"/>
                <a:gd name="T28" fmla="*/ 171 w 438"/>
                <a:gd name="T29" fmla="*/ 407 h 412"/>
                <a:gd name="T30" fmla="*/ 218 w 438"/>
                <a:gd name="T31" fmla="*/ 411 h 412"/>
                <a:gd name="T32" fmla="*/ 242 w 438"/>
                <a:gd name="T33" fmla="*/ 410 h 412"/>
                <a:gd name="T34" fmla="*/ 288 w 438"/>
                <a:gd name="T35" fmla="*/ 401 h 412"/>
                <a:gd name="T36" fmla="*/ 329 w 438"/>
                <a:gd name="T37" fmla="*/ 383 h 412"/>
                <a:gd name="T38" fmla="*/ 365 w 438"/>
                <a:gd name="T39" fmla="*/ 359 h 412"/>
                <a:gd name="T40" fmla="*/ 395 w 438"/>
                <a:gd name="T41" fmla="*/ 328 h 412"/>
                <a:gd name="T42" fmla="*/ 418 w 438"/>
                <a:gd name="T43" fmla="*/ 291 h 412"/>
                <a:gd name="T44" fmla="*/ 432 w 438"/>
                <a:gd name="T45" fmla="*/ 250 h 412"/>
                <a:gd name="T46" fmla="*/ 437 w 438"/>
                <a:gd name="T47" fmla="*/ 206 h 412"/>
                <a:gd name="T48" fmla="*/ 436 w 438"/>
                <a:gd name="T49" fmla="*/ 183 h 412"/>
                <a:gd name="T50" fmla="*/ 426 w 438"/>
                <a:gd name="T51" fmla="*/ 141 h 412"/>
                <a:gd name="T52" fmla="*/ 408 w 438"/>
                <a:gd name="T53" fmla="*/ 102 h 412"/>
                <a:gd name="T54" fmla="*/ 381 w 438"/>
                <a:gd name="T55" fmla="*/ 68 h 412"/>
                <a:gd name="T56" fmla="*/ 348 w 438"/>
                <a:gd name="T57" fmla="*/ 39 h 412"/>
                <a:gd name="T58" fmla="*/ 309 w 438"/>
                <a:gd name="T59" fmla="*/ 18 h 412"/>
                <a:gd name="T60" fmla="*/ 266 w 438"/>
                <a:gd name="T61" fmla="*/ 4 h 412"/>
                <a:gd name="T62" fmla="*/ 219 w 438"/>
                <a:gd name="T63"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8" h="412">
                  <a:moveTo>
                    <a:pt x="218" y="0"/>
                  </a:moveTo>
                  <a:lnTo>
                    <a:pt x="195" y="1"/>
                  </a:lnTo>
                  <a:lnTo>
                    <a:pt x="172" y="4"/>
                  </a:lnTo>
                  <a:lnTo>
                    <a:pt x="149" y="10"/>
                  </a:lnTo>
                  <a:lnTo>
                    <a:pt x="128" y="18"/>
                  </a:lnTo>
                  <a:lnTo>
                    <a:pt x="108" y="28"/>
                  </a:lnTo>
                  <a:lnTo>
                    <a:pt x="89" y="39"/>
                  </a:lnTo>
                  <a:lnTo>
                    <a:pt x="72" y="52"/>
                  </a:lnTo>
                  <a:lnTo>
                    <a:pt x="56" y="67"/>
                  </a:lnTo>
                  <a:lnTo>
                    <a:pt x="42" y="83"/>
                  </a:lnTo>
                  <a:lnTo>
                    <a:pt x="30" y="101"/>
                  </a:lnTo>
                  <a:lnTo>
                    <a:pt x="19" y="120"/>
                  </a:lnTo>
                  <a:lnTo>
                    <a:pt x="11" y="140"/>
                  </a:lnTo>
                  <a:lnTo>
                    <a:pt x="5" y="161"/>
                  </a:lnTo>
                  <a:lnTo>
                    <a:pt x="1" y="182"/>
                  </a:lnTo>
                  <a:lnTo>
                    <a:pt x="0" y="205"/>
                  </a:lnTo>
                  <a:lnTo>
                    <a:pt x="0" y="206"/>
                  </a:lnTo>
                  <a:lnTo>
                    <a:pt x="1" y="228"/>
                  </a:lnTo>
                  <a:lnTo>
                    <a:pt x="5" y="250"/>
                  </a:lnTo>
                  <a:lnTo>
                    <a:pt x="11" y="270"/>
                  </a:lnTo>
                  <a:lnTo>
                    <a:pt x="19" y="290"/>
                  </a:lnTo>
                  <a:lnTo>
                    <a:pt x="29" y="309"/>
                  </a:lnTo>
                  <a:lnTo>
                    <a:pt x="42" y="327"/>
                  </a:lnTo>
                  <a:lnTo>
                    <a:pt x="56" y="343"/>
                  </a:lnTo>
                  <a:lnTo>
                    <a:pt x="71" y="358"/>
                  </a:lnTo>
                  <a:lnTo>
                    <a:pt x="89" y="372"/>
                  </a:lnTo>
                  <a:lnTo>
                    <a:pt x="108" y="383"/>
                  </a:lnTo>
                  <a:lnTo>
                    <a:pt x="128" y="393"/>
                  </a:lnTo>
                  <a:lnTo>
                    <a:pt x="149" y="401"/>
                  </a:lnTo>
                  <a:lnTo>
                    <a:pt x="171" y="407"/>
                  </a:lnTo>
                  <a:lnTo>
                    <a:pt x="194" y="410"/>
                  </a:lnTo>
                  <a:lnTo>
                    <a:pt x="218" y="411"/>
                  </a:lnTo>
                  <a:lnTo>
                    <a:pt x="218" y="412"/>
                  </a:lnTo>
                  <a:lnTo>
                    <a:pt x="242" y="410"/>
                  </a:lnTo>
                  <a:lnTo>
                    <a:pt x="265" y="407"/>
                  </a:lnTo>
                  <a:lnTo>
                    <a:pt x="288" y="401"/>
                  </a:lnTo>
                  <a:lnTo>
                    <a:pt x="309" y="393"/>
                  </a:lnTo>
                  <a:lnTo>
                    <a:pt x="329" y="383"/>
                  </a:lnTo>
                  <a:lnTo>
                    <a:pt x="348" y="372"/>
                  </a:lnTo>
                  <a:lnTo>
                    <a:pt x="365" y="359"/>
                  </a:lnTo>
                  <a:lnTo>
                    <a:pt x="381" y="344"/>
                  </a:lnTo>
                  <a:lnTo>
                    <a:pt x="395" y="328"/>
                  </a:lnTo>
                  <a:lnTo>
                    <a:pt x="407" y="310"/>
                  </a:lnTo>
                  <a:lnTo>
                    <a:pt x="418" y="291"/>
                  </a:lnTo>
                  <a:lnTo>
                    <a:pt x="426" y="271"/>
                  </a:lnTo>
                  <a:lnTo>
                    <a:pt x="432" y="250"/>
                  </a:lnTo>
                  <a:lnTo>
                    <a:pt x="436" y="229"/>
                  </a:lnTo>
                  <a:lnTo>
                    <a:pt x="437" y="206"/>
                  </a:lnTo>
                  <a:lnTo>
                    <a:pt x="437" y="206"/>
                  </a:lnTo>
                  <a:lnTo>
                    <a:pt x="436" y="183"/>
                  </a:lnTo>
                  <a:lnTo>
                    <a:pt x="432" y="161"/>
                  </a:lnTo>
                  <a:lnTo>
                    <a:pt x="426" y="141"/>
                  </a:lnTo>
                  <a:lnTo>
                    <a:pt x="418" y="121"/>
                  </a:lnTo>
                  <a:lnTo>
                    <a:pt x="408" y="102"/>
                  </a:lnTo>
                  <a:lnTo>
                    <a:pt x="395" y="84"/>
                  </a:lnTo>
                  <a:lnTo>
                    <a:pt x="381" y="68"/>
                  </a:lnTo>
                  <a:lnTo>
                    <a:pt x="366" y="53"/>
                  </a:lnTo>
                  <a:lnTo>
                    <a:pt x="348" y="39"/>
                  </a:lnTo>
                  <a:lnTo>
                    <a:pt x="329" y="28"/>
                  </a:lnTo>
                  <a:lnTo>
                    <a:pt x="309" y="18"/>
                  </a:lnTo>
                  <a:lnTo>
                    <a:pt x="288" y="10"/>
                  </a:lnTo>
                  <a:lnTo>
                    <a:pt x="266" y="4"/>
                  </a:lnTo>
                  <a:lnTo>
                    <a:pt x="243" y="1"/>
                  </a:lnTo>
                  <a:lnTo>
                    <a:pt x="219" y="0"/>
                  </a:lnTo>
                  <a:lnTo>
                    <a:pt x="218" y="0"/>
                  </a:lnTo>
                  <a:close/>
                </a:path>
              </a:pathLst>
            </a:custGeom>
            <a:solidFill>
              <a:schemeClr val="tx1"/>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a:latin typeface="Times New Roman" panose="02020603050405020304" pitchFamily="18" charset="0"/>
                <a:cs typeface="Times New Roman" panose="02020603050405020304" pitchFamily="18" charset="0"/>
              </a:endParaRPr>
            </a:p>
          </p:txBody>
        </p:sp>
        <p:cxnSp>
          <p:nvCxnSpPr>
            <p:cNvPr id="22" name="Straight Arrow Connector 21"/>
            <p:cNvCxnSpPr/>
            <p:nvPr/>
          </p:nvCxnSpPr>
          <p:spPr>
            <a:xfrm>
              <a:off x="6214740" y="1452600"/>
              <a:ext cx="0" cy="1421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flipV="1">
              <a:off x="5258692" y="2291560"/>
              <a:ext cx="1968221" cy="13933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sp>
          <p:nvSpPr>
            <p:cNvPr id="8" name="Flowchart: Terminator 7"/>
            <p:cNvSpPr/>
            <p:nvPr/>
          </p:nvSpPr>
          <p:spPr>
            <a:xfrm>
              <a:off x="5285537" y="1574723"/>
              <a:ext cx="1853826" cy="358418"/>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Times New Roman" panose="02020603050405020304" pitchFamily="18" charset="0"/>
                  <a:cs typeface="Times New Roman" panose="02020603050405020304" pitchFamily="18" charset="0"/>
                </a:rPr>
                <a:t>Input Image</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30" name="Straight Arrow Connector 29"/>
            <p:cNvCxnSpPr>
              <a:endCxn id="5" idx="2"/>
            </p:cNvCxnSpPr>
            <p:nvPr/>
          </p:nvCxnSpPr>
          <p:spPr>
            <a:xfrm>
              <a:off x="6242803" y="1933142"/>
              <a:ext cx="0" cy="3584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Flowchart: Terminator 24"/>
            <p:cNvSpPr/>
            <p:nvPr/>
          </p:nvSpPr>
          <p:spPr>
            <a:xfrm>
              <a:off x="1320890" y="2838627"/>
              <a:ext cx="1853826" cy="358418"/>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IN" sz="1200" b="1" dirty="0" smtClean="0">
                  <a:solidFill>
                    <a:schemeClr val="tx1"/>
                  </a:solidFill>
                  <a:latin typeface="Times New Roman" panose="02020603050405020304" pitchFamily="18" charset="0"/>
                  <a:cs typeface="Times New Roman" panose="02020603050405020304" pitchFamily="18" charset="0"/>
                </a:rPr>
                <a:t>Dry Eye Disease</a:t>
              </a:r>
              <a:endParaRPr lang="en-IN" sz="1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6" name="Flowchart: Terminator 25"/>
            <p:cNvSpPr/>
            <p:nvPr/>
          </p:nvSpPr>
          <p:spPr>
            <a:xfrm>
              <a:off x="9323436" y="2831699"/>
              <a:ext cx="2035730" cy="358418"/>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tx1"/>
                  </a:solidFill>
                  <a:latin typeface="Times New Roman" panose="02020603050405020304" pitchFamily="18" charset="0"/>
                  <a:cs typeface="Times New Roman" panose="02020603050405020304" pitchFamily="18" charset="0"/>
                </a:rPr>
                <a:t>Eye Blink Prediction</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6" name="Elbow Connector 5"/>
            <p:cNvCxnSpPr>
              <a:stCxn id="5" idx="0"/>
              <a:endCxn id="25" idx="0"/>
            </p:cNvCxnSpPr>
            <p:nvPr/>
          </p:nvCxnSpPr>
          <p:spPr>
            <a:xfrm rot="5400000">
              <a:off x="4041438" y="637261"/>
              <a:ext cx="407731" cy="39950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p:cNvCxnSpPr>
              <a:stCxn id="5" idx="0"/>
              <a:endCxn id="26" idx="0"/>
            </p:cNvCxnSpPr>
            <p:nvPr/>
          </p:nvCxnSpPr>
          <p:spPr>
            <a:xfrm rot="16200000" flipH="1">
              <a:off x="8091651" y="582048"/>
              <a:ext cx="400803" cy="409849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Diamond 10"/>
            <p:cNvSpPr/>
            <p:nvPr/>
          </p:nvSpPr>
          <p:spPr>
            <a:xfrm>
              <a:off x="2024934" y="3515225"/>
              <a:ext cx="404942" cy="372907"/>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14" name="Straight Arrow Connector 13"/>
            <p:cNvCxnSpPr>
              <a:stCxn id="25" idx="2"/>
              <a:endCxn id="11" idx="0"/>
            </p:cNvCxnSpPr>
            <p:nvPr/>
          </p:nvCxnSpPr>
          <p:spPr>
            <a:xfrm flipH="1">
              <a:off x="2227405" y="3197045"/>
              <a:ext cx="20398" cy="318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Flowchart: Terminator 38"/>
            <p:cNvSpPr/>
            <p:nvPr/>
          </p:nvSpPr>
          <p:spPr>
            <a:xfrm>
              <a:off x="366807" y="4055308"/>
              <a:ext cx="1658127" cy="342813"/>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latin typeface="Times New Roman" panose="02020603050405020304" pitchFamily="18" charset="0"/>
                  <a:cs typeface="Times New Roman" panose="02020603050405020304" pitchFamily="18" charset="0"/>
                </a:rPr>
                <a:t>Pre-compiler</a:t>
              </a:r>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4" name="Flowchart: Terminator 43"/>
            <p:cNvSpPr/>
            <p:nvPr/>
          </p:nvSpPr>
          <p:spPr>
            <a:xfrm>
              <a:off x="2521159" y="4044247"/>
              <a:ext cx="1691642" cy="342813"/>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latin typeface="Times New Roman" panose="02020603050405020304" pitchFamily="18" charset="0"/>
                  <a:cs typeface="Times New Roman" panose="02020603050405020304" pitchFamily="18" charset="0"/>
                </a:rPr>
                <a:t>Data Splitting</a:t>
              </a:r>
              <a:endParaRPr lang="en-IN" sz="1200" b="1" dirty="0">
                <a:solidFill>
                  <a:schemeClr val="tx1"/>
                </a:solidFill>
                <a:latin typeface="Times New Roman" panose="02020603050405020304" pitchFamily="18" charset="0"/>
                <a:cs typeface="Times New Roman" panose="02020603050405020304" pitchFamily="18" charset="0"/>
              </a:endParaRPr>
            </a:p>
          </p:txBody>
        </p:sp>
        <p:cxnSp>
          <p:nvCxnSpPr>
            <p:cNvPr id="16" name="Elbow Connector 15"/>
            <p:cNvCxnSpPr>
              <a:stCxn id="11" idx="3"/>
              <a:endCxn id="44" idx="0"/>
            </p:cNvCxnSpPr>
            <p:nvPr/>
          </p:nvCxnSpPr>
          <p:spPr>
            <a:xfrm>
              <a:off x="2429876" y="3701679"/>
              <a:ext cx="937104" cy="34256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11" idx="1"/>
              <a:endCxn id="39" idx="0"/>
            </p:cNvCxnSpPr>
            <p:nvPr/>
          </p:nvCxnSpPr>
          <p:spPr>
            <a:xfrm rot="10800000" flipV="1">
              <a:off x="1195872" y="3701678"/>
              <a:ext cx="829063" cy="35362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Diamond 46"/>
            <p:cNvSpPr/>
            <p:nvPr/>
          </p:nvSpPr>
          <p:spPr>
            <a:xfrm>
              <a:off x="2429876" y="4600776"/>
              <a:ext cx="404942" cy="372907"/>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29" name="Elbow Connector 28"/>
            <p:cNvCxnSpPr>
              <a:stCxn id="44" idx="2"/>
              <a:endCxn id="47" idx="3"/>
            </p:cNvCxnSpPr>
            <p:nvPr/>
          </p:nvCxnSpPr>
          <p:spPr>
            <a:xfrm rot="5400000">
              <a:off x="2900814" y="4321064"/>
              <a:ext cx="400170" cy="5321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Elbow Connector 47"/>
            <p:cNvCxnSpPr>
              <a:stCxn id="39" idx="2"/>
              <a:endCxn id="47" idx="1"/>
            </p:cNvCxnSpPr>
            <p:nvPr/>
          </p:nvCxnSpPr>
          <p:spPr>
            <a:xfrm rot="16200000" flipH="1">
              <a:off x="1618319" y="3975672"/>
              <a:ext cx="389109" cy="12340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Rectangle 71"/>
            <p:cNvSpPr/>
            <p:nvPr/>
          </p:nvSpPr>
          <p:spPr>
            <a:xfrm flipV="1">
              <a:off x="5349181" y="5855773"/>
              <a:ext cx="1968221" cy="13933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74" name="Elbow Connector 73"/>
            <p:cNvCxnSpPr>
              <a:stCxn id="47" idx="2"/>
              <a:endCxn id="72" idx="2"/>
            </p:cNvCxnSpPr>
            <p:nvPr/>
          </p:nvCxnSpPr>
          <p:spPr>
            <a:xfrm rot="16200000" flipH="1">
              <a:off x="4041774" y="3564255"/>
              <a:ext cx="882090" cy="370094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Elbow Connector 77"/>
            <p:cNvCxnSpPr>
              <a:stCxn id="107" idx="2"/>
              <a:endCxn id="72" idx="2"/>
            </p:cNvCxnSpPr>
            <p:nvPr/>
          </p:nvCxnSpPr>
          <p:spPr>
            <a:xfrm rot="5400000">
              <a:off x="7866878" y="3460538"/>
              <a:ext cx="861650" cy="392882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Freeform 80"/>
            <p:cNvSpPr>
              <a:spLocks/>
            </p:cNvSpPr>
            <p:nvPr/>
          </p:nvSpPr>
          <p:spPr bwMode="auto">
            <a:xfrm>
              <a:off x="6109095" y="6187088"/>
              <a:ext cx="448391" cy="244246"/>
            </a:xfrm>
            <a:custGeom>
              <a:avLst/>
              <a:gdLst>
                <a:gd name="T0" fmla="*/ 195 w 438"/>
                <a:gd name="T1" fmla="*/ 1 h 412"/>
                <a:gd name="T2" fmla="*/ 149 w 438"/>
                <a:gd name="T3" fmla="*/ 10 h 412"/>
                <a:gd name="T4" fmla="*/ 108 w 438"/>
                <a:gd name="T5" fmla="*/ 28 h 412"/>
                <a:gd name="T6" fmla="*/ 72 w 438"/>
                <a:gd name="T7" fmla="*/ 52 h 412"/>
                <a:gd name="T8" fmla="*/ 42 w 438"/>
                <a:gd name="T9" fmla="*/ 83 h 412"/>
                <a:gd name="T10" fmla="*/ 19 w 438"/>
                <a:gd name="T11" fmla="*/ 120 h 412"/>
                <a:gd name="T12" fmla="*/ 5 w 438"/>
                <a:gd name="T13" fmla="*/ 161 h 412"/>
                <a:gd name="T14" fmla="*/ 0 w 438"/>
                <a:gd name="T15" fmla="*/ 205 h 412"/>
                <a:gd name="T16" fmla="*/ 1 w 438"/>
                <a:gd name="T17" fmla="*/ 228 h 412"/>
                <a:gd name="T18" fmla="*/ 11 w 438"/>
                <a:gd name="T19" fmla="*/ 270 h 412"/>
                <a:gd name="T20" fmla="*/ 29 w 438"/>
                <a:gd name="T21" fmla="*/ 309 h 412"/>
                <a:gd name="T22" fmla="*/ 56 w 438"/>
                <a:gd name="T23" fmla="*/ 343 h 412"/>
                <a:gd name="T24" fmla="*/ 89 w 438"/>
                <a:gd name="T25" fmla="*/ 372 h 412"/>
                <a:gd name="T26" fmla="*/ 128 w 438"/>
                <a:gd name="T27" fmla="*/ 393 h 412"/>
                <a:gd name="T28" fmla="*/ 171 w 438"/>
                <a:gd name="T29" fmla="*/ 407 h 412"/>
                <a:gd name="T30" fmla="*/ 218 w 438"/>
                <a:gd name="T31" fmla="*/ 411 h 412"/>
                <a:gd name="T32" fmla="*/ 242 w 438"/>
                <a:gd name="T33" fmla="*/ 410 h 412"/>
                <a:gd name="T34" fmla="*/ 288 w 438"/>
                <a:gd name="T35" fmla="*/ 401 h 412"/>
                <a:gd name="T36" fmla="*/ 329 w 438"/>
                <a:gd name="T37" fmla="*/ 383 h 412"/>
                <a:gd name="T38" fmla="*/ 365 w 438"/>
                <a:gd name="T39" fmla="*/ 359 h 412"/>
                <a:gd name="T40" fmla="*/ 395 w 438"/>
                <a:gd name="T41" fmla="*/ 328 h 412"/>
                <a:gd name="T42" fmla="*/ 418 w 438"/>
                <a:gd name="T43" fmla="*/ 291 h 412"/>
                <a:gd name="T44" fmla="*/ 432 w 438"/>
                <a:gd name="T45" fmla="*/ 250 h 412"/>
                <a:gd name="T46" fmla="*/ 437 w 438"/>
                <a:gd name="T47" fmla="*/ 206 h 412"/>
                <a:gd name="T48" fmla="*/ 436 w 438"/>
                <a:gd name="T49" fmla="*/ 183 h 412"/>
                <a:gd name="T50" fmla="*/ 426 w 438"/>
                <a:gd name="T51" fmla="*/ 141 h 412"/>
                <a:gd name="T52" fmla="*/ 408 w 438"/>
                <a:gd name="T53" fmla="*/ 102 h 412"/>
                <a:gd name="T54" fmla="*/ 381 w 438"/>
                <a:gd name="T55" fmla="*/ 68 h 412"/>
                <a:gd name="T56" fmla="*/ 348 w 438"/>
                <a:gd name="T57" fmla="*/ 39 h 412"/>
                <a:gd name="T58" fmla="*/ 309 w 438"/>
                <a:gd name="T59" fmla="*/ 18 h 412"/>
                <a:gd name="T60" fmla="*/ 266 w 438"/>
                <a:gd name="T61" fmla="*/ 4 h 412"/>
                <a:gd name="T62" fmla="*/ 219 w 438"/>
                <a:gd name="T63"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8" h="412">
                  <a:moveTo>
                    <a:pt x="218" y="0"/>
                  </a:moveTo>
                  <a:lnTo>
                    <a:pt x="195" y="1"/>
                  </a:lnTo>
                  <a:lnTo>
                    <a:pt x="172" y="4"/>
                  </a:lnTo>
                  <a:lnTo>
                    <a:pt x="149" y="10"/>
                  </a:lnTo>
                  <a:lnTo>
                    <a:pt x="128" y="18"/>
                  </a:lnTo>
                  <a:lnTo>
                    <a:pt x="108" y="28"/>
                  </a:lnTo>
                  <a:lnTo>
                    <a:pt x="89" y="39"/>
                  </a:lnTo>
                  <a:lnTo>
                    <a:pt x="72" y="52"/>
                  </a:lnTo>
                  <a:lnTo>
                    <a:pt x="56" y="67"/>
                  </a:lnTo>
                  <a:lnTo>
                    <a:pt x="42" y="83"/>
                  </a:lnTo>
                  <a:lnTo>
                    <a:pt x="30" y="101"/>
                  </a:lnTo>
                  <a:lnTo>
                    <a:pt x="19" y="120"/>
                  </a:lnTo>
                  <a:lnTo>
                    <a:pt x="11" y="140"/>
                  </a:lnTo>
                  <a:lnTo>
                    <a:pt x="5" y="161"/>
                  </a:lnTo>
                  <a:lnTo>
                    <a:pt x="1" y="182"/>
                  </a:lnTo>
                  <a:lnTo>
                    <a:pt x="0" y="205"/>
                  </a:lnTo>
                  <a:lnTo>
                    <a:pt x="0" y="206"/>
                  </a:lnTo>
                  <a:lnTo>
                    <a:pt x="1" y="228"/>
                  </a:lnTo>
                  <a:lnTo>
                    <a:pt x="5" y="250"/>
                  </a:lnTo>
                  <a:lnTo>
                    <a:pt x="11" y="270"/>
                  </a:lnTo>
                  <a:lnTo>
                    <a:pt x="19" y="290"/>
                  </a:lnTo>
                  <a:lnTo>
                    <a:pt x="29" y="309"/>
                  </a:lnTo>
                  <a:lnTo>
                    <a:pt x="42" y="327"/>
                  </a:lnTo>
                  <a:lnTo>
                    <a:pt x="56" y="343"/>
                  </a:lnTo>
                  <a:lnTo>
                    <a:pt x="71" y="358"/>
                  </a:lnTo>
                  <a:lnTo>
                    <a:pt x="89" y="372"/>
                  </a:lnTo>
                  <a:lnTo>
                    <a:pt x="108" y="383"/>
                  </a:lnTo>
                  <a:lnTo>
                    <a:pt x="128" y="393"/>
                  </a:lnTo>
                  <a:lnTo>
                    <a:pt x="149" y="401"/>
                  </a:lnTo>
                  <a:lnTo>
                    <a:pt x="171" y="407"/>
                  </a:lnTo>
                  <a:lnTo>
                    <a:pt x="194" y="410"/>
                  </a:lnTo>
                  <a:lnTo>
                    <a:pt x="218" y="411"/>
                  </a:lnTo>
                  <a:lnTo>
                    <a:pt x="218" y="412"/>
                  </a:lnTo>
                  <a:lnTo>
                    <a:pt x="242" y="410"/>
                  </a:lnTo>
                  <a:lnTo>
                    <a:pt x="265" y="407"/>
                  </a:lnTo>
                  <a:lnTo>
                    <a:pt x="288" y="401"/>
                  </a:lnTo>
                  <a:lnTo>
                    <a:pt x="309" y="393"/>
                  </a:lnTo>
                  <a:lnTo>
                    <a:pt x="329" y="383"/>
                  </a:lnTo>
                  <a:lnTo>
                    <a:pt x="348" y="372"/>
                  </a:lnTo>
                  <a:lnTo>
                    <a:pt x="365" y="359"/>
                  </a:lnTo>
                  <a:lnTo>
                    <a:pt x="381" y="344"/>
                  </a:lnTo>
                  <a:lnTo>
                    <a:pt x="395" y="328"/>
                  </a:lnTo>
                  <a:lnTo>
                    <a:pt x="407" y="310"/>
                  </a:lnTo>
                  <a:lnTo>
                    <a:pt x="418" y="291"/>
                  </a:lnTo>
                  <a:lnTo>
                    <a:pt x="426" y="271"/>
                  </a:lnTo>
                  <a:lnTo>
                    <a:pt x="432" y="250"/>
                  </a:lnTo>
                  <a:lnTo>
                    <a:pt x="436" y="229"/>
                  </a:lnTo>
                  <a:lnTo>
                    <a:pt x="437" y="206"/>
                  </a:lnTo>
                  <a:lnTo>
                    <a:pt x="437" y="206"/>
                  </a:lnTo>
                  <a:lnTo>
                    <a:pt x="436" y="183"/>
                  </a:lnTo>
                  <a:lnTo>
                    <a:pt x="432" y="161"/>
                  </a:lnTo>
                  <a:lnTo>
                    <a:pt x="426" y="141"/>
                  </a:lnTo>
                  <a:lnTo>
                    <a:pt x="418" y="121"/>
                  </a:lnTo>
                  <a:lnTo>
                    <a:pt x="408" y="102"/>
                  </a:lnTo>
                  <a:lnTo>
                    <a:pt x="395" y="84"/>
                  </a:lnTo>
                  <a:lnTo>
                    <a:pt x="381" y="68"/>
                  </a:lnTo>
                  <a:lnTo>
                    <a:pt x="366" y="53"/>
                  </a:lnTo>
                  <a:lnTo>
                    <a:pt x="348" y="39"/>
                  </a:lnTo>
                  <a:lnTo>
                    <a:pt x="329" y="28"/>
                  </a:lnTo>
                  <a:lnTo>
                    <a:pt x="309" y="18"/>
                  </a:lnTo>
                  <a:lnTo>
                    <a:pt x="288" y="10"/>
                  </a:lnTo>
                  <a:lnTo>
                    <a:pt x="266" y="4"/>
                  </a:lnTo>
                  <a:lnTo>
                    <a:pt x="243" y="1"/>
                  </a:lnTo>
                  <a:lnTo>
                    <a:pt x="219" y="0"/>
                  </a:lnTo>
                  <a:lnTo>
                    <a:pt x="218" y="0"/>
                  </a:lnTo>
                  <a:close/>
                </a:path>
              </a:pathLst>
            </a:custGeom>
            <a:solidFill>
              <a:schemeClr val="tx1"/>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1400">
                <a:latin typeface="Times New Roman" panose="02020603050405020304" pitchFamily="18" charset="0"/>
                <a:cs typeface="Times New Roman" panose="02020603050405020304" pitchFamily="18" charset="0"/>
              </a:endParaRPr>
            </a:p>
          </p:txBody>
        </p:sp>
        <p:cxnSp>
          <p:nvCxnSpPr>
            <p:cNvPr id="87" name="Straight Arrow Connector 86"/>
            <p:cNvCxnSpPr>
              <a:stCxn id="72" idx="0"/>
              <a:endCxn id="83" idx="0"/>
            </p:cNvCxnSpPr>
            <p:nvPr/>
          </p:nvCxnSpPr>
          <p:spPr>
            <a:xfrm flipH="1">
              <a:off x="6333290" y="5995110"/>
              <a:ext cx="2" cy="156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Flowchart: Terminator 54"/>
            <p:cNvSpPr/>
            <p:nvPr/>
          </p:nvSpPr>
          <p:spPr>
            <a:xfrm>
              <a:off x="5406377" y="2846017"/>
              <a:ext cx="1853826" cy="358418"/>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IN" sz="1200" b="1" dirty="0" smtClean="0">
                  <a:solidFill>
                    <a:schemeClr val="tx1"/>
                  </a:solidFill>
                  <a:latin typeface="Times New Roman" panose="02020603050405020304" pitchFamily="18" charset="0"/>
                  <a:cs typeface="Times New Roman" panose="02020603050405020304" pitchFamily="18" charset="0"/>
                </a:rPr>
                <a:t>Eye Disease Prediction</a:t>
              </a:r>
              <a:endParaRPr lang="en-IN" sz="12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7" name="Diamond 56"/>
            <p:cNvSpPr/>
            <p:nvPr/>
          </p:nvSpPr>
          <p:spPr>
            <a:xfrm>
              <a:off x="6125409" y="3565050"/>
              <a:ext cx="404942" cy="372907"/>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61" name="Straight Arrow Connector 60"/>
            <p:cNvCxnSpPr>
              <a:stCxn id="55" idx="2"/>
              <a:endCxn id="57" idx="0"/>
            </p:cNvCxnSpPr>
            <p:nvPr/>
          </p:nvCxnSpPr>
          <p:spPr>
            <a:xfrm flipH="1">
              <a:off x="6327880" y="3204435"/>
              <a:ext cx="5410" cy="360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Flowchart: Terminator 62"/>
            <p:cNvSpPr/>
            <p:nvPr/>
          </p:nvSpPr>
          <p:spPr>
            <a:xfrm>
              <a:off x="6708249" y="4085824"/>
              <a:ext cx="1646468" cy="342813"/>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latin typeface="Times New Roman" panose="02020603050405020304" pitchFamily="18" charset="0"/>
                  <a:cs typeface="Times New Roman" panose="02020603050405020304" pitchFamily="18" charset="0"/>
                </a:rPr>
                <a:t>MobileNet</a:t>
              </a:r>
              <a:endParaRPr lang="en-IN" sz="1200" b="1" dirty="0">
                <a:solidFill>
                  <a:schemeClr val="tx1"/>
                </a:solidFill>
                <a:latin typeface="Times New Roman" panose="02020603050405020304" pitchFamily="18" charset="0"/>
                <a:cs typeface="Times New Roman" panose="02020603050405020304" pitchFamily="18" charset="0"/>
              </a:endParaRPr>
            </a:p>
          </p:txBody>
        </p:sp>
        <p:cxnSp>
          <p:nvCxnSpPr>
            <p:cNvPr id="65" name="Elbow Connector 64"/>
            <p:cNvCxnSpPr>
              <a:stCxn id="57" idx="3"/>
              <a:endCxn id="63" idx="0"/>
            </p:cNvCxnSpPr>
            <p:nvPr/>
          </p:nvCxnSpPr>
          <p:spPr>
            <a:xfrm>
              <a:off x="6530351" y="3751504"/>
              <a:ext cx="1001132" cy="33432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Elbow Connector 65"/>
            <p:cNvCxnSpPr>
              <a:stCxn id="57" idx="1"/>
            </p:cNvCxnSpPr>
            <p:nvPr/>
          </p:nvCxnSpPr>
          <p:spPr>
            <a:xfrm rot="10800000" flipV="1">
              <a:off x="5328371" y="3751503"/>
              <a:ext cx="797039" cy="35362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Diamond 67"/>
            <p:cNvSpPr/>
            <p:nvPr/>
          </p:nvSpPr>
          <p:spPr>
            <a:xfrm>
              <a:off x="6155998" y="4623187"/>
              <a:ext cx="404942" cy="372907"/>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70" name="Elbow Connector 69"/>
            <p:cNvCxnSpPr>
              <a:stCxn id="63" idx="2"/>
              <a:endCxn id="68" idx="3"/>
            </p:cNvCxnSpPr>
            <p:nvPr/>
          </p:nvCxnSpPr>
          <p:spPr>
            <a:xfrm rot="5400000">
              <a:off x="6855710" y="4133868"/>
              <a:ext cx="381004" cy="97054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85" idx="2"/>
              <a:endCxn id="68" idx="1"/>
            </p:cNvCxnSpPr>
            <p:nvPr/>
          </p:nvCxnSpPr>
          <p:spPr>
            <a:xfrm rot="16200000" flipH="1">
              <a:off x="5575025" y="4228667"/>
              <a:ext cx="373369" cy="78857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6242802" y="2430895"/>
              <a:ext cx="0" cy="383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Flowchart: Terminator 84"/>
            <p:cNvSpPr/>
            <p:nvPr/>
          </p:nvSpPr>
          <p:spPr>
            <a:xfrm>
              <a:off x="4519410" y="4093459"/>
              <a:ext cx="1696020" cy="342813"/>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latin typeface="Times New Roman" panose="02020603050405020304" pitchFamily="18" charset="0"/>
                  <a:cs typeface="Times New Roman" panose="02020603050405020304" pitchFamily="18" charset="0"/>
                </a:rPr>
                <a:t>GLCM</a:t>
              </a:r>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103" name="Diamond 102"/>
            <p:cNvSpPr/>
            <p:nvPr/>
          </p:nvSpPr>
          <p:spPr>
            <a:xfrm>
              <a:off x="10207125" y="3468851"/>
              <a:ext cx="268352" cy="372907"/>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sp>
          <p:nvSpPr>
            <p:cNvPr id="104" name="Flowchart: Terminator 103"/>
            <p:cNvSpPr/>
            <p:nvPr/>
          </p:nvSpPr>
          <p:spPr>
            <a:xfrm>
              <a:off x="10680188" y="4083853"/>
              <a:ext cx="1091102" cy="342813"/>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latin typeface="Times New Roman" panose="02020603050405020304" pitchFamily="18" charset="0"/>
                  <a:cs typeface="Times New Roman" panose="02020603050405020304" pitchFamily="18" charset="0"/>
                </a:rPr>
                <a:t>VGG-19</a:t>
              </a:r>
              <a:endParaRPr lang="en-IN" sz="1200" b="1" dirty="0">
                <a:solidFill>
                  <a:schemeClr val="tx1"/>
                </a:solidFill>
                <a:latin typeface="Times New Roman" panose="02020603050405020304" pitchFamily="18" charset="0"/>
                <a:cs typeface="Times New Roman" panose="02020603050405020304" pitchFamily="18" charset="0"/>
              </a:endParaRPr>
            </a:p>
          </p:txBody>
        </p:sp>
        <p:cxnSp>
          <p:nvCxnSpPr>
            <p:cNvPr id="105" name="Elbow Connector 104"/>
            <p:cNvCxnSpPr>
              <a:stCxn id="103" idx="3"/>
              <a:endCxn id="104" idx="0"/>
            </p:cNvCxnSpPr>
            <p:nvPr/>
          </p:nvCxnSpPr>
          <p:spPr>
            <a:xfrm>
              <a:off x="10475477" y="3655305"/>
              <a:ext cx="750262" cy="42854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p:cNvCxnSpPr>
              <a:stCxn id="103" idx="1"/>
              <a:endCxn id="110" idx="0"/>
            </p:cNvCxnSpPr>
            <p:nvPr/>
          </p:nvCxnSpPr>
          <p:spPr>
            <a:xfrm rot="10800000" flipV="1">
              <a:off x="9053319" y="3655304"/>
              <a:ext cx="1153806" cy="43618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Diamond 106"/>
            <p:cNvSpPr/>
            <p:nvPr/>
          </p:nvSpPr>
          <p:spPr>
            <a:xfrm>
              <a:off x="10127937" y="4621216"/>
              <a:ext cx="268352" cy="372907"/>
            </a:xfrm>
            <a:prstGeom prst="diamond">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108" name="Elbow Connector 107"/>
            <p:cNvCxnSpPr>
              <a:stCxn id="104" idx="2"/>
              <a:endCxn id="107" idx="3"/>
            </p:cNvCxnSpPr>
            <p:nvPr/>
          </p:nvCxnSpPr>
          <p:spPr>
            <a:xfrm rot="5400000">
              <a:off x="10620512" y="4202443"/>
              <a:ext cx="381004" cy="8294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Elbow Connector 108"/>
            <p:cNvCxnSpPr>
              <a:stCxn id="110" idx="2"/>
              <a:endCxn id="107" idx="1"/>
            </p:cNvCxnSpPr>
            <p:nvPr/>
          </p:nvCxnSpPr>
          <p:spPr>
            <a:xfrm rot="16200000" flipH="1">
              <a:off x="9403944" y="4083676"/>
              <a:ext cx="373369" cy="107461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Flowchart: Terminator 109"/>
            <p:cNvSpPr/>
            <p:nvPr/>
          </p:nvSpPr>
          <p:spPr>
            <a:xfrm>
              <a:off x="8491349" y="4091488"/>
              <a:ext cx="1123940" cy="342813"/>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latin typeface="Times New Roman" panose="02020603050405020304" pitchFamily="18" charset="0"/>
                  <a:cs typeface="Times New Roman" panose="02020603050405020304" pitchFamily="18" charset="0"/>
                </a:rPr>
                <a:t>GLCM</a:t>
              </a:r>
              <a:endParaRPr lang="en-IN" sz="1200" b="1" dirty="0">
                <a:solidFill>
                  <a:schemeClr val="tx1"/>
                </a:solidFill>
                <a:latin typeface="Times New Roman" panose="02020603050405020304" pitchFamily="18" charset="0"/>
                <a:cs typeface="Times New Roman" panose="02020603050405020304" pitchFamily="18" charset="0"/>
              </a:endParaRPr>
            </a:p>
          </p:txBody>
        </p:sp>
        <p:cxnSp>
          <p:nvCxnSpPr>
            <p:cNvPr id="122" name="Straight Arrow Connector 121"/>
            <p:cNvCxnSpPr>
              <a:stCxn id="26" idx="2"/>
              <a:endCxn id="103" idx="0"/>
            </p:cNvCxnSpPr>
            <p:nvPr/>
          </p:nvCxnSpPr>
          <p:spPr>
            <a:xfrm>
              <a:off x="10341301" y="3190117"/>
              <a:ext cx="0" cy="278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47795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6" name="TextBox 15"/>
          <p:cNvSpPr txBox="1"/>
          <p:nvPr/>
        </p:nvSpPr>
        <p:spPr>
          <a:xfrm>
            <a:off x="716575" y="167114"/>
            <a:ext cx="10890932" cy="707886"/>
          </a:xfrm>
          <a:prstGeom prst="rect">
            <a:avLst/>
          </a:prstGeom>
          <a:noFill/>
        </p:spPr>
        <p:txBody>
          <a:bodyPr wrap="square" rtlCol="0">
            <a:spAutoFit/>
          </a:bodyPr>
          <a:lstStyle/>
          <a:p>
            <a:pPr algn="ctr"/>
            <a:r>
              <a:rPr lang="en-US"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ER Diagram</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2" name="Group 1"/>
          <p:cNvGrpSpPr/>
          <p:nvPr/>
        </p:nvGrpSpPr>
        <p:grpSpPr>
          <a:xfrm>
            <a:off x="768387" y="903934"/>
            <a:ext cx="10478367" cy="5354097"/>
            <a:chOff x="932315" y="840640"/>
            <a:chExt cx="10478367" cy="5354097"/>
          </a:xfrm>
        </p:grpSpPr>
        <p:sp>
          <p:nvSpPr>
            <p:cNvPr id="18" name="Rounded Rectangle 17"/>
            <p:cNvSpPr/>
            <p:nvPr/>
          </p:nvSpPr>
          <p:spPr>
            <a:xfrm>
              <a:off x="1737883" y="5488761"/>
              <a:ext cx="862000" cy="641981"/>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smtClean="0">
                  <a:latin typeface="Times New Roman" panose="02020603050405020304" pitchFamily="18" charset="0"/>
                  <a:cs typeface="Times New Roman" panose="02020603050405020304" pitchFamily="18" charset="0"/>
                </a:rPr>
                <a:t>Dry Eye</a:t>
              </a:r>
              <a:endParaRPr lang="en-US" sz="1400" b="1" dirty="0">
                <a:latin typeface="Times New Roman" panose="02020603050405020304" pitchFamily="18" charset="0"/>
                <a:cs typeface="Times New Roman" panose="02020603050405020304" pitchFamily="18" charset="0"/>
              </a:endParaRPr>
            </a:p>
          </p:txBody>
        </p:sp>
        <p:sp>
          <p:nvSpPr>
            <p:cNvPr id="20" name="Rounded Rectangle 19"/>
            <p:cNvSpPr/>
            <p:nvPr/>
          </p:nvSpPr>
          <p:spPr>
            <a:xfrm>
              <a:off x="9365603" y="5511705"/>
              <a:ext cx="927387" cy="641981"/>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smtClean="0">
                  <a:latin typeface="Times New Roman" panose="02020603050405020304" pitchFamily="18" charset="0"/>
                  <a:cs typeface="Times New Roman" panose="02020603050405020304" pitchFamily="18" charset="0"/>
                </a:rPr>
                <a:t>Eye Blink</a:t>
              </a:r>
              <a:endParaRPr lang="en-US" sz="1400" b="1" dirty="0">
                <a:latin typeface="Times New Roman" panose="02020603050405020304" pitchFamily="18" charset="0"/>
                <a:cs typeface="Times New Roman" panose="02020603050405020304" pitchFamily="18" charset="0"/>
              </a:endParaRPr>
            </a:p>
          </p:txBody>
        </p:sp>
        <p:sp>
          <p:nvSpPr>
            <p:cNvPr id="21" name="Rounded Rectangle 20"/>
            <p:cNvSpPr/>
            <p:nvPr/>
          </p:nvSpPr>
          <p:spPr>
            <a:xfrm>
              <a:off x="5368147" y="5511705"/>
              <a:ext cx="862000" cy="641981"/>
            </a:xfrm>
            <a:prstGeom prst="roundRect">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smtClean="0">
                  <a:latin typeface="Times New Roman" panose="02020603050405020304" pitchFamily="18" charset="0"/>
                  <a:cs typeface="Times New Roman" panose="02020603050405020304" pitchFamily="18" charset="0"/>
                </a:rPr>
                <a:t>Eye Disease</a:t>
              </a:r>
              <a:endParaRPr lang="en-US" sz="1400" b="1" dirty="0">
                <a:latin typeface="Times New Roman" panose="02020603050405020304" pitchFamily="18" charset="0"/>
                <a:cs typeface="Times New Roman" panose="02020603050405020304" pitchFamily="18" charset="0"/>
              </a:endParaRPr>
            </a:p>
          </p:txBody>
        </p:sp>
        <p:sp>
          <p:nvSpPr>
            <p:cNvPr id="23" name="Oval 22"/>
            <p:cNvSpPr/>
            <p:nvPr/>
          </p:nvSpPr>
          <p:spPr>
            <a:xfrm>
              <a:off x="932315" y="1545144"/>
              <a:ext cx="1384973" cy="939756"/>
            </a:xfrm>
            <a:prstGeom prst="ellipse">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Display image</a:t>
              </a:r>
              <a:endParaRPr lang="en-US" sz="1400" dirty="0">
                <a:latin typeface="Times New Roman" panose="02020603050405020304" pitchFamily="18" charset="0"/>
                <a:cs typeface="Times New Roman" panose="02020603050405020304" pitchFamily="18" charset="0"/>
              </a:endParaRPr>
            </a:p>
          </p:txBody>
        </p:sp>
        <p:sp>
          <p:nvSpPr>
            <p:cNvPr id="24" name="Oval 23"/>
            <p:cNvSpPr/>
            <p:nvPr/>
          </p:nvSpPr>
          <p:spPr>
            <a:xfrm>
              <a:off x="3218082" y="2587032"/>
              <a:ext cx="1196301" cy="962971"/>
            </a:xfrm>
            <a:prstGeom prst="ellipse">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Algorithm</a:t>
              </a:r>
              <a:endParaRPr lang="en-US" sz="1400" dirty="0">
                <a:latin typeface="Times New Roman" panose="02020603050405020304" pitchFamily="18" charset="0"/>
                <a:cs typeface="Times New Roman" panose="02020603050405020304" pitchFamily="18" charset="0"/>
              </a:endParaRPr>
            </a:p>
          </p:txBody>
        </p:sp>
        <p:sp>
          <p:nvSpPr>
            <p:cNvPr id="26" name="Oval 25"/>
            <p:cNvSpPr/>
            <p:nvPr/>
          </p:nvSpPr>
          <p:spPr>
            <a:xfrm>
              <a:off x="2609698" y="1503687"/>
              <a:ext cx="1196301" cy="962971"/>
            </a:xfrm>
            <a:prstGeom prst="ellipse">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Pre-compile</a:t>
              </a:r>
              <a:endParaRPr lang="en-US" sz="1400" dirty="0">
                <a:latin typeface="Times New Roman" panose="02020603050405020304" pitchFamily="18" charset="0"/>
                <a:cs typeface="Times New Roman" panose="02020603050405020304" pitchFamily="18" charset="0"/>
              </a:endParaRPr>
            </a:p>
          </p:txBody>
        </p:sp>
        <p:sp>
          <p:nvSpPr>
            <p:cNvPr id="27" name="Oval 26"/>
            <p:cNvSpPr/>
            <p:nvPr/>
          </p:nvSpPr>
          <p:spPr>
            <a:xfrm>
              <a:off x="4280545" y="3719153"/>
              <a:ext cx="1196301" cy="962971"/>
            </a:xfrm>
            <a:prstGeom prst="ellipse">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Streamlit UI</a:t>
              </a:r>
              <a:endParaRPr lang="en-US" sz="1400" dirty="0">
                <a:latin typeface="Times New Roman" panose="02020603050405020304" pitchFamily="18" charset="0"/>
                <a:cs typeface="Times New Roman" panose="02020603050405020304" pitchFamily="18" charset="0"/>
              </a:endParaRPr>
            </a:p>
          </p:txBody>
        </p:sp>
        <p:sp>
          <p:nvSpPr>
            <p:cNvPr id="28" name="Oval 27"/>
            <p:cNvSpPr/>
            <p:nvPr/>
          </p:nvSpPr>
          <p:spPr>
            <a:xfrm>
              <a:off x="6257057" y="3719152"/>
              <a:ext cx="1167911" cy="821948"/>
            </a:xfrm>
            <a:prstGeom prst="ellipse">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r>
                <a:rPr lang="en-US" sz="1400" dirty="0" smtClean="0">
                  <a:latin typeface="Times New Roman" panose="02020603050405020304" pitchFamily="18" charset="0"/>
                  <a:cs typeface="Times New Roman" panose="02020603050405020304" pitchFamily="18" charset="0"/>
                </a:rPr>
                <a:t>Image Splitting</a:t>
              </a:r>
              <a:endParaRPr lang="en-US" sz="1400" dirty="0">
                <a:latin typeface="Times New Roman" panose="02020603050405020304" pitchFamily="18" charset="0"/>
                <a:cs typeface="Times New Roman" panose="02020603050405020304" pitchFamily="18" charset="0"/>
              </a:endParaRPr>
            </a:p>
          </p:txBody>
        </p:sp>
        <p:sp>
          <p:nvSpPr>
            <p:cNvPr id="29" name="Oval 28"/>
            <p:cNvSpPr/>
            <p:nvPr/>
          </p:nvSpPr>
          <p:spPr>
            <a:xfrm>
              <a:off x="8440700" y="1894212"/>
              <a:ext cx="1196301" cy="962971"/>
            </a:xfrm>
            <a:prstGeom prst="ellipse">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r>
                <a:rPr lang="en-US" sz="1400" dirty="0" smtClean="0">
                  <a:latin typeface="Times New Roman" panose="02020603050405020304" pitchFamily="18" charset="0"/>
                  <a:cs typeface="Times New Roman" panose="02020603050405020304" pitchFamily="18" charset="0"/>
                </a:rPr>
                <a:t>Accuracy and error rate</a:t>
              </a:r>
              <a:endParaRPr lang="en-US" sz="1400" dirty="0">
                <a:latin typeface="Times New Roman" panose="02020603050405020304" pitchFamily="18" charset="0"/>
                <a:cs typeface="Times New Roman" panose="02020603050405020304" pitchFamily="18" charset="0"/>
              </a:endParaRPr>
            </a:p>
          </p:txBody>
        </p:sp>
        <p:sp>
          <p:nvSpPr>
            <p:cNvPr id="30" name="Oval 29"/>
            <p:cNvSpPr/>
            <p:nvPr/>
          </p:nvSpPr>
          <p:spPr>
            <a:xfrm>
              <a:off x="5237542" y="840640"/>
              <a:ext cx="2501145" cy="962971"/>
            </a:xfrm>
            <a:prstGeom prst="ellipse">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atin typeface="Times New Roman" panose="02020603050405020304" pitchFamily="18" charset="0"/>
                  <a:cs typeface="Times New Roman" panose="02020603050405020304" pitchFamily="18" charset="0"/>
                </a:rPr>
                <a:t>Image Resize</a:t>
              </a:r>
              <a:endParaRPr lang="en-US" sz="1400" dirty="0">
                <a:latin typeface="Times New Roman" panose="02020603050405020304" pitchFamily="18" charset="0"/>
                <a:cs typeface="Times New Roman" panose="02020603050405020304" pitchFamily="18" charset="0"/>
              </a:endParaRPr>
            </a:p>
          </p:txBody>
        </p:sp>
        <p:sp>
          <p:nvSpPr>
            <p:cNvPr id="31" name="Oval 30"/>
            <p:cNvSpPr/>
            <p:nvPr/>
          </p:nvSpPr>
          <p:spPr>
            <a:xfrm>
              <a:off x="10092072" y="2079217"/>
              <a:ext cx="1196301" cy="962971"/>
            </a:xfrm>
            <a:prstGeom prst="ellipse">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Accuracy and error rate</a:t>
              </a:r>
            </a:p>
            <a:p>
              <a:pPr algn="ctr"/>
              <a:endParaRPr lang="en-US" sz="1400" dirty="0">
                <a:latin typeface="Times New Roman" panose="02020603050405020304" pitchFamily="18" charset="0"/>
                <a:cs typeface="Times New Roman" panose="02020603050405020304" pitchFamily="18" charset="0"/>
              </a:endParaRPr>
            </a:p>
          </p:txBody>
        </p:sp>
        <p:cxnSp>
          <p:nvCxnSpPr>
            <p:cNvPr id="33" name="Straight Arrow Connector 32"/>
            <p:cNvCxnSpPr>
              <a:stCxn id="60" idx="0"/>
              <a:endCxn id="23" idx="4"/>
            </p:cNvCxnSpPr>
            <p:nvPr/>
          </p:nvCxnSpPr>
          <p:spPr>
            <a:xfrm flipH="1" flipV="1">
              <a:off x="1624802" y="2484900"/>
              <a:ext cx="521564" cy="1662427"/>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60" idx="0"/>
              <a:endCxn id="26" idx="4"/>
            </p:cNvCxnSpPr>
            <p:nvPr/>
          </p:nvCxnSpPr>
          <p:spPr>
            <a:xfrm flipV="1">
              <a:off x="2146365" y="2466659"/>
              <a:ext cx="1061484" cy="1680668"/>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60" idx="0"/>
              <a:endCxn id="24" idx="4"/>
            </p:cNvCxnSpPr>
            <p:nvPr/>
          </p:nvCxnSpPr>
          <p:spPr>
            <a:xfrm flipV="1">
              <a:off x="2146365" y="3550003"/>
              <a:ext cx="1669868" cy="597323"/>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0"/>
              <a:endCxn id="27" idx="3"/>
            </p:cNvCxnSpPr>
            <p:nvPr/>
          </p:nvCxnSpPr>
          <p:spPr>
            <a:xfrm flipV="1">
              <a:off x="2168883" y="4541100"/>
              <a:ext cx="2286856" cy="947661"/>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a:stCxn id="21" idx="0"/>
              <a:endCxn id="27" idx="4"/>
            </p:cNvCxnSpPr>
            <p:nvPr/>
          </p:nvCxnSpPr>
          <p:spPr>
            <a:xfrm flipH="1" flipV="1">
              <a:off x="4878696" y="4682125"/>
              <a:ext cx="920452" cy="829580"/>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18" idx="0"/>
              <a:endCxn id="30" idx="4"/>
            </p:cNvCxnSpPr>
            <p:nvPr/>
          </p:nvCxnSpPr>
          <p:spPr>
            <a:xfrm flipV="1">
              <a:off x="2168883" y="1803611"/>
              <a:ext cx="4319232" cy="3685150"/>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p:cNvCxnSpPr>
              <a:stCxn id="21" idx="0"/>
              <a:endCxn id="28" idx="4"/>
            </p:cNvCxnSpPr>
            <p:nvPr/>
          </p:nvCxnSpPr>
          <p:spPr>
            <a:xfrm flipV="1">
              <a:off x="5799147" y="4541100"/>
              <a:ext cx="1041865" cy="970605"/>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a:stCxn id="20" idx="0"/>
              <a:endCxn id="67" idx="2"/>
            </p:cNvCxnSpPr>
            <p:nvPr/>
          </p:nvCxnSpPr>
          <p:spPr>
            <a:xfrm flipV="1">
              <a:off x="9829297" y="4057243"/>
              <a:ext cx="911887" cy="1454462"/>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20" idx="0"/>
              <a:endCxn id="30" idx="4"/>
            </p:cNvCxnSpPr>
            <p:nvPr/>
          </p:nvCxnSpPr>
          <p:spPr>
            <a:xfrm flipH="1" flipV="1">
              <a:off x="6488115" y="1803611"/>
              <a:ext cx="3341181" cy="3708094"/>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sp>
          <p:nvSpPr>
            <p:cNvPr id="46" name="Flowchart: Decision 45"/>
            <p:cNvSpPr/>
            <p:nvPr/>
          </p:nvSpPr>
          <p:spPr>
            <a:xfrm>
              <a:off x="3259914" y="5466382"/>
              <a:ext cx="1338996" cy="724083"/>
            </a:xfrm>
            <a:prstGeom prst="flowChartDecision">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latin typeface="Times New Roman" panose="02020603050405020304" pitchFamily="18" charset="0"/>
                  <a:cs typeface="Times New Roman" panose="02020603050405020304" pitchFamily="18" charset="0"/>
                </a:rPr>
                <a:t>Prediction</a:t>
              </a:r>
              <a:endParaRPr lang="en-IN" sz="1200" dirty="0"/>
            </a:p>
          </p:txBody>
        </p:sp>
        <p:sp>
          <p:nvSpPr>
            <p:cNvPr id="47" name="Flowchart: Decision 46"/>
            <p:cNvSpPr/>
            <p:nvPr/>
          </p:nvSpPr>
          <p:spPr>
            <a:xfrm>
              <a:off x="7128377" y="5470654"/>
              <a:ext cx="1338996" cy="724083"/>
            </a:xfrm>
            <a:prstGeom prst="flowChartDecision">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smtClean="0">
                  <a:latin typeface="Times New Roman" panose="02020603050405020304" pitchFamily="18" charset="0"/>
                  <a:cs typeface="Times New Roman" panose="02020603050405020304" pitchFamily="18" charset="0"/>
                </a:rPr>
                <a:t>Affected or Not</a:t>
              </a:r>
              <a:endParaRPr lang="en-IN" dirty="0">
                <a:latin typeface="Times New Roman" panose="02020603050405020304" pitchFamily="18" charset="0"/>
                <a:cs typeface="Times New Roman" panose="02020603050405020304" pitchFamily="18" charset="0"/>
              </a:endParaRPr>
            </a:p>
          </p:txBody>
        </p:sp>
        <p:cxnSp>
          <p:nvCxnSpPr>
            <p:cNvPr id="48" name="Straight Arrow Connector 47"/>
            <p:cNvCxnSpPr>
              <a:stCxn id="18" idx="3"/>
              <a:endCxn id="46" idx="1"/>
            </p:cNvCxnSpPr>
            <p:nvPr/>
          </p:nvCxnSpPr>
          <p:spPr>
            <a:xfrm>
              <a:off x="2599883" y="5809752"/>
              <a:ext cx="660031" cy="18672"/>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p:cNvCxnSpPr>
              <a:stCxn id="21" idx="3"/>
              <a:endCxn id="47" idx="1"/>
            </p:cNvCxnSpPr>
            <p:nvPr/>
          </p:nvCxnSpPr>
          <p:spPr>
            <a:xfrm>
              <a:off x="6230147" y="5832695"/>
              <a:ext cx="898230" cy="0"/>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p:cNvCxnSpPr>
              <a:stCxn id="21" idx="1"/>
              <a:endCxn id="46" idx="3"/>
            </p:cNvCxnSpPr>
            <p:nvPr/>
          </p:nvCxnSpPr>
          <p:spPr>
            <a:xfrm flipH="1" flipV="1">
              <a:off x="4598910" y="5828424"/>
              <a:ext cx="769237" cy="4272"/>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51" name="Straight Connector 50"/>
            <p:cNvCxnSpPr/>
            <p:nvPr/>
          </p:nvCxnSpPr>
          <p:spPr>
            <a:xfrm flipH="1">
              <a:off x="5269272" y="5700613"/>
              <a:ext cx="98874" cy="129034"/>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a:xfrm flipH="1" flipV="1">
              <a:off x="5269272" y="5829648"/>
              <a:ext cx="98874" cy="138725"/>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cxnSp>
          <p:nvCxnSpPr>
            <p:cNvPr id="54" name="Straight Arrow Connector 53"/>
            <p:cNvCxnSpPr>
              <a:stCxn id="20" idx="1"/>
              <a:endCxn id="47" idx="3"/>
            </p:cNvCxnSpPr>
            <p:nvPr/>
          </p:nvCxnSpPr>
          <p:spPr>
            <a:xfrm flipH="1">
              <a:off x="8467372" y="5832695"/>
              <a:ext cx="898231" cy="0"/>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flipH="1">
              <a:off x="9258590" y="5700613"/>
              <a:ext cx="98874" cy="129034"/>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flipH="1" flipV="1">
              <a:off x="9258590" y="5829648"/>
              <a:ext cx="98874" cy="138725"/>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2660122" y="5700613"/>
              <a:ext cx="8864" cy="267760"/>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cxnSp>
          <p:nvCxnSpPr>
            <p:cNvPr id="58" name="Straight Connector 57"/>
            <p:cNvCxnSpPr/>
            <p:nvPr/>
          </p:nvCxnSpPr>
          <p:spPr>
            <a:xfrm flipH="1" flipV="1">
              <a:off x="6239560" y="5686075"/>
              <a:ext cx="98874" cy="138725"/>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cxnSp>
          <p:nvCxnSpPr>
            <p:cNvPr id="59" name="Straight Connector 58"/>
            <p:cNvCxnSpPr/>
            <p:nvPr/>
          </p:nvCxnSpPr>
          <p:spPr>
            <a:xfrm flipH="1">
              <a:off x="6238286" y="5824799"/>
              <a:ext cx="98873" cy="137626"/>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sp>
          <p:nvSpPr>
            <p:cNvPr id="60" name="Flowchart: Decision 59"/>
            <p:cNvSpPr/>
            <p:nvPr/>
          </p:nvSpPr>
          <p:spPr>
            <a:xfrm>
              <a:off x="1476868" y="4147326"/>
              <a:ext cx="1338996" cy="724083"/>
            </a:xfrm>
            <a:prstGeom prst="flowChartDecision">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latin typeface="Times New Roman" panose="02020603050405020304" pitchFamily="18" charset="0"/>
                  <a:cs typeface="Times New Roman" panose="02020603050405020304" pitchFamily="18" charset="0"/>
                </a:rPr>
                <a:t>Upload input</a:t>
              </a:r>
              <a:endParaRPr lang="en-IN" sz="1200" dirty="0"/>
            </a:p>
          </p:txBody>
        </p:sp>
        <p:sp>
          <p:nvSpPr>
            <p:cNvPr id="61" name="Flowchart: Decision 60"/>
            <p:cNvSpPr/>
            <p:nvPr/>
          </p:nvSpPr>
          <p:spPr>
            <a:xfrm>
              <a:off x="5699073" y="4643835"/>
              <a:ext cx="1338996" cy="724083"/>
            </a:xfrm>
            <a:prstGeom prst="flowChartDecision">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latin typeface="Times New Roman" panose="02020603050405020304" pitchFamily="18" charset="0"/>
                  <a:cs typeface="Times New Roman" panose="02020603050405020304" pitchFamily="18" charset="0"/>
                </a:rPr>
                <a:t>MobileNet</a:t>
              </a:r>
              <a:endParaRPr lang="en-IN" sz="1200" dirty="0"/>
            </a:p>
          </p:txBody>
        </p:sp>
        <p:sp>
          <p:nvSpPr>
            <p:cNvPr id="62" name="Flowchart: Decision 61"/>
            <p:cNvSpPr/>
            <p:nvPr/>
          </p:nvSpPr>
          <p:spPr>
            <a:xfrm>
              <a:off x="8440700" y="3389509"/>
              <a:ext cx="1338996" cy="724083"/>
            </a:xfrm>
            <a:prstGeom prst="flowChartDecision">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latin typeface="Times New Roman" panose="02020603050405020304" pitchFamily="18" charset="0"/>
                  <a:cs typeface="Times New Roman" panose="02020603050405020304" pitchFamily="18" charset="0"/>
                </a:rPr>
                <a:t>GLCM</a:t>
              </a:r>
              <a:endParaRPr lang="en-IN" sz="1200" dirty="0"/>
            </a:p>
          </p:txBody>
        </p:sp>
        <p:cxnSp>
          <p:nvCxnSpPr>
            <p:cNvPr id="63" name="Straight Arrow Connector 62"/>
            <p:cNvCxnSpPr>
              <a:stCxn id="20" idx="0"/>
              <a:endCxn id="62" idx="2"/>
            </p:cNvCxnSpPr>
            <p:nvPr/>
          </p:nvCxnSpPr>
          <p:spPr>
            <a:xfrm flipH="1" flipV="1">
              <a:off x="9110198" y="4113592"/>
              <a:ext cx="719099" cy="1398113"/>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p:cNvCxnSpPr>
              <a:stCxn id="62" idx="0"/>
              <a:endCxn id="29" idx="4"/>
            </p:cNvCxnSpPr>
            <p:nvPr/>
          </p:nvCxnSpPr>
          <p:spPr>
            <a:xfrm flipH="1" flipV="1">
              <a:off x="9038851" y="2857183"/>
              <a:ext cx="71347" cy="532325"/>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65" name="Straight Connector 64"/>
            <p:cNvCxnSpPr/>
            <p:nvPr/>
          </p:nvCxnSpPr>
          <p:spPr>
            <a:xfrm>
              <a:off x="8934555" y="2856208"/>
              <a:ext cx="132660" cy="215358"/>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cxnSp>
          <p:nvCxnSpPr>
            <p:cNvPr id="66" name="Straight Connector 65"/>
            <p:cNvCxnSpPr/>
            <p:nvPr/>
          </p:nvCxnSpPr>
          <p:spPr>
            <a:xfrm flipH="1">
              <a:off x="9067216" y="2845041"/>
              <a:ext cx="88793" cy="223477"/>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sp>
          <p:nvSpPr>
            <p:cNvPr id="67" name="Flowchart: Decision 66"/>
            <p:cNvSpPr/>
            <p:nvPr/>
          </p:nvSpPr>
          <p:spPr>
            <a:xfrm>
              <a:off x="10071686" y="3333160"/>
              <a:ext cx="1338996" cy="724083"/>
            </a:xfrm>
            <a:prstGeom prst="flowChartDecision">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latin typeface="Times New Roman" panose="02020603050405020304" pitchFamily="18" charset="0"/>
                  <a:cs typeface="Times New Roman" panose="02020603050405020304" pitchFamily="18" charset="0"/>
                </a:rPr>
                <a:t>VGG-19</a:t>
              </a:r>
              <a:endParaRPr lang="en-IN" sz="1200" dirty="0"/>
            </a:p>
          </p:txBody>
        </p:sp>
        <p:cxnSp>
          <p:nvCxnSpPr>
            <p:cNvPr id="68" name="Straight Arrow Connector 67"/>
            <p:cNvCxnSpPr>
              <a:stCxn id="67" idx="0"/>
              <a:endCxn id="31" idx="4"/>
            </p:cNvCxnSpPr>
            <p:nvPr/>
          </p:nvCxnSpPr>
          <p:spPr>
            <a:xfrm flipH="1" flipV="1">
              <a:off x="10690223" y="3042189"/>
              <a:ext cx="50961" cy="290971"/>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sp>
          <p:nvSpPr>
            <p:cNvPr id="69" name="Flowchart: Decision 68"/>
            <p:cNvSpPr/>
            <p:nvPr/>
          </p:nvSpPr>
          <p:spPr>
            <a:xfrm>
              <a:off x="3095349" y="4583940"/>
              <a:ext cx="1338996" cy="724083"/>
            </a:xfrm>
            <a:prstGeom prst="flowChartDecision">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latin typeface="Times New Roman" panose="02020603050405020304" pitchFamily="18" charset="0"/>
                  <a:cs typeface="Times New Roman" panose="02020603050405020304" pitchFamily="18" charset="0"/>
                </a:rPr>
                <a:t>View</a:t>
              </a:r>
              <a:endParaRPr lang="en-IN" sz="1200" dirty="0"/>
            </a:p>
          </p:txBody>
        </p:sp>
        <p:cxnSp>
          <p:nvCxnSpPr>
            <p:cNvPr id="70" name="Straight Arrow Connector 69"/>
            <p:cNvCxnSpPr>
              <a:stCxn id="18" idx="0"/>
              <a:endCxn id="60" idx="2"/>
            </p:cNvCxnSpPr>
            <p:nvPr/>
          </p:nvCxnSpPr>
          <p:spPr>
            <a:xfrm flipH="1" flipV="1">
              <a:off x="2146366" y="4871409"/>
              <a:ext cx="22517" cy="617352"/>
            </a:xfrm>
            <a:prstGeom prst="straightConnector1">
              <a:avLst/>
            </a:prstGeom>
            <a:ln>
              <a:solidFill>
                <a:schemeClr val="accent2"/>
              </a:solidFill>
              <a:tailEnd type="triangle"/>
            </a:ln>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2073322" y="5367918"/>
              <a:ext cx="158645" cy="0"/>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sp>
          <p:nvSpPr>
            <p:cNvPr id="72" name="Flowchart: Decision 71"/>
            <p:cNvSpPr/>
            <p:nvPr/>
          </p:nvSpPr>
          <p:spPr>
            <a:xfrm>
              <a:off x="6403850" y="2706476"/>
              <a:ext cx="1566729" cy="724083"/>
            </a:xfrm>
            <a:prstGeom prst="flowChartDecision">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latin typeface="Times New Roman" panose="02020603050405020304" pitchFamily="18" charset="0"/>
                  <a:cs typeface="Times New Roman" panose="02020603050405020304" pitchFamily="18" charset="0"/>
                </a:rPr>
                <a:t>Feature extraction</a:t>
              </a:r>
              <a:endParaRPr lang="en-IN" sz="1200" dirty="0"/>
            </a:p>
          </p:txBody>
        </p:sp>
        <p:sp>
          <p:nvSpPr>
            <p:cNvPr id="74" name="Flowchart: Decision 73"/>
            <p:cNvSpPr/>
            <p:nvPr/>
          </p:nvSpPr>
          <p:spPr>
            <a:xfrm>
              <a:off x="4680797" y="2362848"/>
              <a:ext cx="1480664" cy="724083"/>
            </a:xfrm>
            <a:prstGeom prst="flowChartDecision">
              <a:avLst/>
            </a:prstGeom>
            <a:ln>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smtClean="0">
                  <a:latin typeface="Times New Roman" panose="02020603050405020304" pitchFamily="18" charset="0"/>
                  <a:cs typeface="Times New Roman" panose="02020603050405020304" pitchFamily="18" charset="0"/>
                </a:rPr>
                <a:t>Prediction</a:t>
              </a:r>
              <a:endParaRPr lang="en-IN" sz="1200" dirty="0"/>
            </a:p>
          </p:txBody>
        </p:sp>
        <p:cxnSp>
          <p:nvCxnSpPr>
            <p:cNvPr id="75" name="Straight Connector 74"/>
            <p:cNvCxnSpPr/>
            <p:nvPr/>
          </p:nvCxnSpPr>
          <p:spPr>
            <a:xfrm flipH="1">
              <a:off x="7738688" y="3278235"/>
              <a:ext cx="231891" cy="97399"/>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cxnSp>
          <p:nvCxnSpPr>
            <p:cNvPr id="76" name="Straight Connector 75"/>
            <p:cNvCxnSpPr/>
            <p:nvPr/>
          </p:nvCxnSpPr>
          <p:spPr>
            <a:xfrm flipV="1">
              <a:off x="5558668" y="2362848"/>
              <a:ext cx="283650" cy="53418"/>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cxnSp>
          <p:nvCxnSpPr>
            <p:cNvPr id="77" name="Straight Connector 76"/>
            <p:cNvCxnSpPr/>
            <p:nvPr/>
          </p:nvCxnSpPr>
          <p:spPr>
            <a:xfrm flipH="1" flipV="1">
              <a:off x="5842317" y="2375697"/>
              <a:ext cx="11018" cy="196148"/>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3962124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6" name="TextBox 15"/>
          <p:cNvSpPr txBox="1"/>
          <p:nvPr/>
        </p:nvSpPr>
        <p:spPr>
          <a:xfrm>
            <a:off x="572113" y="257341"/>
            <a:ext cx="10870915" cy="707886"/>
          </a:xfrm>
          <a:prstGeom prst="rect">
            <a:avLst/>
          </a:prstGeom>
          <a:noFill/>
        </p:spPr>
        <p:txBody>
          <a:bodyPr wrap="square" rtlCol="0">
            <a:spAutoFit/>
          </a:bodyPr>
          <a:lstStyle/>
          <a:p>
            <a:pPr algn="ctr"/>
            <a:r>
              <a:rPr lang="en-US"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4" name="Group 3"/>
          <p:cNvGrpSpPr/>
          <p:nvPr/>
        </p:nvGrpSpPr>
        <p:grpSpPr>
          <a:xfrm>
            <a:off x="1097230" y="1304413"/>
            <a:ext cx="9820679" cy="4881092"/>
            <a:chOff x="1097230" y="1532587"/>
            <a:chExt cx="9820679" cy="4881092"/>
          </a:xfrm>
        </p:grpSpPr>
        <p:grpSp>
          <p:nvGrpSpPr>
            <p:cNvPr id="26" name="Group 25"/>
            <p:cNvGrpSpPr/>
            <p:nvPr/>
          </p:nvGrpSpPr>
          <p:grpSpPr>
            <a:xfrm>
              <a:off x="1510160" y="1532587"/>
              <a:ext cx="444149" cy="692340"/>
              <a:chOff x="1506827" y="1368382"/>
              <a:chExt cx="641051" cy="1258535"/>
            </a:xfrm>
          </p:grpSpPr>
          <p:sp>
            <p:nvSpPr>
              <p:cNvPr id="25" name="Freeform 24"/>
              <p:cNvSpPr>
                <a:spLocks/>
              </p:cNvSpPr>
              <p:nvPr/>
            </p:nvSpPr>
            <p:spPr bwMode="auto">
              <a:xfrm>
                <a:off x="1661147" y="1368382"/>
                <a:ext cx="322199" cy="357387"/>
              </a:xfrm>
              <a:custGeom>
                <a:avLst/>
                <a:gdLst>
                  <a:gd name="T0" fmla="*/ 335 w 732"/>
                  <a:gd name="T1" fmla="*/ 1 h 745"/>
                  <a:gd name="T2" fmla="*/ 278 w 732"/>
                  <a:gd name="T3" fmla="*/ 10 h 745"/>
                  <a:gd name="T4" fmla="*/ 223 w 732"/>
                  <a:gd name="T5" fmla="*/ 29 h 745"/>
                  <a:gd name="T6" fmla="*/ 173 w 732"/>
                  <a:gd name="T7" fmla="*/ 55 h 745"/>
                  <a:gd name="T8" fmla="*/ 127 w 732"/>
                  <a:gd name="T9" fmla="*/ 89 h 745"/>
                  <a:gd name="T10" fmla="*/ 88 w 732"/>
                  <a:gd name="T11" fmla="*/ 129 h 745"/>
                  <a:gd name="T12" fmla="*/ 54 w 732"/>
                  <a:gd name="T13" fmla="*/ 176 h 745"/>
                  <a:gd name="T14" fmla="*/ 28 w 732"/>
                  <a:gd name="T15" fmla="*/ 227 h 745"/>
                  <a:gd name="T16" fmla="*/ 10 w 732"/>
                  <a:gd name="T17" fmla="*/ 282 h 745"/>
                  <a:gd name="T18" fmla="*/ 1 w 732"/>
                  <a:gd name="T19" fmla="*/ 341 h 745"/>
                  <a:gd name="T20" fmla="*/ 1 w 732"/>
                  <a:gd name="T21" fmla="*/ 402 h 745"/>
                  <a:gd name="T22" fmla="*/ 10 w 732"/>
                  <a:gd name="T23" fmla="*/ 461 h 745"/>
                  <a:gd name="T24" fmla="*/ 28 w 732"/>
                  <a:gd name="T25" fmla="*/ 516 h 745"/>
                  <a:gd name="T26" fmla="*/ 54 w 732"/>
                  <a:gd name="T27" fmla="*/ 567 h 745"/>
                  <a:gd name="T28" fmla="*/ 88 w 732"/>
                  <a:gd name="T29" fmla="*/ 614 h 745"/>
                  <a:gd name="T30" fmla="*/ 127 w 732"/>
                  <a:gd name="T31" fmla="*/ 654 h 745"/>
                  <a:gd name="T32" fmla="*/ 173 w 732"/>
                  <a:gd name="T33" fmla="*/ 688 h 745"/>
                  <a:gd name="T34" fmla="*/ 223 w 732"/>
                  <a:gd name="T35" fmla="*/ 714 h 745"/>
                  <a:gd name="T36" fmla="*/ 278 w 732"/>
                  <a:gd name="T37" fmla="*/ 733 h 745"/>
                  <a:gd name="T38" fmla="*/ 335 w 732"/>
                  <a:gd name="T39" fmla="*/ 742 h 745"/>
                  <a:gd name="T40" fmla="*/ 396 w 732"/>
                  <a:gd name="T41" fmla="*/ 742 h 745"/>
                  <a:gd name="T42" fmla="*/ 453 w 732"/>
                  <a:gd name="T43" fmla="*/ 733 h 745"/>
                  <a:gd name="T44" fmla="*/ 508 w 732"/>
                  <a:gd name="T45" fmla="*/ 714 h 745"/>
                  <a:gd name="T46" fmla="*/ 558 w 732"/>
                  <a:gd name="T47" fmla="*/ 688 h 745"/>
                  <a:gd name="T48" fmla="*/ 604 w 732"/>
                  <a:gd name="T49" fmla="*/ 654 h 745"/>
                  <a:gd name="T50" fmla="*/ 643 w 732"/>
                  <a:gd name="T51" fmla="*/ 614 h 745"/>
                  <a:gd name="T52" fmla="*/ 677 w 732"/>
                  <a:gd name="T53" fmla="*/ 567 h 745"/>
                  <a:gd name="T54" fmla="*/ 703 w 732"/>
                  <a:gd name="T55" fmla="*/ 516 h 745"/>
                  <a:gd name="T56" fmla="*/ 721 w 732"/>
                  <a:gd name="T57" fmla="*/ 461 h 745"/>
                  <a:gd name="T58" fmla="*/ 730 w 732"/>
                  <a:gd name="T59" fmla="*/ 402 h 745"/>
                  <a:gd name="T60" fmla="*/ 730 w 732"/>
                  <a:gd name="T61" fmla="*/ 341 h 745"/>
                  <a:gd name="T62" fmla="*/ 721 w 732"/>
                  <a:gd name="T63" fmla="*/ 282 h 745"/>
                  <a:gd name="T64" fmla="*/ 703 w 732"/>
                  <a:gd name="T65" fmla="*/ 227 h 745"/>
                  <a:gd name="T66" fmla="*/ 677 w 732"/>
                  <a:gd name="T67" fmla="*/ 176 h 745"/>
                  <a:gd name="T68" fmla="*/ 643 w 732"/>
                  <a:gd name="T69" fmla="*/ 129 h 745"/>
                  <a:gd name="T70" fmla="*/ 604 w 732"/>
                  <a:gd name="T71" fmla="*/ 89 h 745"/>
                  <a:gd name="T72" fmla="*/ 558 w 732"/>
                  <a:gd name="T73" fmla="*/ 55 h 745"/>
                  <a:gd name="T74" fmla="*/ 508 w 732"/>
                  <a:gd name="T75" fmla="*/ 29 h 745"/>
                  <a:gd name="T76" fmla="*/ 453 w 732"/>
                  <a:gd name="T77" fmla="*/ 10 h 745"/>
                  <a:gd name="T78" fmla="*/ 396 w 732"/>
                  <a:gd name="T79" fmla="*/ 1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32" h="745">
                    <a:moveTo>
                      <a:pt x="366" y="0"/>
                    </a:moveTo>
                    <a:lnTo>
                      <a:pt x="335" y="1"/>
                    </a:lnTo>
                    <a:lnTo>
                      <a:pt x="306" y="4"/>
                    </a:lnTo>
                    <a:lnTo>
                      <a:pt x="278" y="10"/>
                    </a:lnTo>
                    <a:lnTo>
                      <a:pt x="250" y="18"/>
                    </a:lnTo>
                    <a:lnTo>
                      <a:pt x="223" y="29"/>
                    </a:lnTo>
                    <a:lnTo>
                      <a:pt x="197" y="41"/>
                    </a:lnTo>
                    <a:lnTo>
                      <a:pt x="173" y="55"/>
                    </a:lnTo>
                    <a:lnTo>
                      <a:pt x="149" y="71"/>
                    </a:lnTo>
                    <a:lnTo>
                      <a:pt x="127" y="89"/>
                    </a:lnTo>
                    <a:lnTo>
                      <a:pt x="107" y="108"/>
                    </a:lnTo>
                    <a:lnTo>
                      <a:pt x="88" y="129"/>
                    </a:lnTo>
                    <a:lnTo>
                      <a:pt x="70" y="152"/>
                    </a:lnTo>
                    <a:lnTo>
                      <a:pt x="54" y="176"/>
                    </a:lnTo>
                    <a:lnTo>
                      <a:pt x="40" y="201"/>
                    </a:lnTo>
                    <a:lnTo>
                      <a:pt x="28" y="227"/>
                    </a:lnTo>
                    <a:lnTo>
                      <a:pt x="18" y="254"/>
                    </a:lnTo>
                    <a:lnTo>
                      <a:pt x="10" y="282"/>
                    </a:lnTo>
                    <a:lnTo>
                      <a:pt x="4" y="311"/>
                    </a:lnTo>
                    <a:lnTo>
                      <a:pt x="1" y="341"/>
                    </a:lnTo>
                    <a:lnTo>
                      <a:pt x="0" y="372"/>
                    </a:lnTo>
                    <a:lnTo>
                      <a:pt x="1" y="402"/>
                    </a:lnTo>
                    <a:lnTo>
                      <a:pt x="4" y="432"/>
                    </a:lnTo>
                    <a:lnTo>
                      <a:pt x="10" y="461"/>
                    </a:lnTo>
                    <a:lnTo>
                      <a:pt x="18" y="489"/>
                    </a:lnTo>
                    <a:lnTo>
                      <a:pt x="28" y="516"/>
                    </a:lnTo>
                    <a:lnTo>
                      <a:pt x="40" y="542"/>
                    </a:lnTo>
                    <a:lnTo>
                      <a:pt x="54" y="567"/>
                    </a:lnTo>
                    <a:lnTo>
                      <a:pt x="70" y="591"/>
                    </a:lnTo>
                    <a:lnTo>
                      <a:pt x="88" y="614"/>
                    </a:lnTo>
                    <a:lnTo>
                      <a:pt x="107" y="635"/>
                    </a:lnTo>
                    <a:lnTo>
                      <a:pt x="127" y="654"/>
                    </a:lnTo>
                    <a:lnTo>
                      <a:pt x="149" y="672"/>
                    </a:lnTo>
                    <a:lnTo>
                      <a:pt x="173" y="688"/>
                    </a:lnTo>
                    <a:lnTo>
                      <a:pt x="197" y="702"/>
                    </a:lnTo>
                    <a:lnTo>
                      <a:pt x="223" y="714"/>
                    </a:lnTo>
                    <a:lnTo>
                      <a:pt x="250" y="725"/>
                    </a:lnTo>
                    <a:lnTo>
                      <a:pt x="278" y="733"/>
                    </a:lnTo>
                    <a:lnTo>
                      <a:pt x="306" y="739"/>
                    </a:lnTo>
                    <a:lnTo>
                      <a:pt x="335" y="742"/>
                    </a:lnTo>
                    <a:lnTo>
                      <a:pt x="366" y="744"/>
                    </a:lnTo>
                    <a:lnTo>
                      <a:pt x="396" y="742"/>
                    </a:lnTo>
                    <a:lnTo>
                      <a:pt x="425" y="739"/>
                    </a:lnTo>
                    <a:lnTo>
                      <a:pt x="453" y="733"/>
                    </a:lnTo>
                    <a:lnTo>
                      <a:pt x="481" y="725"/>
                    </a:lnTo>
                    <a:lnTo>
                      <a:pt x="508" y="714"/>
                    </a:lnTo>
                    <a:lnTo>
                      <a:pt x="534" y="702"/>
                    </a:lnTo>
                    <a:lnTo>
                      <a:pt x="558" y="688"/>
                    </a:lnTo>
                    <a:lnTo>
                      <a:pt x="582" y="672"/>
                    </a:lnTo>
                    <a:lnTo>
                      <a:pt x="604" y="654"/>
                    </a:lnTo>
                    <a:lnTo>
                      <a:pt x="624" y="635"/>
                    </a:lnTo>
                    <a:lnTo>
                      <a:pt x="643" y="614"/>
                    </a:lnTo>
                    <a:lnTo>
                      <a:pt x="661" y="591"/>
                    </a:lnTo>
                    <a:lnTo>
                      <a:pt x="677" y="567"/>
                    </a:lnTo>
                    <a:lnTo>
                      <a:pt x="691" y="542"/>
                    </a:lnTo>
                    <a:lnTo>
                      <a:pt x="703" y="516"/>
                    </a:lnTo>
                    <a:lnTo>
                      <a:pt x="713" y="489"/>
                    </a:lnTo>
                    <a:lnTo>
                      <a:pt x="721" y="461"/>
                    </a:lnTo>
                    <a:lnTo>
                      <a:pt x="727" y="432"/>
                    </a:lnTo>
                    <a:lnTo>
                      <a:pt x="730" y="402"/>
                    </a:lnTo>
                    <a:lnTo>
                      <a:pt x="732" y="372"/>
                    </a:lnTo>
                    <a:lnTo>
                      <a:pt x="730" y="341"/>
                    </a:lnTo>
                    <a:lnTo>
                      <a:pt x="727" y="311"/>
                    </a:lnTo>
                    <a:lnTo>
                      <a:pt x="721" y="282"/>
                    </a:lnTo>
                    <a:lnTo>
                      <a:pt x="713" y="254"/>
                    </a:lnTo>
                    <a:lnTo>
                      <a:pt x="703" y="227"/>
                    </a:lnTo>
                    <a:lnTo>
                      <a:pt x="691" y="201"/>
                    </a:lnTo>
                    <a:lnTo>
                      <a:pt x="677" y="176"/>
                    </a:lnTo>
                    <a:lnTo>
                      <a:pt x="661" y="152"/>
                    </a:lnTo>
                    <a:lnTo>
                      <a:pt x="643" y="129"/>
                    </a:lnTo>
                    <a:lnTo>
                      <a:pt x="624" y="108"/>
                    </a:lnTo>
                    <a:lnTo>
                      <a:pt x="604" y="89"/>
                    </a:lnTo>
                    <a:lnTo>
                      <a:pt x="582" y="71"/>
                    </a:lnTo>
                    <a:lnTo>
                      <a:pt x="558" y="55"/>
                    </a:lnTo>
                    <a:lnTo>
                      <a:pt x="534" y="41"/>
                    </a:lnTo>
                    <a:lnTo>
                      <a:pt x="508" y="29"/>
                    </a:lnTo>
                    <a:lnTo>
                      <a:pt x="481" y="18"/>
                    </a:lnTo>
                    <a:lnTo>
                      <a:pt x="453" y="10"/>
                    </a:lnTo>
                    <a:lnTo>
                      <a:pt x="425" y="4"/>
                    </a:lnTo>
                    <a:lnTo>
                      <a:pt x="396" y="1"/>
                    </a:lnTo>
                    <a:lnTo>
                      <a:pt x="366" y="0"/>
                    </a:lnTo>
                    <a:close/>
                  </a:path>
                </a:pathLst>
              </a:custGeom>
              <a:noFill/>
              <a:ln w="9525">
                <a:solidFill>
                  <a:schemeClr val="accent6">
                    <a:lumMod val="75000"/>
                  </a:schemeClr>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cxnSp>
            <p:nvCxnSpPr>
              <p:cNvPr id="3" name="Straight Connector 2"/>
              <p:cNvCxnSpPr/>
              <p:nvPr/>
            </p:nvCxnSpPr>
            <p:spPr>
              <a:xfrm>
                <a:off x="1822148" y="1725769"/>
                <a:ext cx="6651" cy="636822"/>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a:off x="1506828" y="1712890"/>
                <a:ext cx="325395" cy="318411"/>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5" idx="19"/>
              </p:cNvCxnSpPr>
              <p:nvPr/>
            </p:nvCxnSpPr>
            <p:spPr>
              <a:xfrm>
                <a:off x="1808601" y="1724330"/>
                <a:ext cx="329064" cy="306971"/>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1818814" y="2319946"/>
                <a:ext cx="329064" cy="306971"/>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1506827" y="2304945"/>
                <a:ext cx="325395" cy="318411"/>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7" name="Rectangle 26"/>
            <p:cNvSpPr/>
            <p:nvPr/>
          </p:nvSpPr>
          <p:spPr>
            <a:xfrm>
              <a:off x="1097230" y="2313608"/>
              <a:ext cx="1244025" cy="298572"/>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ln w="0"/>
                  <a:solidFill>
                    <a:schemeClr val="tx1"/>
                  </a:solidFill>
                  <a:latin typeface="Times New Roman" panose="02020603050405020304" pitchFamily="18" charset="0"/>
                  <a:cs typeface="Times New Roman" panose="02020603050405020304" pitchFamily="18" charset="0"/>
                </a:rPr>
                <a:t>USER</a:t>
              </a:r>
              <a:endParaRPr lang="en-IN" sz="1400" b="1" dirty="0">
                <a:ln w="0"/>
                <a:solidFill>
                  <a:schemeClr val="tx1"/>
                </a:solidFill>
                <a:latin typeface="Times New Roman" panose="02020603050405020304" pitchFamily="18" charset="0"/>
                <a:cs typeface="Times New Roman" panose="02020603050405020304" pitchFamily="18" charset="0"/>
              </a:endParaRPr>
            </a:p>
          </p:txBody>
        </p:sp>
        <p:sp>
          <p:nvSpPr>
            <p:cNvPr id="39" name="Rectangle 38"/>
            <p:cNvSpPr/>
            <p:nvPr/>
          </p:nvSpPr>
          <p:spPr>
            <a:xfrm>
              <a:off x="3551959" y="2313608"/>
              <a:ext cx="1244025" cy="298572"/>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ln w="0"/>
                  <a:solidFill>
                    <a:schemeClr val="tx1"/>
                  </a:solidFill>
                  <a:latin typeface="Times New Roman" panose="02020603050405020304" pitchFamily="18" charset="0"/>
                  <a:cs typeface="Times New Roman" panose="02020603050405020304" pitchFamily="18" charset="0"/>
                </a:rPr>
                <a:t>DRY EYE</a:t>
              </a:r>
              <a:endParaRPr lang="en-IN" sz="1400" b="1" dirty="0">
                <a:ln w="0"/>
                <a:solidFill>
                  <a:schemeClr val="tx1"/>
                </a:solidFill>
                <a:latin typeface="Times New Roman" panose="02020603050405020304" pitchFamily="18" charset="0"/>
                <a:cs typeface="Times New Roman" panose="02020603050405020304" pitchFamily="18" charset="0"/>
              </a:endParaRPr>
            </a:p>
          </p:txBody>
        </p:sp>
        <p:sp>
          <p:nvSpPr>
            <p:cNvPr id="30" name="Rounded Rectangle 29"/>
            <p:cNvSpPr/>
            <p:nvPr/>
          </p:nvSpPr>
          <p:spPr>
            <a:xfrm>
              <a:off x="1557334" y="3848253"/>
              <a:ext cx="396973" cy="1686311"/>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41" name="Straight Connector 40"/>
            <p:cNvCxnSpPr>
              <a:stCxn id="27" idx="2"/>
              <a:endCxn id="30" idx="0"/>
            </p:cNvCxnSpPr>
            <p:nvPr/>
          </p:nvCxnSpPr>
          <p:spPr>
            <a:xfrm>
              <a:off x="1719243" y="2612180"/>
              <a:ext cx="36579" cy="1236073"/>
            </a:xfrm>
            <a:prstGeom prst="line">
              <a:avLst/>
            </a:prstGeom>
            <a:ln>
              <a:solidFill>
                <a:schemeClr val="accent6">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55" name="Rounded Rectangle 54"/>
            <p:cNvSpPr/>
            <p:nvPr/>
          </p:nvSpPr>
          <p:spPr>
            <a:xfrm>
              <a:off x="3973633" y="3694507"/>
              <a:ext cx="337229" cy="532662"/>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56" name="Straight Connector 55"/>
            <p:cNvCxnSpPr>
              <a:endCxn id="55" idx="0"/>
            </p:cNvCxnSpPr>
            <p:nvPr/>
          </p:nvCxnSpPr>
          <p:spPr>
            <a:xfrm>
              <a:off x="4142247" y="2633252"/>
              <a:ext cx="0" cy="1061255"/>
            </a:xfrm>
            <a:prstGeom prst="line">
              <a:avLst/>
            </a:prstGeom>
            <a:ln>
              <a:solidFill>
                <a:schemeClr val="accent6">
                  <a:lumMod val="7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726318" y="3017900"/>
              <a:ext cx="2415929"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261956" y="2716482"/>
              <a:ext cx="1324180" cy="369332"/>
            </a:xfrm>
            <a:prstGeom prst="rect">
              <a:avLst/>
            </a:prstGeom>
            <a:noFill/>
            <a:ln>
              <a:solidFill>
                <a:schemeClr val="accent6">
                  <a:lumMod val="75000"/>
                </a:schemeClr>
              </a:solidFill>
            </a:ln>
          </p:spPr>
          <p:txBody>
            <a:bodyPr wrap="square" rtlCol="0">
              <a:spAutoFit/>
            </a:bodyPr>
            <a:lstStyle/>
            <a:p>
              <a:pPr algn="ctr"/>
              <a:r>
                <a:rPr lang="en-IN" b="1" dirty="0" smtClean="0">
                  <a:latin typeface="Times New Roman" panose="02020603050405020304" pitchFamily="18" charset="0"/>
                  <a:cs typeface="Times New Roman" panose="02020603050405020304" pitchFamily="18" charset="0"/>
                </a:rPr>
                <a:t>1. Input</a:t>
              </a:r>
              <a:endParaRPr lang="en-IN" b="1" dirty="0">
                <a:latin typeface="Times New Roman" panose="02020603050405020304" pitchFamily="18" charset="0"/>
                <a:cs typeface="Times New Roman" panose="02020603050405020304" pitchFamily="18" charset="0"/>
              </a:endParaRPr>
            </a:p>
          </p:txBody>
        </p:sp>
        <p:sp>
          <p:nvSpPr>
            <p:cNvPr id="61" name="Rectangle 60"/>
            <p:cNvSpPr/>
            <p:nvPr/>
          </p:nvSpPr>
          <p:spPr>
            <a:xfrm>
              <a:off x="6213231" y="2317078"/>
              <a:ext cx="1869728" cy="316173"/>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ln w="0"/>
                  <a:solidFill>
                    <a:schemeClr val="tx1"/>
                  </a:solidFill>
                  <a:latin typeface="Times New Roman" panose="02020603050405020304" pitchFamily="18" charset="0"/>
                  <a:cs typeface="Times New Roman" panose="02020603050405020304" pitchFamily="18" charset="0"/>
                </a:rPr>
                <a:t>EYE DISEASE</a:t>
              </a:r>
              <a:endParaRPr lang="en-IN" sz="1400" b="1" dirty="0">
                <a:ln w="0"/>
                <a:solidFill>
                  <a:schemeClr val="tx1"/>
                </a:solidFill>
                <a:latin typeface="Times New Roman" panose="02020603050405020304" pitchFamily="18" charset="0"/>
                <a:cs typeface="Times New Roman" panose="02020603050405020304" pitchFamily="18" charset="0"/>
              </a:endParaRPr>
            </a:p>
          </p:txBody>
        </p:sp>
        <p:sp>
          <p:nvSpPr>
            <p:cNvPr id="62" name="Rectangle 61"/>
            <p:cNvSpPr/>
            <p:nvPr/>
          </p:nvSpPr>
          <p:spPr>
            <a:xfrm>
              <a:off x="9048181" y="2335995"/>
              <a:ext cx="1869728" cy="316173"/>
            </a:xfrm>
            <a:prstGeom prst="rect">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smtClean="0">
                  <a:ln w="0"/>
                  <a:solidFill>
                    <a:schemeClr val="tx1"/>
                  </a:solidFill>
                  <a:latin typeface="Times New Roman" panose="02020603050405020304" pitchFamily="18" charset="0"/>
                  <a:cs typeface="Times New Roman" panose="02020603050405020304" pitchFamily="18" charset="0"/>
                </a:rPr>
                <a:t>EYE BLINK</a:t>
              </a:r>
              <a:endParaRPr lang="en-IN" sz="1400" b="1" dirty="0">
                <a:ln w="0"/>
                <a:solidFill>
                  <a:schemeClr val="tx1"/>
                </a:solidFill>
                <a:latin typeface="Times New Roman" panose="02020603050405020304" pitchFamily="18" charset="0"/>
                <a:cs typeface="Times New Roman" panose="02020603050405020304" pitchFamily="18" charset="0"/>
              </a:endParaRPr>
            </a:p>
          </p:txBody>
        </p:sp>
        <p:sp>
          <p:nvSpPr>
            <p:cNvPr id="71" name="Rounded Rectangle 70"/>
            <p:cNvSpPr/>
            <p:nvPr/>
          </p:nvSpPr>
          <p:spPr>
            <a:xfrm>
              <a:off x="6909894" y="4122787"/>
              <a:ext cx="337229" cy="532662"/>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72" name="Straight Connector 71"/>
            <p:cNvCxnSpPr>
              <a:endCxn id="71" idx="0"/>
            </p:cNvCxnSpPr>
            <p:nvPr/>
          </p:nvCxnSpPr>
          <p:spPr>
            <a:xfrm>
              <a:off x="7078508" y="2633252"/>
              <a:ext cx="0" cy="1489535"/>
            </a:xfrm>
            <a:prstGeom prst="line">
              <a:avLst/>
            </a:prstGeom>
            <a:ln>
              <a:solidFill>
                <a:schemeClr val="accent6">
                  <a:lumMod val="7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4173971" y="2914609"/>
              <a:ext cx="2904537"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4913266" y="2573116"/>
              <a:ext cx="1609130" cy="369332"/>
            </a:xfrm>
            <a:prstGeom prst="rect">
              <a:avLst/>
            </a:prstGeom>
            <a:noFill/>
            <a:ln>
              <a:solidFill>
                <a:schemeClr val="accent6">
                  <a:lumMod val="75000"/>
                </a:schemeClr>
              </a:solidFill>
            </a:ln>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4</a:t>
              </a:r>
              <a:r>
                <a:rPr lang="en-IN" b="1" dirty="0" smtClean="0">
                  <a:latin typeface="Times New Roman" panose="02020603050405020304" pitchFamily="18" charset="0"/>
                  <a:cs typeface="Times New Roman" panose="02020603050405020304" pitchFamily="18" charset="0"/>
                </a:rPr>
                <a:t>. GLCM</a:t>
              </a:r>
              <a:endParaRPr lang="en-IN" b="1" dirty="0">
                <a:latin typeface="Times New Roman" panose="02020603050405020304" pitchFamily="18" charset="0"/>
                <a:cs typeface="Times New Roman" panose="02020603050405020304" pitchFamily="18" charset="0"/>
              </a:endParaRPr>
            </a:p>
          </p:txBody>
        </p:sp>
        <p:sp>
          <p:nvSpPr>
            <p:cNvPr id="77" name="Rounded Rectangle 76"/>
            <p:cNvSpPr/>
            <p:nvPr/>
          </p:nvSpPr>
          <p:spPr>
            <a:xfrm>
              <a:off x="9814430" y="4224792"/>
              <a:ext cx="337229" cy="532662"/>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78" name="Straight Connector 77"/>
            <p:cNvCxnSpPr/>
            <p:nvPr/>
          </p:nvCxnSpPr>
          <p:spPr>
            <a:xfrm>
              <a:off x="9983045" y="2657781"/>
              <a:ext cx="0" cy="1489535"/>
            </a:xfrm>
            <a:prstGeom prst="line">
              <a:avLst/>
            </a:prstGeom>
            <a:ln>
              <a:solidFill>
                <a:schemeClr val="accent6">
                  <a:lumMod val="7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7078508" y="3267918"/>
              <a:ext cx="2904537"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7860331" y="2924745"/>
              <a:ext cx="1555371" cy="369332"/>
            </a:xfrm>
            <a:prstGeom prst="rect">
              <a:avLst/>
            </a:prstGeom>
            <a:noFill/>
            <a:ln>
              <a:solidFill>
                <a:schemeClr val="accent6">
                  <a:lumMod val="75000"/>
                </a:schemeClr>
              </a:solidFill>
            </a:ln>
          </p:spPr>
          <p:txBody>
            <a:bodyPr wrap="square" rtlCol="0">
              <a:spAutoFit/>
            </a:bodyPr>
            <a:lstStyle/>
            <a:p>
              <a:pPr algn="ctr"/>
              <a:r>
                <a:rPr lang="en-IN" b="1" dirty="0" smtClean="0">
                  <a:latin typeface="Times New Roman" panose="02020603050405020304" pitchFamily="18" charset="0"/>
                  <a:cs typeface="Times New Roman" panose="02020603050405020304" pitchFamily="18" charset="0"/>
                </a:rPr>
                <a:t>6.VGG-19</a:t>
              </a:r>
              <a:endParaRPr lang="en-IN" b="1" dirty="0">
                <a:latin typeface="Times New Roman" panose="02020603050405020304" pitchFamily="18" charset="0"/>
                <a:cs typeface="Times New Roman" panose="02020603050405020304" pitchFamily="18" charset="0"/>
              </a:endParaRPr>
            </a:p>
          </p:txBody>
        </p:sp>
        <p:sp>
          <p:nvSpPr>
            <p:cNvPr id="100" name="Arc 99"/>
            <p:cNvSpPr/>
            <p:nvPr/>
          </p:nvSpPr>
          <p:spPr>
            <a:xfrm rot="4888700">
              <a:off x="4126475" y="2607502"/>
              <a:ext cx="368772" cy="1765113"/>
            </a:xfrm>
            <a:prstGeom prst="arc">
              <a:avLst>
                <a:gd name="adj1" fmla="val 8892775"/>
                <a:gd name="adj2" fmla="val 3000279"/>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103" name="Straight Arrow Connector 102"/>
            <p:cNvCxnSpPr>
              <a:stCxn id="100" idx="2"/>
            </p:cNvCxnSpPr>
            <p:nvPr/>
          </p:nvCxnSpPr>
          <p:spPr>
            <a:xfrm flipH="1" flipV="1">
              <a:off x="1719243" y="3694507"/>
              <a:ext cx="2378094" cy="1884"/>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2095237" y="3378019"/>
              <a:ext cx="1801057" cy="369332"/>
            </a:xfrm>
            <a:prstGeom prst="rect">
              <a:avLst/>
            </a:prstGeom>
            <a:noFill/>
            <a:ln>
              <a:solidFill>
                <a:schemeClr val="accent6">
                  <a:lumMod val="75000"/>
                </a:schemeClr>
              </a:solidFill>
            </a:ln>
          </p:spPr>
          <p:txBody>
            <a:bodyPr wrap="square" rtlCol="0">
              <a:spAutoFit/>
            </a:bodyPr>
            <a:lstStyle/>
            <a:p>
              <a:pPr algn="ctr"/>
              <a:r>
                <a:rPr lang="en-IN" b="1" dirty="0" smtClean="0">
                  <a:latin typeface="Times New Roman" panose="02020603050405020304" pitchFamily="18" charset="0"/>
                  <a:cs typeface="Times New Roman" panose="02020603050405020304" pitchFamily="18" charset="0"/>
                </a:rPr>
                <a:t>2.Priliminary </a:t>
              </a:r>
              <a:endParaRPr lang="en-IN" b="1" dirty="0">
                <a:latin typeface="Times New Roman" panose="02020603050405020304" pitchFamily="18" charset="0"/>
                <a:cs typeface="Times New Roman" panose="02020603050405020304" pitchFamily="18" charset="0"/>
              </a:endParaRPr>
            </a:p>
          </p:txBody>
        </p:sp>
        <p:cxnSp>
          <p:nvCxnSpPr>
            <p:cNvPr id="105" name="Straight Connector 104"/>
            <p:cNvCxnSpPr/>
            <p:nvPr/>
          </p:nvCxnSpPr>
          <p:spPr>
            <a:xfrm>
              <a:off x="4173971" y="4224792"/>
              <a:ext cx="0" cy="1489535"/>
            </a:xfrm>
            <a:prstGeom prst="line">
              <a:avLst/>
            </a:prstGeom>
            <a:ln>
              <a:solidFill>
                <a:schemeClr val="accent6">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4741977" y="3732764"/>
              <a:ext cx="1609130" cy="369332"/>
            </a:xfrm>
            <a:prstGeom prst="rect">
              <a:avLst/>
            </a:prstGeom>
            <a:noFill/>
            <a:ln>
              <a:solidFill>
                <a:schemeClr val="accent6">
                  <a:lumMod val="75000"/>
                </a:schemeClr>
              </a:solidFill>
            </a:ln>
          </p:spPr>
          <p:txBody>
            <a:bodyPr wrap="square" rtlCol="0">
              <a:spAutoFit/>
            </a:bodyPr>
            <a:lstStyle/>
            <a:p>
              <a:pPr algn="ctr"/>
              <a:r>
                <a:rPr lang="en-IN" b="1" dirty="0" smtClean="0">
                  <a:latin typeface="Times New Roman" panose="02020603050405020304" pitchFamily="18" charset="0"/>
                  <a:cs typeface="Times New Roman" panose="02020603050405020304" pitchFamily="18" charset="0"/>
                </a:rPr>
                <a:t>5.MobileNet</a:t>
              </a:r>
              <a:endParaRPr lang="en-IN" b="1" dirty="0">
                <a:latin typeface="Times New Roman" panose="02020603050405020304" pitchFamily="18" charset="0"/>
                <a:cs typeface="Times New Roman" panose="02020603050405020304" pitchFamily="18" charset="0"/>
              </a:endParaRPr>
            </a:p>
          </p:txBody>
        </p:sp>
        <p:cxnSp>
          <p:nvCxnSpPr>
            <p:cNvPr id="107" name="Straight Arrow Connector 106"/>
            <p:cNvCxnSpPr/>
            <p:nvPr/>
          </p:nvCxnSpPr>
          <p:spPr>
            <a:xfrm>
              <a:off x="4243558" y="4093271"/>
              <a:ext cx="2904537"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7074869" y="4655449"/>
              <a:ext cx="3639" cy="1058878"/>
            </a:xfrm>
            <a:prstGeom prst="line">
              <a:avLst/>
            </a:prstGeom>
            <a:ln>
              <a:solidFill>
                <a:schemeClr val="accent6">
                  <a:lumMod val="7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1762520" y="5534564"/>
              <a:ext cx="0" cy="879115"/>
            </a:xfrm>
            <a:prstGeom prst="line">
              <a:avLst/>
            </a:prstGeom>
            <a:ln>
              <a:solidFill>
                <a:schemeClr val="accent6">
                  <a:lumMod val="7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a:off x="9983045" y="4757454"/>
              <a:ext cx="0" cy="1095089"/>
            </a:xfrm>
            <a:prstGeom prst="line">
              <a:avLst/>
            </a:prstGeom>
            <a:ln>
              <a:solidFill>
                <a:schemeClr val="accent6">
                  <a:lumMod val="75000"/>
                </a:schemeClr>
              </a:solidFill>
              <a:prstDash val="dashDot"/>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77" idx="0"/>
            </p:cNvCxnSpPr>
            <p:nvPr/>
          </p:nvCxnSpPr>
          <p:spPr>
            <a:xfrm flipH="1">
              <a:off x="7247123" y="4224792"/>
              <a:ext cx="2735922"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7705906" y="3860363"/>
              <a:ext cx="1878004" cy="369332"/>
            </a:xfrm>
            <a:prstGeom prst="rect">
              <a:avLst/>
            </a:prstGeom>
            <a:noFill/>
            <a:ln>
              <a:solidFill>
                <a:schemeClr val="accent6">
                  <a:lumMod val="75000"/>
                </a:schemeClr>
              </a:solidFill>
            </a:ln>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7</a:t>
              </a:r>
              <a:r>
                <a:rPr lang="en-IN" b="1" dirty="0" smtClean="0">
                  <a:latin typeface="Times New Roman" panose="02020603050405020304" pitchFamily="18" charset="0"/>
                  <a:cs typeface="Times New Roman" panose="02020603050405020304" pitchFamily="18" charset="0"/>
                </a:rPr>
                <a:t>. Performance</a:t>
              </a:r>
              <a:endParaRPr lang="en-IN" b="1" dirty="0">
                <a:latin typeface="Times New Roman" panose="02020603050405020304" pitchFamily="18" charset="0"/>
                <a:cs typeface="Times New Roman" panose="02020603050405020304" pitchFamily="18" charset="0"/>
              </a:endParaRPr>
            </a:p>
          </p:txBody>
        </p:sp>
        <p:cxnSp>
          <p:nvCxnSpPr>
            <p:cNvPr id="118" name="Straight Arrow Connector 117"/>
            <p:cNvCxnSpPr>
              <a:endCxn id="30" idx="2"/>
            </p:cNvCxnSpPr>
            <p:nvPr/>
          </p:nvCxnSpPr>
          <p:spPr>
            <a:xfrm flipH="1">
              <a:off x="1755821" y="5534564"/>
              <a:ext cx="8227223"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2" name="TextBox 121"/>
            <p:cNvSpPr txBox="1"/>
            <p:nvPr/>
          </p:nvSpPr>
          <p:spPr>
            <a:xfrm>
              <a:off x="6522396" y="5155648"/>
              <a:ext cx="2537010" cy="369332"/>
            </a:xfrm>
            <a:prstGeom prst="rect">
              <a:avLst/>
            </a:prstGeom>
            <a:noFill/>
            <a:ln>
              <a:solidFill>
                <a:schemeClr val="accent6">
                  <a:lumMod val="75000"/>
                </a:schemeClr>
              </a:solidFill>
            </a:ln>
          </p:spPr>
          <p:txBody>
            <a:bodyPr wrap="square" rtlCol="0">
              <a:spAutoFit/>
            </a:bodyPr>
            <a:lstStyle/>
            <a:p>
              <a:pPr algn="ctr"/>
              <a:r>
                <a:rPr lang="en-IN" b="1" dirty="0" smtClean="0">
                  <a:latin typeface="Times New Roman" panose="02020603050405020304" pitchFamily="18" charset="0"/>
                  <a:cs typeface="Times New Roman" panose="02020603050405020304" pitchFamily="18" charset="0"/>
                </a:rPr>
                <a:t>Affected or not</a:t>
              </a:r>
              <a:endParaRPr lang="en-IN" b="1" dirty="0">
                <a:latin typeface="Times New Roman" panose="02020603050405020304" pitchFamily="18" charset="0"/>
                <a:cs typeface="Times New Roman" panose="02020603050405020304" pitchFamily="18" charset="0"/>
              </a:endParaRPr>
            </a:p>
          </p:txBody>
        </p:sp>
        <p:cxnSp>
          <p:nvCxnSpPr>
            <p:cNvPr id="43" name="Straight Arrow Connector 42"/>
            <p:cNvCxnSpPr/>
            <p:nvPr/>
          </p:nvCxnSpPr>
          <p:spPr>
            <a:xfrm>
              <a:off x="1954307" y="4631788"/>
              <a:ext cx="2219664" cy="23661"/>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337669" y="5096494"/>
              <a:ext cx="1324180" cy="369332"/>
            </a:xfrm>
            <a:prstGeom prst="rect">
              <a:avLst/>
            </a:prstGeom>
            <a:noFill/>
            <a:ln>
              <a:solidFill>
                <a:schemeClr val="accent6">
                  <a:lumMod val="75000"/>
                </a:schemeClr>
              </a:solidFill>
            </a:ln>
          </p:spPr>
          <p:txBody>
            <a:bodyPr wrap="square" rtlCol="0">
              <a:spAutoFit/>
            </a:bodyPr>
            <a:lstStyle/>
            <a:p>
              <a:pPr algn="ctr"/>
              <a:r>
                <a:rPr lang="en-IN" b="1" dirty="0" smtClean="0">
                  <a:latin typeface="Times New Roman" panose="02020603050405020304" pitchFamily="18" charset="0"/>
                  <a:cs typeface="Times New Roman" panose="02020603050405020304" pitchFamily="18" charset="0"/>
                </a:rPr>
                <a:t>3.MLP</a:t>
              </a:r>
              <a:endParaRPr lang="en-IN" b="1"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7093650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20316" y="364762"/>
            <a:ext cx="10090507" cy="707886"/>
          </a:xfrm>
          <a:prstGeom prst="rect">
            <a:avLst/>
          </a:prstGeom>
          <a:noFill/>
        </p:spPr>
        <p:txBody>
          <a:bodyPr wrap="square" rtlCol="0">
            <a:spAutoFit/>
          </a:bodyPr>
          <a:lstStyle/>
          <a:p>
            <a:pPr algn="ctr"/>
            <a:r>
              <a:rPr lang="en-US"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 Diagram</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7" name="Rectangle 56"/>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20" name="Group 19"/>
          <p:cNvGrpSpPr/>
          <p:nvPr/>
        </p:nvGrpSpPr>
        <p:grpSpPr>
          <a:xfrm>
            <a:off x="387911" y="1713187"/>
            <a:ext cx="10854250" cy="3693648"/>
            <a:chOff x="478063" y="1146516"/>
            <a:chExt cx="10854250" cy="3693648"/>
          </a:xfrm>
        </p:grpSpPr>
        <p:grpSp>
          <p:nvGrpSpPr>
            <p:cNvPr id="37" name="Group 36"/>
            <p:cNvGrpSpPr/>
            <p:nvPr/>
          </p:nvGrpSpPr>
          <p:grpSpPr>
            <a:xfrm>
              <a:off x="4573632" y="1146516"/>
              <a:ext cx="2443893" cy="1247127"/>
              <a:chOff x="9149" y="51009"/>
              <a:chExt cx="1842448" cy="1624088"/>
            </a:xfrm>
          </p:grpSpPr>
          <p:sp>
            <p:nvSpPr>
              <p:cNvPr id="94" name="Rectangle 93"/>
              <p:cNvSpPr/>
              <p:nvPr/>
            </p:nvSpPr>
            <p:spPr>
              <a:xfrm>
                <a:off x="9149" y="51013"/>
                <a:ext cx="1842448" cy="16240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95" name="Straight Connector 94"/>
              <p:cNvCxnSpPr/>
              <p:nvPr/>
            </p:nvCxnSpPr>
            <p:spPr>
              <a:xfrm>
                <a:off x="9149" y="427169"/>
                <a:ext cx="1842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TextBox 6"/>
              <p:cNvSpPr txBox="1"/>
              <p:nvPr/>
            </p:nvSpPr>
            <p:spPr>
              <a:xfrm>
                <a:off x="118328" y="467231"/>
                <a:ext cx="1610442" cy="400807"/>
              </a:xfrm>
              <a:prstGeom prst="rect">
                <a:avLst/>
              </a:prstGeom>
              <a:noFill/>
            </p:spPr>
            <p:txBody>
              <a:bodyPr wrap="square" rtlCol="0">
                <a:spAutoFit/>
              </a:bodyPr>
              <a:lstStyle/>
              <a:p>
                <a:pPr algn="ctr">
                  <a:spcAft>
                    <a:spcPts val="0"/>
                  </a:spcAft>
                </a:pPr>
                <a:r>
                  <a:rPr lang="en-US" sz="1400" dirty="0" smtClean="0">
                    <a:solidFill>
                      <a:srgbClr val="000000"/>
                    </a:solidFill>
                    <a:latin typeface="Times New Roman" panose="02020603050405020304" pitchFamily="18" charset="0"/>
                    <a:ea typeface="Times New Roman" panose="02020603050405020304" pitchFamily="18" charset="0"/>
                  </a:rPr>
                  <a:t>Dry Eye </a:t>
                </a:r>
                <a:r>
                  <a:rPr lang="en-US" sz="1400" kern="1200" dirty="0" smtClean="0">
                    <a:solidFill>
                      <a:srgbClr val="000000"/>
                    </a:solidFill>
                    <a:effectLst/>
                    <a:latin typeface="Times New Roman" panose="02020603050405020304" pitchFamily="18" charset="0"/>
                    <a:ea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endParaRPr>
              </a:p>
            </p:txBody>
          </p:sp>
          <p:sp>
            <p:nvSpPr>
              <p:cNvPr id="97" name="TextBox 7"/>
              <p:cNvSpPr txBox="1"/>
              <p:nvPr/>
            </p:nvSpPr>
            <p:spPr>
              <a:xfrm>
                <a:off x="118328" y="829707"/>
                <a:ext cx="1610442" cy="400807"/>
              </a:xfrm>
              <a:prstGeom prst="rect">
                <a:avLst/>
              </a:prstGeom>
              <a:noFill/>
            </p:spPr>
            <p:txBody>
              <a:bodyPr wrap="square" rtlCol="0">
                <a:spAutoFit/>
              </a:bodyPr>
              <a:lstStyle/>
              <a:p>
                <a:pPr algn="ctr">
                  <a:spcAft>
                    <a:spcPts val="0"/>
                  </a:spcAft>
                </a:pPr>
                <a:r>
                  <a:rPr lang="en-US" sz="1400" kern="1200" dirty="0" smtClean="0">
                    <a:solidFill>
                      <a:srgbClr val="000000"/>
                    </a:solidFill>
                    <a:effectLst/>
                    <a:latin typeface="Times New Roman" panose="02020603050405020304" pitchFamily="18" charset="0"/>
                    <a:ea typeface="Times New Roman" panose="02020603050405020304" pitchFamily="18" charset="0"/>
                  </a:rPr>
                  <a:t>Eye Disease </a:t>
                </a:r>
                <a:r>
                  <a:rPr lang="en-US" sz="1400" dirty="0" smtClean="0">
                    <a:solidFill>
                      <a:srgbClr val="000000"/>
                    </a:solidFill>
                    <a:latin typeface="Times New Roman" panose="02020603050405020304" pitchFamily="18" charset="0"/>
                    <a:ea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endParaRPr>
              </a:p>
            </p:txBody>
          </p:sp>
          <p:sp>
            <p:nvSpPr>
              <p:cNvPr id="98" name="TextBox 8"/>
              <p:cNvSpPr txBox="1"/>
              <p:nvPr/>
            </p:nvSpPr>
            <p:spPr>
              <a:xfrm>
                <a:off x="125153" y="1192183"/>
                <a:ext cx="1610442" cy="400807"/>
              </a:xfrm>
              <a:prstGeom prst="rect">
                <a:avLst/>
              </a:prstGeom>
              <a:noFill/>
            </p:spPr>
            <p:txBody>
              <a:bodyPr wrap="square" rtlCol="0">
                <a:spAutoFit/>
              </a:bodyPr>
              <a:lstStyle/>
              <a:p>
                <a:pPr algn="ctr">
                  <a:spcAft>
                    <a:spcPts val="0"/>
                  </a:spcAft>
                </a:pPr>
                <a:r>
                  <a:rPr lang="en-US" sz="1400" kern="1200" dirty="0" smtClean="0">
                    <a:solidFill>
                      <a:srgbClr val="000000"/>
                    </a:solidFill>
                    <a:effectLst/>
                    <a:latin typeface="Times New Roman" panose="02020603050405020304" pitchFamily="18" charset="0"/>
                    <a:ea typeface="Times New Roman" panose="02020603050405020304" pitchFamily="18" charset="0"/>
                  </a:rPr>
                  <a:t>Eye Blink </a:t>
                </a:r>
                <a:r>
                  <a:rPr lang="en-US" sz="1400" dirty="0" smtClean="0">
                    <a:solidFill>
                      <a:srgbClr val="000000"/>
                    </a:solidFill>
                    <a:latin typeface="Times New Roman" panose="02020603050405020304" pitchFamily="18" charset="0"/>
                    <a:ea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endParaRPr>
              </a:p>
            </p:txBody>
          </p:sp>
          <p:sp>
            <p:nvSpPr>
              <p:cNvPr id="99" name="TextBox 9"/>
              <p:cNvSpPr txBox="1"/>
              <p:nvPr/>
            </p:nvSpPr>
            <p:spPr>
              <a:xfrm>
                <a:off x="118328" y="51009"/>
                <a:ext cx="1610442" cy="400807"/>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    </a:t>
                </a:r>
                <a:r>
                  <a:rPr lang="en-US" sz="1400" b="1" kern="1200" dirty="0">
                    <a:solidFill>
                      <a:srgbClr val="000000"/>
                    </a:solidFill>
                    <a:effectLst/>
                    <a:latin typeface="Times New Roman" panose="02020603050405020304" pitchFamily="18" charset="0"/>
                    <a:ea typeface="Times New Roman" panose="02020603050405020304" pitchFamily="18" charset="0"/>
                  </a:rPr>
                  <a:t>INPUT</a:t>
                </a:r>
                <a:endParaRPr lang="en-IN" sz="1200" b="1" dirty="0">
                  <a:effectLst/>
                  <a:latin typeface="Times New Roman" panose="02020603050405020304" pitchFamily="18" charset="0"/>
                  <a:ea typeface="Times New Roman" panose="02020603050405020304" pitchFamily="18" charset="0"/>
                </a:endParaRPr>
              </a:p>
            </p:txBody>
          </p:sp>
        </p:grpSp>
        <p:grpSp>
          <p:nvGrpSpPr>
            <p:cNvPr id="42" name="Group 41"/>
            <p:cNvGrpSpPr/>
            <p:nvPr/>
          </p:nvGrpSpPr>
          <p:grpSpPr>
            <a:xfrm>
              <a:off x="478063" y="3397741"/>
              <a:ext cx="2453692" cy="1440714"/>
              <a:chOff x="2427157" y="0"/>
              <a:chExt cx="1450055" cy="1489276"/>
            </a:xfrm>
          </p:grpSpPr>
          <p:grpSp>
            <p:nvGrpSpPr>
              <p:cNvPr id="51" name="Group 50"/>
              <p:cNvGrpSpPr/>
              <p:nvPr/>
            </p:nvGrpSpPr>
            <p:grpSpPr>
              <a:xfrm>
                <a:off x="2427157" y="0"/>
                <a:ext cx="1450055" cy="1489276"/>
                <a:chOff x="2427157" y="0"/>
                <a:chExt cx="1842448" cy="1141272"/>
              </a:xfrm>
            </p:grpSpPr>
            <p:grpSp>
              <p:nvGrpSpPr>
                <p:cNvPr id="54" name="Group 53"/>
                <p:cNvGrpSpPr/>
                <p:nvPr/>
              </p:nvGrpSpPr>
              <p:grpSpPr>
                <a:xfrm>
                  <a:off x="2427157" y="0"/>
                  <a:ext cx="1842448" cy="1141272"/>
                  <a:chOff x="2427157" y="0"/>
                  <a:chExt cx="1842448" cy="1141272"/>
                </a:xfrm>
              </p:grpSpPr>
              <p:sp>
                <p:nvSpPr>
                  <p:cNvPr id="56" name="Rectangle 55"/>
                  <p:cNvSpPr/>
                  <p:nvPr/>
                </p:nvSpPr>
                <p:spPr>
                  <a:xfrm>
                    <a:off x="2427157" y="0"/>
                    <a:ext cx="1842448" cy="11412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58" name="Straight Connector 57"/>
                  <p:cNvCxnSpPr/>
                  <p:nvPr/>
                </p:nvCxnSpPr>
                <p:spPr>
                  <a:xfrm>
                    <a:off x="2427157" y="345868"/>
                    <a:ext cx="1842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TextBox 12"/>
                <p:cNvSpPr txBox="1"/>
                <p:nvPr/>
              </p:nvSpPr>
              <p:spPr>
                <a:xfrm>
                  <a:off x="2517616" y="66694"/>
                  <a:ext cx="1751989" cy="243808"/>
                </a:xfrm>
                <a:prstGeom prst="rect">
                  <a:avLst/>
                </a:prstGeom>
                <a:noFill/>
              </p:spPr>
              <p:txBody>
                <a:bodyPr wrap="square" rtlCol="0">
                  <a:spAutoFit/>
                </a:bodyPr>
                <a:lstStyle/>
                <a:p>
                  <a:pPr algn="ctr">
                    <a:spcAft>
                      <a:spcPts val="0"/>
                    </a:spcAft>
                  </a:pPr>
                  <a:r>
                    <a:rPr lang="en-US" sz="1400" b="1" kern="1200" dirty="0" smtClean="0">
                      <a:solidFill>
                        <a:srgbClr val="000000"/>
                      </a:solidFill>
                      <a:effectLst/>
                      <a:latin typeface="Times New Roman" panose="02020603050405020304" pitchFamily="18" charset="0"/>
                      <a:ea typeface="Times New Roman" panose="02020603050405020304" pitchFamily="18" charset="0"/>
                    </a:rPr>
                    <a:t>PRE COMPILE PROCESS</a:t>
                  </a:r>
                  <a:endParaRPr lang="en-IN" sz="1400" b="1" dirty="0">
                    <a:effectLst/>
                    <a:latin typeface="Times New Roman" panose="02020603050405020304" pitchFamily="18" charset="0"/>
                    <a:ea typeface="Times New Roman" panose="02020603050405020304" pitchFamily="18" charset="0"/>
                  </a:endParaRPr>
                </a:p>
              </p:txBody>
            </p:sp>
          </p:grpSp>
          <p:sp>
            <p:nvSpPr>
              <p:cNvPr id="52" name="TextBox 1"/>
              <p:cNvSpPr txBox="1"/>
              <p:nvPr/>
            </p:nvSpPr>
            <p:spPr>
              <a:xfrm>
                <a:off x="2498351" y="535465"/>
                <a:ext cx="1267460" cy="318151"/>
              </a:xfrm>
              <a:prstGeom prst="rect">
                <a:avLst/>
              </a:prstGeom>
              <a:noFill/>
            </p:spPr>
            <p:txBody>
              <a:bodyPr wrap="square" rtlCol="0">
                <a:spAutoFit/>
              </a:bodyPr>
              <a:lstStyle/>
              <a:p>
                <a:pPr algn="ctr">
                  <a:spcAft>
                    <a:spcPts val="0"/>
                  </a:spcAft>
                </a:pPr>
                <a:r>
                  <a:rPr lang="en-US" sz="1400" kern="1200" dirty="0" smtClean="0">
                    <a:solidFill>
                      <a:srgbClr val="000000"/>
                    </a:solidFill>
                    <a:effectLst/>
                    <a:latin typeface="Times New Roman" panose="02020603050405020304" pitchFamily="18" charset="0"/>
                    <a:ea typeface="Times New Roman" panose="02020603050405020304" pitchFamily="18" charset="0"/>
                  </a:rPr>
                  <a:t>Image Resize ()</a:t>
                </a:r>
                <a:endParaRPr lang="en-IN" sz="1400" dirty="0">
                  <a:effectLst/>
                  <a:latin typeface="Times New Roman" panose="02020603050405020304" pitchFamily="18" charset="0"/>
                  <a:ea typeface="Times New Roman" panose="02020603050405020304" pitchFamily="18" charset="0"/>
                </a:endParaRPr>
              </a:p>
            </p:txBody>
          </p:sp>
          <p:sp>
            <p:nvSpPr>
              <p:cNvPr id="53" name="TextBox 2"/>
              <p:cNvSpPr txBox="1"/>
              <p:nvPr/>
            </p:nvSpPr>
            <p:spPr>
              <a:xfrm>
                <a:off x="2524065" y="881636"/>
                <a:ext cx="1241746" cy="318151"/>
              </a:xfrm>
              <a:prstGeom prst="rect">
                <a:avLst/>
              </a:prstGeom>
              <a:noFill/>
            </p:spPr>
            <p:txBody>
              <a:bodyPr wrap="square" rtlCol="0">
                <a:spAutoFit/>
              </a:bodyPr>
              <a:lstStyle/>
              <a:p>
                <a:pPr algn="ctr">
                  <a:spcAft>
                    <a:spcPts val="0"/>
                  </a:spcAft>
                </a:pPr>
                <a:r>
                  <a:rPr lang="en-US" sz="1400" kern="1200" dirty="0" smtClean="0">
                    <a:solidFill>
                      <a:srgbClr val="000000"/>
                    </a:solidFill>
                    <a:effectLst/>
                    <a:latin typeface="Times New Roman" panose="02020603050405020304" pitchFamily="18" charset="0"/>
                    <a:ea typeface="Times New Roman" panose="02020603050405020304" pitchFamily="18" charset="0"/>
                  </a:rPr>
                  <a:t>Gray Scale Conversion ()</a:t>
                </a:r>
                <a:endParaRPr lang="en-IN" sz="1400" dirty="0">
                  <a:effectLst/>
                  <a:latin typeface="Times New Roman" panose="02020603050405020304" pitchFamily="18" charset="0"/>
                  <a:ea typeface="Times New Roman" panose="02020603050405020304" pitchFamily="18" charset="0"/>
                </a:endParaRPr>
              </a:p>
            </p:txBody>
          </p:sp>
        </p:grpSp>
        <p:grpSp>
          <p:nvGrpSpPr>
            <p:cNvPr id="59" name="Group 58"/>
            <p:cNvGrpSpPr/>
            <p:nvPr/>
          </p:nvGrpSpPr>
          <p:grpSpPr>
            <a:xfrm>
              <a:off x="3286552" y="3399450"/>
              <a:ext cx="2453692" cy="1440714"/>
              <a:chOff x="2427157" y="0"/>
              <a:chExt cx="1450055" cy="1489276"/>
            </a:xfrm>
          </p:grpSpPr>
          <p:grpSp>
            <p:nvGrpSpPr>
              <p:cNvPr id="60" name="Group 59"/>
              <p:cNvGrpSpPr/>
              <p:nvPr/>
            </p:nvGrpSpPr>
            <p:grpSpPr>
              <a:xfrm>
                <a:off x="2427157" y="0"/>
                <a:ext cx="1450055" cy="1489276"/>
                <a:chOff x="2427157" y="0"/>
                <a:chExt cx="1842448" cy="1141272"/>
              </a:xfrm>
            </p:grpSpPr>
            <p:grpSp>
              <p:nvGrpSpPr>
                <p:cNvPr id="63" name="Group 62"/>
                <p:cNvGrpSpPr/>
                <p:nvPr/>
              </p:nvGrpSpPr>
              <p:grpSpPr>
                <a:xfrm>
                  <a:off x="2427157" y="0"/>
                  <a:ext cx="1842448" cy="1141272"/>
                  <a:chOff x="2427157" y="0"/>
                  <a:chExt cx="1842448" cy="1141272"/>
                </a:xfrm>
              </p:grpSpPr>
              <p:sp>
                <p:nvSpPr>
                  <p:cNvPr id="65" name="Rectangle 64"/>
                  <p:cNvSpPr/>
                  <p:nvPr/>
                </p:nvSpPr>
                <p:spPr>
                  <a:xfrm>
                    <a:off x="2427157" y="0"/>
                    <a:ext cx="1842448" cy="11412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66" name="Straight Connector 65"/>
                  <p:cNvCxnSpPr/>
                  <p:nvPr/>
                </p:nvCxnSpPr>
                <p:spPr>
                  <a:xfrm>
                    <a:off x="2427157" y="345868"/>
                    <a:ext cx="1842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TextBox 12"/>
                <p:cNvSpPr txBox="1"/>
                <p:nvPr/>
              </p:nvSpPr>
              <p:spPr>
                <a:xfrm>
                  <a:off x="2517616" y="66694"/>
                  <a:ext cx="1751989" cy="243808"/>
                </a:xfrm>
                <a:prstGeom prst="rect">
                  <a:avLst/>
                </a:prstGeom>
                <a:noFill/>
              </p:spPr>
              <p:txBody>
                <a:bodyPr wrap="square" rtlCol="0">
                  <a:spAutoFit/>
                </a:bodyPr>
                <a:lstStyle/>
                <a:p>
                  <a:pPr algn="ctr">
                    <a:spcAft>
                      <a:spcPts val="0"/>
                    </a:spcAft>
                  </a:pPr>
                  <a:r>
                    <a:rPr lang="en-US" sz="1400" b="1" kern="1200" dirty="0" smtClean="0">
                      <a:solidFill>
                        <a:srgbClr val="000000"/>
                      </a:solidFill>
                      <a:effectLst/>
                      <a:latin typeface="Times New Roman" panose="02020603050405020304" pitchFamily="18" charset="0"/>
                      <a:ea typeface="Times New Roman" panose="02020603050405020304" pitchFamily="18" charset="0"/>
                    </a:rPr>
                    <a:t>FEATURE EXTRACTION</a:t>
                  </a:r>
                  <a:endParaRPr lang="en-IN" sz="1400" b="1" dirty="0">
                    <a:effectLst/>
                    <a:latin typeface="Times New Roman" panose="02020603050405020304" pitchFamily="18" charset="0"/>
                    <a:ea typeface="Times New Roman" panose="02020603050405020304" pitchFamily="18" charset="0"/>
                  </a:endParaRPr>
                </a:p>
              </p:txBody>
            </p:sp>
          </p:grpSp>
          <p:sp>
            <p:nvSpPr>
              <p:cNvPr id="61" name="TextBox 1"/>
              <p:cNvSpPr txBox="1"/>
              <p:nvPr/>
            </p:nvSpPr>
            <p:spPr>
              <a:xfrm>
                <a:off x="2498351" y="535465"/>
                <a:ext cx="1267460" cy="318151"/>
              </a:xfrm>
              <a:prstGeom prst="rect">
                <a:avLst/>
              </a:prstGeom>
              <a:noFill/>
            </p:spPr>
            <p:txBody>
              <a:bodyPr wrap="square" rtlCol="0">
                <a:spAutoFit/>
              </a:bodyPr>
              <a:lstStyle/>
              <a:p>
                <a:pPr algn="ctr">
                  <a:spcAft>
                    <a:spcPts val="0"/>
                  </a:spcAft>
                </a:pPr>
                <a:r>
                  <a:rPr lang="en-US" sz="1400" kern="1200" dirty="0" smtClean="0">
                    <a:solidFill>
                      <a:srgbClr val="000000"/>
                    </a:solidFill>
                    <a:effectLst/>
                    <a:latin typeface="Times New Roman" panose="02020603050405020304" pitchFamily="18" charset="0"/>
                    <a:ea typeface="Times New Roman" panose="02020603050405020304" pitchFamily="18" charset="0"/>
                  </a:rPr>
                  <a:t>Splitting ()</a:t>
                </a:r>
                <a:endParaRPr lang="en-IN" sz="1400" dirty="0">
                  <a:effectLst/>
                  <a:latin typeface="Times New Roman" panose="02020603050405020304" pitchFamily="18" charset="0"/>
                  <a:ea typeface="Times New Roman" panose="02020603050405020304" pitchFamily="18" charset="0"/>
                </a:endParaRPr>
              </a:p>
            </p:txBody>
          </p:sp>
          <p:sp>
            <p:nvSpPr>
              <p:cNvPr id="62" name="TextBox 2"/>
              <p:cNvSpPr txBox="1"/>
              <p:nvPr/>
            </p:nvSpPr>
            <p:spPr>
              <a:xfrm>
                <a:off x="2511208" y="828933"/>
                <a:ext cx="1241746" cy="318151"/>
              </a:xfrm>
              <a:prstGeom prst="rect">
                <a:avLst/>
              </a:prstGeom>
              <a:noFill/>
            </p:spPr>
            <p:txBody>
              <a:bodyPr wrap="square" rtlCol="0">
                <a:spAutoFit/>
              </a:bodyPr>
              <a:lstStyle/>
              <a:p>
                <a:pPr algn="ctr">
                  <a:spcAft>
                    <a:spcPts val="0"/>
                  </a:spcAft>
                </a:pPr>
                <a:r>
                  <a:rPr lang="en-US" sz="1400" kern="1200" dirty="0" smtClean="0">
                    <a:solidFill>
                      <a:srgbClr val="000000"/>
                    </a:solidFill>
                    <a:effectLst/>
                    <a:latin typeface="Times New Roman" panose="02020603050405020304" pitchFamily="18" charset="0"/>
                    <a:ea typeface="Times New Roman" panose="02020603050405020304" pitchFamily="18" charset="0"/>
                  </a:rPr>
                  <a:t>GLCM ()</a:t>
                </a:r>
                <a:endParaRPr lang="en-IN" sz="1400" dirty="0">
                  <a:effectLst/>
                  <a:latin typeface="Times New Roman" panose="02020603050405020304" pitchFamily="18" charset="0"/>
                  <a:ea typeface="Times New Roman" panose="02020603050405020304" pitchFamily="18" charset="0"/>
                </a:endParaRPr>
              </a:p>
            </p:txBody>
          </p:sp>
        </p:grpSp>
        <p:grpSp>
          <p:nvGrpSpPr>
            <p:cNvPr id="67" name="Group 66"/>
            <p:cNvGrpSpPr/>
            <p:nvPr/>
          </p:nvGrpSpPr>
          <p:grpSpPr>
            <a:xfrm>
              <a:off x="6070132" y="3397741"/>
              <a:ext cx="2453692" cy="1440714"/>
              <a:chOff x="2427157" y="0"/>
              <a:chExt cx="1450055" cy="1489276"/>
            </a:xfrm>
          </p:grpSpPr>
          <p:grpSp>
            <p:nvGrpSpPr>
              <p:cNvPr id="68" name="Group 67"/>
              <p:cNvGrpSpPr/>
              <p:nvPr/>
            </p:nvGrpSpPr>
            <p:grpSpPr>
              <a:xfrm>
                <a:off x="2427157" y="0"/>
                <a:ext cx="1450055" cy="1489276"/>
                <a:chOff x="2427157" y="0"/>
                <a:chExt cx="1842448" cy="1141272"/>
              </a:xfrm>
            </p:grpSpPr>
            <p:grpSp>
              <p:nvGrpSpPr>
                <p:cNvPr id="71" name="Group 70"/>
                <p:cNvGrpSpPr/>
                <p:nvPr/>
              </p:nvGrpSpPr>
              <p:grpSpPr>
                <a:xfrm>
                  <a:off x="2427157" y="0"/>
                  <a:ext cx="1842448" cy="1141272"/>
                  <a:chOff x="2427157" y="0"/>
                  <a:chExt cx="1842448" cy="1141272"/>
                </a:xfrm>
              </p:grpSpPr>
              <p:sp>
                <p:nvSpPr>
                  <p:cNvPr id="74" name="Rectangle 73"/>
                  <p:cNvSpPr/>
                  <p:nvPr/>
                </p:nvSpPr>
                <p:spPr>
                  <a:xfrm>
                    <a:off x="2427157" y="0"/>
                    <a:ext cx="1842448" cy="11412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75" name="Straight Connector 74"/>
                  <p:cNvCxnSpPr/>
                  <p:nvPr/>
                </p:nvCxnSpPr>
                <p:spPr>
                  <a:xfrm>
                    <a:off x="2427157" y="345868"/>
                    <a:ext cx="1842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12"/>
                <p:cNvSpPr txBox="1"/>
                <p:nvPr/>
              </p:nvSpPr>
              <p:spPr>
                <a:xfrm>
                  <a:off x="2517616" y="66694"/>
                  <a:ext cx="1751989" cy="243808"/>
                </a:xfrm>
                <a:prstGeom prst="rect">
                  <a:avLst/>
                </a:prstGeom>
                <a:noFill/>
              </p:spPr>
              <p:txBody>
                <a:bodyPr wrap="square" rtlCol="0">
                  <a:spAutoFit/>
                </a:bodyPr>
                <a:lstStyle/>
                <a:p>
                  <a:pPr algn="ctr">
                    <a:spcAft>
                      <a:spcPts val="0"/>
                    </a:spcAft>
                  </a:pPr>
                  <a:r>
                    <a:rPr lang="en-US" sz="1400" b="1" kern="1200" dirty="0" smtClean="0">
                      <a:solidFill>
                        <a:srgbClr val="000000"/>
                      </a:solidFill>
                      <a:effectLst/>
                      <a:latin typeface="Times New Roman" panose="02020603050405020304" pitchFamily="18" charset="0"/>
                      <a:ea typeface="Times New Roman" panose="02020603050405020304" pitchFamily="18" charset="0"/>
                    </a:rPr>
                    <a:t>CLASSIFICATION</a:t>
                  </a:r>
                  <a:endParaRPr lang="en-IN" sz="1400" b="1" dirty="0">
                    <a:effectLst/>
                    <a:latin typeface="Times New Roman" panose="02020603050405020304" pitchFamily="18" charset="0"/>
                    <a:ea typeface="Times New Roman" panose="02020603050405020304" pitchFamily="18" charset="0"/>
                  </a:endParaRPr>
                </a:p>
              </p:txBody>
            </p:sp>
          </p:grpSp>
          <p:sp>
            <p:nvSpPr>
              <p:cNvPr id="69" name="TextBox 1"/>
              <p:cNvSpPr txBox="1"/>
              <p:nvPr/>
            </p:nvSpPr>
            <p:spPr>
              <a:xfrm>
                <a:off x="2498351" y="535465"/>
                <a:ext cx="1267460" cy="318151"/>
              </a:xfrm>
              <a:prstGeom prst="rect">
                <a:avLst/>
              </a:prstGeom>
              <a:noFill/>
            </p:spPr>
            <p:txBody>
              <a:bodyPr wrap="square" rtlCol="0">
                <a:spAutoFit/>
              </a:bodyPr>
              <a:lstStyle/>
              <a:p>
                <a:pPr algn="ctr">
                  <a:spcAft>
                    <a:spcPts val="0"/>
                  </a:spcAft>
                </a:pPr>
                <a:r>
                  <a:rPr lang="en-US" sz="1400" kern="1200" dirty="0" smtClean="0">
                    <a:solidFill>
                      <a:srgbClr val="000000"/>
                    </a:solidFill>
                    <a:effectLst/>
                    <a:latin typeface="Times New Roman" panose="02020603050405020304" pitchFamily="18" charset="0"/>
                    <a:ea typeface="Times New Roman" panose="02020603050405020304" pitchFamily="18" charset="0"/>
                  </a:rPr>
                  <a:t>MLP ()</a:t>
                </a:r>
                <a:endParaRPr lang="en-IN" sz="1400" dirty="0">
                  <a:effectLst/>
                  <a:latin typeface="Times New Roman" panose="02020603050405020304" pitchFamily="18" charset="0"/>
                  <a:ea typeface="Times New Roman" panose="02020603050405020304" pitchFamily="18" charset="0"/>
                </a:endParaRPr>
              </a:p>
            </p:txBody>
          </p:sp>
          <p:sp>
            <p:nvSpPr>
              <p:cNvPr id="70" name="TextBox 2"/>
              <p:cNvSpPr txBox="1"/>
              <p:nvPr/>
            </p:nvSpPr>
            <p:spPr>
              <a:xfrm>
                <a:off x="2511208" y="828933"/>
                <a:ext cx="1241746" cy="540856"/>
              </a:xfrm>
              <a:prstGeom prst="rect">
                <a:avLst/>
              </a:prstGeom>
              <a:noFill/>
            </p:spPr>
            <p:txBody>
              <a:bodyPr wrap="square" rtlCol="0">
                <a:spAutoFit/>
              </a:bodyPr>
              <a:lstStyle/>
              <a:p>
                <a:pPr algn="ctr">
                  <a:spcAft>
                    <a:spcPts val="0"/>
                  </a:spcAft>
                </a:pPr>
                <a:r>
                  <a:rPr lang="en-US" sz="1400" kern="1200" dirty="0" smtClean="0">
                    <a:solidFill>
                      <a:srgbClr val="000000"/>
                    </a:solidFill>
                    <a:effectLst/>
                    <a:latin typeface="Times New Roman" panose="02020603050405020304" pitchFamily="18" charset="0"/>
                    <a:ea typeface="Times New Roman" panose="02020603050405020304" pitchFamily="18" charset="0"/>
                  </a:rPr>
                  <a:t>VGG-19 ()</a:t>
                </a:r>
              </a:p>
              <a:p>
                <a:pPr algn="ctr">
                  <a:spcAft>
                    <a:spcPts val="0"/>
                  </a:spcAft>
                </a:pPr>
                <a:r>
                  <a:rPr lang="en-US" sz="1400" dirty="0" smtClean="0">
                    <a:solidFill>
                      <a:srgbClr val="000000"/>
                    </a:solidFill>
                    <a:latin typeface="Times New Roman" panose="02020603050405020304" pitchFamily="18" charset="0"/>
                    <a:ea typeface="Times New Roman" panose="02020603050405020304" pitchFamily="18" charset="0"/>
                  </a:rPr>
                  <a:t>MobileNet ()</a:t>
                </a:r>
                <a:endParaRPr lang="en-IN" sz="1400" dirty="0">
                  <a:effectLst/>
                  <a:latin typeface="Times New Roman" panose="02020603050405020304" pitchFamily="18" charset="0"/>
                  <a:ea typeface="Times New Roman" panose="02020603050405020304" pitchFamily="18" charset="0"/>
                </a:endParaRPr>
              </a:p>
            </p:txBody>
          </p:sp>
        </p:grpSp>
        <p:grpSp>
          <p:nvGrpSpPr>
            <p:cNvPr id="76" name="Group 75"/>
            <p:cNvGrpSpPr/>
            <p:nvPr/>
          </p:nvGrpSpPr>
          <p:grpSpPr>
            <a:xfrm>
              <a:off x="8878621" y="3397741"/>
              <a:ext cx="2453692" cy="1440714"/>
              <a:chOff x="2427157" y="0"/>
              <a:chExt cx="1450055" cy="1489276"/>
            </a:xfrm>
          </p:grpSpPr>
          <p:grpSp>
            <p:nvGrpSpPr>
              <p:cNvPr id="77" name="Group 76"/>
              <p:cNvGrpSpPr/>
              <p:nvPr/>
            </p:nvGrpSpPr>
            <p:grpSpPr>
              <a:xfrm>
                <a:off x="2427157" y="0"/>
                <a:ext cx="1450055" cy="1489276"/>
                <a:chOff x="2427157" y="0"/>
                <a:chExt cx="1842448" cy="1141272"/>
              </a:xfrm>
            </p:grpSpPr>
            <p:grpSp>
              <p:nvGrpSpPr>
                <p:cNvPr id="80" name="Group 79"/>
                <p:cNvGrpSpPr/>
                <p:nvPr/>
              </p:nvGrpSpPr>
              <p:grpSpPr>
                <a:xfrm>
                  <a:off x="2427157" y="0"/>
                  <a:ext cx="1842448" cy="1141272"/>
                  <a:chOff x="2427157" y="0"/>
                  <a:chExt cx="1842448" cy="1141272"/>
                </a:xfrm>
              </p:grpSpPr>
              <p:sp>
                <p:nvSpPr>
                  <p:cNvPr id="82" name="Rectangle 81"/>
                  <p:cNvSpPr/>
                  <p:nvPr/>
                </p:nvSpPr>
                <p:spPr>
                  <a:xfrm>
                    <a:off x="2427157" y="0"/>
                    <a:ext cx="1842448" cy="11412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83" name="Straight Connector 82"/>
                  <p:cNvCxnSpPr/>
                  <p:nvPr/>
                </p:nvCxnSpPr>
                <p:spPr>
                  <a:xfrm>
                    <a:off x="2427157" y="345868"/>
                    <a:ext cx="1842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1" name="TextBox 12"/>
                <p:cNvSpPr txBox="1"/>
                <p:nvPr/>
              </p:nvSpPr>
              <p:spPr>
                <a:xfrm>
                  <a:off x="2517616" y="66694"/>
                  <a:ext cx="1751989" cy="243808"/>
                </a:xfrm>
                <a:prstGeom prst="rect">
                  <a:avLst/>
                </a:prstGeom>
                <a:noFill/>
              </p:spPr>
              <p:txBody>
                <a:bodyPr wrap="square" rtlCol="0">
                  <a:spAutoFit/>
                </a:bodyPr>
                <a:lstStyle/>
                <a:p>
                  <a:pPr algn="ctr">
                    <a:spcAft>
                      <a:spcPts val="0"/>
                    </a:spcAft>
                  </a:pPr>
                  <a:r>
                    <a:rPr lang="en-US" sz="1400" b="1" kern="1200" dirty="0" smtClean="0">
                      <a:solidFill>
                        <a:srgbClr val="000000"/>
                      </a:solidFill>
                      <a:effectLst/>
                      <a:latin typeface="Times New Roman" panose="02020603050405020304" pitchFamily="18" charset="0"/>
                      <a:ea typeface="Times New Roman" panose="02020603050405020304" pitchFamily="18" charset="0"/>
                    </a:rPr>
                    <a:t>PERFORMANCE</a:t>
                  </a:r>
                  <a:endParaRPr lang="en-IN" sz="1400" b="1" dirty="0">
                    <a:effectLst/>
                    <a:latin typeface="Times New Roman" panose="02020603050405020304" pitchFamily="18" charset="0"/>
                    <a:ea typeface="Times New Roman" panose="02020603050405020304" pitchFamily="18" charset="0"/>
                  </a:endParaRPr>
                </a:p>
              </p:txBody>
            </p:sp>
          </p:grpSp>
          <p:sp>
            <p:nvSpPr>
              <p:cNvPr id="78" name="TextBox 1"/>
              <p:cNvSpPr txBox="1"/>
              <p:nvPr/>
            </p:nvSpPr>
            <p:spPr>
              <a:xfrm>
                <a:off x="2498351" y="535465"/>
                <a:ext cx="1267460" cy="318151"/>
              </a:xfrm>
              <a:prstGeom prst="rect">
                <a:avLst/>
              </a:prstGeom>
              <a:noFill/>
            </p:spPr>
            <p:txBody>
              <a:bodyPr wrap="square" rtlCol="0">
                <a:spAutoFit/>
              </a:bodyPr>
              <a:lstStyle/>
              <a:p>
                <a:pPr algn="ctr">
                  <a:spcAft>
                    <a:spcPts val="0"/>
                  </a:spcAft>
                </a:pPr>
                <a:r>
                  <a:rPr lang="en-US" sz="1400" kern="1200" dirty="0" smtClean="0">
                    <a:solidFill>
                      <a:srgbClr val="000000"/>
                    </a:solidFill>
                    <a:effectLst/>
                    <a:latin typeface="Times New Roman" panose="02020603050405020304" pitchFamily="18" charset="0"/>
                    <a:ea typeface="Times New Roman" panose="02020603050405020304" pitchFamily="18" charset="0"/>
                  </a:rPr>
                  <a:t>Accuracy  ()</a:t>
                </a:r>
                <a:endParaRPr lang="en-IN" sz="1400" dirty="0">
                  <a:effectLst/>
                  <a:latin typeface="Times New Roman" panose="02020603050405020304" pitchFamily="18" charset="0"/>
                  <a:ea typeface="Times New Roman" panose="02020603050405020304" pitchFamily="18" charset="0"/>
                </a:endParaRPr>
              </a:p>
            </p:txBody>
          </p:sp>
          <p:sp>
            <p:nvSpPr>
              <p:cNvPr id="79" name="TextBox 2"/>
              <p:cNvSpPr txBox="1"/>
              <p:nvPr/>
            </p:nvSpPr>
            <p:spPr>
              <a:xfrm>
                <a:off x="2511208" y="828933"/>
                <a:ext cx="1241746" cy="318151"/>
              </a:xfrm>
              <a:prstGeom prst="rect">
                <a:avLst/>
              </a:prstGeom>
              <a:noFill/>
            </p:spPr>
            <p:txBody>
              <a:bodyPr wrap="square" rtlCol="0">
                <a:spAutoFit/>
              </a:bodyPr>
              <a:lstStyle/>
              <a:p>
                <a:pPr algn="ctr">
                  <a:spcAft>
                    <a:spcPts val="0"/>
                  </a:spcAft>
                </a:pPr>
                <a:r>
                  <a:rPr lang="en-US" sz="1400" kern="1200" dirty="0" smtClean="0">
                    <a:solidFill>
                      <a:srgbClr val="000000"/>
                    </a:solidFill>
                    <a:effectLst/>
                    <a:latin typeface="Times New Roman" panose="02020603050405020304" pitchFamily="18" charset="0"/>
                    <a:ea typeface="Times New Roman" panose="02020603050405020304" pitchFamily="18" charset="0"/>
                  </a:rPr>
                  <a:t>Error rate ()</a:t>
                </a:r>
              </a:p>
            </p:txBody>
          </p:sp>
        </p:grpSp>
        <p:cxnSp>
          <p:nvCxnSpPr>
            <p:cNvPr id="10" name="Straight Connector 9"/>
            <p:cNvCxnSpPr/>
            <p:nvPr/>
          </p:nvCxnSpPr>
          <p:spPr>
            <a:xfrm>
              <a:off x="1670891" y="2898400"/>
              <a:ext cx="0" cy="4993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0147313" y="2898399"/>
              <a:ext cx="0" cy="4993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670891" y="2898399"/>
              <a:ext cx="84948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endCxn id="65" idx="0"/>
            </p:cNvCxnSpPr>
            <p:nvPr/>
          </p:nvCxnSpPr>
          <p:spPr>
            <a:xfrm flipH="1">
              <a:off x="4513398" y="2897545"/>
              <a:ext cx="13952" cy="5019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H="1">
              <a:off x="7242320" y="2881601"/>
              <a:ext cx="13952" cy="5019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Isosceles Triangle 16"/>
            <p:cNvSpPr/>
            <p:nvPr/>
          </p:nvSpPr>
          <p:spPr>
            <a:xfrm>
              <a:off x="5639900" y="2405472"/>
              <a:ext cx="210261" cy="222243"/>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p:cNvCxnSpPr/>
            <p:nvPr/>
          </p:nvCxnSpPr>
          <p:spPr>
            <a:xfrm>
              <a:off x="5758018" y="2618538"/>
              <a:ext cx="0" cy="283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220970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4" name="Title 1"/>
          <p:cNvSpPr>
            <a:spLocks noGrp="1"/>
          </p:cNvSpPr>
          <p:nvPr>
            <p:ph type="title"/>
          </p:nvPr>
        </p:nvSpPr>
        <p:spPr>
          <a:xfrm>
            <a:off x="749771" y="473672"/>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DFD diagram – Level 0</a:t>
            </a:r>
            <a:endParaRPr lang="en-IN" b="1" dirty="0">
              <a:latin typeface="Times New Roman" panose="02020603050405020304" pitchFamily="18" charset="0"/>
              <a:cs typeface="Times New Roman" panose="02020603050405020304" pitchFamily="18" charset="0"/>
            </a:endParaRPr>
          </a:p>
        </p:txBody>
      </p:sp>
      <p:grpSp>
        <p:nvGrpSpPr>
          <p:cNvPr id="23" name="Group 22"/>
          <p:cNvGrpSpPr/>
          <p:nvPr/>
        </p:nvGrpSpPr>
        <p:grpSpPr>
          <a:xfrm>
            <a:off x="1538857" y="1333345"/>
            <a:ext cx="8406097" cy="4957598"/>
            <a:chOff x="1538857" y="1333345"/>
            <a:chExt cx="8406097" cy="4957598"/>
          </a:xfrm>
        </p:grpSpPr>
        <p:sp>
          <p:nvSpPr>
            <p:cNvPr id="3" name="Oval 2"/>
            <p:cNvSpPr/>
            <p:nvPr/>
          </p:nvSpPr>
          <p:spPr>
            <a:xfrm>
              <a:off x="5035640" y="2648855"/>
              <a:ext cx="1571222" cy="136516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2"/>
            <a:stretch>
              <a:fillRect/>
            </a:stretch>
          </p:blipFill>
          <p:spPr>
            <a:xfrm>
              <a:off x="1880316" y="1333345"/>
              <a:ext cx="1230466" cy="1097214"/>
            </a:xfrm>
            <a:prstGeom prst="rect">
              <a:avLst/>
            </a:prstGeom>
          </p:spPr>
        </p:pic>
        <p:sp>
          <p:nvSpPr>
            <p:cNvPr id="16" name="Rectangle 15"/>
            <p:cNvSpPr/>
            <p:nvPr/>
          </p:nvSpPr>
          <p:spPr>
            <a:xfrm>
              <a:off x="8052516" y="2945714"/>
              <a:ext cx="1892438" cy="774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400" b="1"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 - RENDER</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8" name="TextBox 4"/>
            <p:cNvSpPr txBox="1"/>
            <p:nvPr/>
          </p:nvSpPr>
          <p:spPr>
            <a:xfrm>
              <a:off x="1710810" y="2549708"/>
              <a:ext cx="1467353" cy="264485"/>
            </a:xfrm>
            <a:prstGeom prst="rect">
              <a:avLst/>
            </a:prstGeom>
            <a:noFill/>
          </p:spPr>
          <p:txBody>
            <a:bodyPr wrap="square" rtlCol="0">
              <a:noAutofit/>
            </a:bodyPr>
            <a:lstStyle/>
            <a:p>
              <a:pPr algn="ctr">
                <a:spcAft>
                  <a:spcPts val="0"/>
                </a:spcAft>
              </a:pPr>
              <a:r>
                <a:rPr lang="en-US" sz="1200" b="1"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Eye Disease Image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20" name="Straight Arrow Connector 19"/>
            <p:cNvCxnSpPr/>
            <p:nvPr/>
          </p:nvCxnSpPr>
          <p:spPr>
            <a:xfrm>
              <a:off x="6606862" y="3153177"/>
              <a:ext cx="14456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6606862" y="3484309"/>
              <a:ext cx="1445654" cy="13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664884" y="2809217"/>
              <a:ext cx="1329610" cy="338554"/>
            </a:xfrm>
            <a:prstGeom prst="rect">
              <a:avLst/>
            </a:prstGeom>
            <a:noFill/>
          </p:spPr>
          <p:txBody>
            <a:bodyPr wrap="square" rtlCol="0">
              <a:spAutoFit/>
            </a:bodyPr>
            <a:lstStyle/>
            <a:p>
              <a:pPr algn="ctr"/>
              <a:r>
                <a:rPr lang="en-IN" sz="1600" dirty="0" smtClean="0">
                  <a:latin typeface="Times New Roman" panose="02020603050405020304" pitchFamily="18" charset="0"/>
                  <a:cs typeface="Times New Roman" panose="02020603050405020304" pitchFamily="18" charset="0"/>
                </a:rPr>
                <a:t>Resize Image</a:t>
              </a:r>
              <a:endParaRPr lang="en-IN" sz="1600"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6693895" y="3482816"/>
              <a:ext cx="1329610" cy="584775"/>
            </a:xfrm>
            <a:prstGeom prst="rect">
              <a:avLst/>
            </a:prstGeom>
            <a:noFill/>
          </p:spPr>
          <p:txBody>
            <a:bodyPr wrap="square" rtlCol="0">
              <a:spAutoFit/>
            </a:bodyPr>
            <a:lstStyle/>
            <a:p>
              <a:pPr algn="ctr"/>
              <a:r>
                <a:rPr lang="en-IN" sz="1600" dirty="0" smtClean="0">
                  <a:latin typeface="Times New Roman" panose="02020603050405020304" pitchFamily="18" charset="0"/>
                  <a:cs typeface="Times New Roman" panose="02020603050405020304" pitchFamily="18" charset="0"/>
                </a:rPr>
                <a:t>Gray scale Image</a:t>
              </a:r>
              <a:endParaRPr lang="en-IN" sz="1600" dirty="0">
                <a:latin typeface="Times New Roman" panose="02020603050405020304" pitchFamily="18" charset="0"/>
                <a:cs typeface="Times New Roman" panose="02020603050405020304" pitchFamily="18" charset="0"/>
              </a:endParaRPr>
            </a:p>
          </p:txBody>
        </p:sp>
        <p:sp>
          <p:nvSpPr>
            <p:cNvPr id="27" name="TextBox 26"/>
            <p:cNvSpPr txBox="1"/>
            <p:nvPr/>
          </p:nvSpPr>
          <p:spPr>
            <a:xfrm>
              <a:off x="5161208" y="2809217"/>
              <a:ext cx="1329610" cy="1077218"/>
            </a:xfrm>
            <a:prstGeom prst="rect">
              <a:avLst/>
            </a:prstGeom>
            <a:noFill/>
          </p:spPr>
          <p:txBody>
            <a:bodyPr wrap="square" rtlCol="0">
              <a:spAutoFit/>
            </a:bodyPr>
            <a:lstStyle/>
            <a:p>
              <a:pPr algn="ctr"/>
              <a:r>
                <a:rPr lang="en-IN" sz="1600" b="1" dirty="0" smtClean="0">
                  <a:latin typeface="Times New Roman" panose="02020603050405020304" pitchFamily="18" charset="0"/>
                  <a:cs typeface="Times New Roman" panose="02020603050405020304" pitchFamily="18" charset="0"/>
                </a:rPr>
                <a:t>AI Based Dry </a:t>
              </a:r>
              <a:r>
                <a:rPr lang="en-IN" sz="1600" b="1" dirty="0">
                  <a:latin typeface="Times New Roman" panose="02020603050405020304" pitchFamily="18" charset="0"/>
                  <a:cs typeface="Times New Roman" panose="02020603050405020304" pitchFamily="18" charset="0"/>
                </a:rPr>
                <a:t>Eye Disease Detection</a:t>
              </a:r>
            </a:p>
          </p:txBody>
        </p:sp>
        <p:pic>
          <p:nvPicPr>
            <p:cNvPr id="2" name="Picture 1"/>
            <p:cNvPicPr>
              <a:picLocks noChangeAspect="1"/>
            </p:cNvPicPr>
            <p:nvPr/>
          </p:nvPicPr>
          <p:blipFill>
            <a:blip r:embed="rId3"/>
            <a:stretch>
              <a:fillRect/>
            </a:stretch>
          </p:blipFill>
          <p:spPr>
            <a:xfrm>
              <a:off x="1712221" y="2875586"/>
              <a:ext cx="1397736" cy="1326826"/>
            </a:xfrm>
            <a:prstGeom prst="rect">
              <a:avLst/>
            </a:prstGeom>
          </p:spPr>
        </p:pic>
        <p:sp>
          <p:nvSpPr>
            <p:cNvPr id="17" name="TextBox 4"/>
            <p:cNvSpPr txBox="1"/>
            <p:nvPr/>
          </p:nvSpPr>
          <p:spPr>
            <a:xfrm>
              <a:off x="1710810" y="4303452"/>
              <a:ext cx="1467353" cy="264485"/>
            </a:xfrm>
            <a:prstGeom prst="rect">
              <a:avLst/>
            </a:prstGeom>
            <a:noFill/>
          </p:spPr>
          <p:txBody>
            <a:bodyPr wrap="square" rtlCol="0">
              <a:noAutofit/>
            </a:bodyPr>
            <a:lstStyle/>
            <a:p>
              <a:pPr algn="ctr">
                <a:spcAft>
                  <a:spcPts val="0"/>
                </a:spcAft>
              </a:pPr>
              <a:r>
                <a:rPr lang="en-US" sz="1200" b="1"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Dry Eye Disease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4"/>
            <a:stretch>
              <a:fillRect/>
            </a:stretch>
          </p:blipFill>
          <p:spPr>
            <a:xfrm>
              <a:off x="1710810" y="4749386"/>
              <a:ext cx="1295400" cy="1307810"/>
            </a:xfrm>
            <a:prstGeom prst="rect">
              <a:avLst/>
            </a:prstGeom>
          </p:spPr>
        </p:pic>
        <p:sp>
          <p:nvSpPr>
            <p:cNvPr id="19" name="TextBox 4"/>
            <p:cNvSpPr txBox="1"/>
            <p:nvPr/>
          </p:nvSpPr>
          <p:spPr>
            <a:xfrm>
              <a:off x="1538857" y="6026458"/>
              <a:ext cx="1467353" cy="264485"/>
            </a:xfrm>
            <a:prstGeom prst="rect">
              <a:avLst/>
            </a:prstGeom>
            <a:noFill/>
          </p:spPr>
          <p:txBody>
            <a:bodyPr wrap="square" rtlCol="0">
              <a:noAutofit/>
            </a:bodyPr>
            <a:lstStyle/>
            <a:p>
              <a:pPr algn="ctr">
                <a:spcAft>
                  <a:spcPts val="0"/>
                </a:spcAft>
              </a:pPr>
              <a:r>
                <a:rPr lang="en-US" sz="1200" b="1"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Eye Blink Image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7" name="Curved Connector 6"/>
            <p:cNvCxnSpPr>
              <a:stCxn id="15" idx="3"/>
              <a:endCxn id="3" idx="0"/>
            </p:cNvCxnSpPr>
            <p:nvPr/>
          </p:nvCxnSpPr>
          <p:spPr>
            <a:xfrm>
              <a:off x="3110782" y="1881952"/>
              <a:ext cx="2710469" cy="766903"/>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urved Connector 8"/>
            <p:cNvCxnSpPr>
              <a:stCxn id="2" idx="3"/>
            </p:cNvCxnSpPr>
            <p:nvPr/>
          </p:nvCxnSpPr>
          <p:spPr>
            <a:xfrm flipV="1">
              <a:off x="3109957" y="2875586"/>
              <a:ext cx="2209018" cy="663413"/>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10"/>
            <p:cNvCxnSpPr>
              <a:stCxn id="5" idx="3"/>
              <a:endCxn id="3" idx="4"/>
            </p:cNvCxnSpPr>
            <p:nvPr/>
          </p:nvCxnSpPr>
          <p:spPr>
            <a:xfrm flipV="1">
              <a:off x="3006210" y="4014016"/>
              <a:ext cx="2815041" cy="1389275"/>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3" idx="0"/>
              <a:endCxn id="16" idx="0"/>
            </p:cNvCxnSpPr>
            <p:nvPr/>
          </p:nvCxnSpPr>
          <p:spPr>
            <a:xfrm rot="16200000" flipH="1">
              <a:off x="7261563" y="1208542"/>
              <a:ext cx="296859" cy="3177484"/>
            </a:xfrm>
            <a:prstGeom prst="bentConnector3">
              <a:avLst>
                <a:gd name="adj1" fmla="val -7700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506026" y="2025243"/>
              <a:ext cx="2247736" cy="338554"/>
            </a:xfrm>
            <a:prstGeom prst="rect">
              <a:avLst/>
            </a:prstGeom>
            <a:noFill/>
          </p:spPr>
          <p:txBody>
            <a:bodyPr wrap="square" rtlCol="0">
              <a:spAutoFit/>
            </a:bodyPr>
            <a:lstStyle/>
            <a:p>
              <a:pPr algn="ctr"/>
              <a:r>
                <a:rPr lang="en-IN" sz="1600" dirty="0" smtClean="0">
                  <a:latin typeface="Times New Roman" panose="02020603050405020304" pitchFamily="18" charset="0"/>
                  <a:cs typeface="Times New Roman" panose="02020603050405020304" pitchFamily="18" charset="0"/>
                </a:rPr>
                <a:t>Handling Missing values</a:t>
              </a:r>
              <a:endParaRPr lang="en-IN" sz="16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456217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4" name="Title 1"/>
          <p:cNvSpPr>
            <a:spLocks noGrp="1"/>
          </p:cNvSpPr>
          <p:nvPr>
            <p:ph type="title"/>
          </p:nvPr>
        </p:nvSpPr>
        <p:spPr>
          <a:xfrm>
            <a:off x="749771" y="125387"/>
            <a:ext cx="10515600" cy="956591"/>
          </a:xfrm>
        </p:spPr>
        <p:txBody>
          <a:bodyPr/>
          <a:lstStyle/>
          <a:p>
            <a:pPr algn="ctr"/>
            <a:r>
              <a:rPr lang="en-US" b="1" dirty="0" smtClean="0">
                <a:latin typeface="Times New Roman" panose="02020603050405020304" pitchFamily="18" charset="0"/>
                <a:cs typeface="Times New Roman" panose="02020603050405020304" pitchFamily="18" charset="0"/>
              </a:rPr>
              <a:t>DFD diagram – Level 1</a:t>
            </a:r>
            <a:endParaRPr lang="en-IN" b="1" dirty="0">
              <a:latin typeface="Times New Roman" panose="02020603050405020304" pitchFamily="18" charset="0"/>
              <a:cs typeface="Times New Roman" panose="02020603050405020304" pitchFamily="18" charset="0"/>
            </a:endParaRPr>
          </a:p>
        </p:txBody>
      </p:sp>
      <p:grpSp>
        <p:nvGrpSpPr>
          <p:cNvPr id="60" name="Group 59"/>
          <p:cNvGrpSpPr/>
          <p:nvPr/>
        </p:nvGrpSpPr>
        <p:grpSpPr>
          <a:xfrm>
            <a:off x="2098745" y="1455314"/>
            <a:ext cx="8395047" cy="4546072"/>
            <a:chOff x="2420717" y="1486180"/>
            <a:chExt cx="8395047" cy="4396101"/>
          </a:xfrm>
        </p:grpSpPr>
        <p:sp>
          <p:nvSpPr>
            <p:cNvPr id="3" name="Oval 2"/>
            <p:cNvSpPr/>
            <p:nvPr/>
          </p:nvSpPr>
          <p:spPr>
            <a:xfrm>
              <a:off x="5088432" y="2744983"/>
              <a:ext cx="1634339" cy="136516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7" name="TextBox 26"/>
            <p:cNvSpPr txBox="1"/>
            <p:nvPr/>
          </p:nvSpPr>
          <p:spPr>
            <a:xfrm>
              <a:off x="5240796" y="3161720"/>
              <a:ext cx="1329610" cy="584775"/>
            </a:xfrm>
            <a:prstGeom prst="rect">
              <a:avLst/>
            </a:prstGeom>
            <a:noFill/>
          </p:spPr>
          <p:txBody>
            <a:bodyPr wrap="square" rtlCol="0">
              <a:spAutoFit/>
            </a:bodyPr>
            <a:lstStyle/>
            <a:p>
              <a:pPr algn="ctr"/>
              <a:r>
                <a:rPr lang="en-IN" sz="1600" b="1" dirty="0" smtClean="0">
                  <a:latin typeface="Times New Roman" panose="02020603050405020304" pitchFamily="18" charset="0"/>
                  <a:cs typeface="Times New Roman" panose="02020603050405020304" pitchFamily="18" charset="0"/>
                </a:rPr>
                <a:t>Dry Eye Disease</a:t>
              </a:r>
              <a:endParaRPr lang="en-IN" sz="1600" b="1" dirty="0">
                <a:latin typeface="Times New Roman" panose="02020603050405020304" pitchFamily="18" charset="0"/>
                <a:cs typeface="Times New Roman" panose="02020603050405020304" pitchFamily="18" charset="0"/>
              </a:endParaRPr>
            </a:p>
          </p:txBody>
        </p:sp>
        <p:cxnSp>
          <p:nvCxnSpPr>
            <p:cNvPr id="13" name="Curved Connector 12"/>
            <p:cNvCxnSpPr>
              <a:stCxn id="3" idx="0"/>
              <a:endCxn id="40" idx="0"/>
            </p:cNvCxnSpPr>
            <p:nvPr/>
          </p:nvCxnSpPr>
          <p:spPr>
            <a:xfrm rot="5400000" flipH="1" flipV="1">
              <a:off x="6270762" y="1121021"/>
              <a:ext cx="1258803" cy="1989122"/>
            </a:xfrm>
            <a:prstGeom prst="curvedConnector3">
              <a:avLst>
                <a:gd name="adj1" fmla="val 11816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Flowchart: Alternate Process 37"/>
            <p:cNvSpPr/>
            <p:nvPr/>
          </p:nvSpPr>
          <p:spPr>
            <a:xfrm>
              <a:off x="7256876" y="3046546"/>
              <a:ext cx="1783699" cy="382799"/>
            </a:xfrm>
            <a:prstGeom prst="flowChartAlternate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Missing Values</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40" name="Oval 39"/>
            <p:cNvSpPr/>
            <p:nvPr/>
          </p:nvSpPr>
          <p:spPr>
            <a:xfrm>
              <a:off x="7225046" y="1486180"/>
              <a:ext cx="1339356" cy="10448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Times New Roman" panose="02020603050405020304" pitchFamily="18" charset="0"/>
                <a:cs typeface="Times New Roman" panose="02020603050405020304" pitchFamily="18" charset="0"/>
              </a:endParaRPr>
            </a:p>
          </p:txBody>
        </p:sp>
        <p:sp>
          <p:nvSpPr>
            <p:cNvPr id="19" name="Rectangle 18"/>
            <p:cNvSpPr/>
            <p:nvPr/>
          </p:nvSpPr>
          <p:spPr>
            <a:xfrm>
              <a:off x="7371170" y="1853826"/>
              <a:ext cx="1132701" cy="307777"/>
            </a:xfrm>
            <a:prstGeom prst="rect">
              <a:avLst/>
            </a:prstGeom>
          </p:spPr>
          <p:txBody>
            <a:bodyPr wrap="square">
              <a:spAutoFit/>
            </a:bodyPr>
            <a:lstStyle/>
            <a:p>
              <a:pPr algn="ctr"/>
              <a:r>
                <a:rPr lang="en-IN" sz="1400" dirty="0" smtClean="0">
                  <a:latin typeface="Times New Roman" panose="02020603050405020304" pitchFamily="18" charset="0"/>
                  <a:cs typeface="Times New Roman" panose="02020603050405020304" pitchFamily="18" charset="0"/>
                </a:rPr>
                <a:t>Pre render</a:t>
              </a:r>
              <a:endParaRPr lang="en-IN" sz="1400" dirty="0">
                <a:latin typeface="Times New Roman" panose="02020603050405020304" pitchFamily="18" charset="0"/>
                <a:cs typeface="Times New Roman" panose="02020603050405020304" pitchFamily="18" charset="0"/>
              </a:endParaRPr>
            </a:p>
          </p:txBody>
        </p:sp>
        <p:sp>
          <p:nvSpPr>
            <p:cNvPr id="42" name="Flowchart: Alternate Process 41"/>
            <p:cNvSpPr/>
            <p:nvPr/>
          </p:nvSpPr>
          <p:spPr>
            <a:xfrm>
              <a:off x="9496162" y="2115582"/>
              <a:ext cx="1319602" cy="629401"/>
            </a:xfrm>
            <a:prstGeom prst="flowChartAlternate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Label Encoding</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43" name="Elbow Connector 42"/>
            <p:cNvCxnSpPr>
              <a:stCxn id="40" idx="6"/>
              <a:endCxn id="42" idx="0"/>
            </p:cNvCxnSpPr>
            <p:nvPr/>
          </p:nvCxnSpPr>
          <p:spPr>
            <a:xfrm>
              <a:off x="8564402" y="2008602"/>
              <a:ext cx="1591561" cy="10698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40" idx="4"/>
              <a:endCxn id="38" idx="0"/>
            </p:cNvCxnSpPr>
            <p:nvPr/>
          </p:nvCxnSpPr>
          <p:spPr>
            <a:xfrm rot="16200000" flipH="1">
              <a:off x="7763964" y="2661783"/>
              <a:ext cx="515523" cy="25400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6230485" y="4837438"/>
              <a:ext cx="1339356" cy="10448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Times New Roman" panose="02020603050405020304" pitchFamily="18" charset="0"/>
                <a:cs typeface="Times New Roman" panose="02020603050405020304" pitchFamily="18" charset="0"/>
              </a:endParaRPr>
            </a:p>
          </p:txBody>
        </p:sp>
        <p:sp>
          <p:nvSpPr>
            <p:cNvPr id="48" name="Rectangle 47"/>
            <p:cNvSpPr/>
            <p:nvPr/>
          </p:nvSpPr>
          <p:spPr>
            <a:xfrm>
              <a:off x="6333812" y="5115473"/>
              <a:ext cx="1132701" cy="523220"/>
            </a:xfrm>
            <a:prstGeom prst="rect">
              <a:avLst/>
            </a:prstGeom>
          </p:spPr>
          <p:txBody>
            <a:bodyPr wrap="square">
              <a:spAutoFit/>
            </a:bodyPr>
            <a:lstStyle/>
            <a:p>
              <a:pPr algn="ctr"/>
              <a:r>
                <a:rPr lang="en-IN" sz="1400" dirty="0" smtClean="0">
                  <a:latin typeface="Times New Roman" panose="02020603050405020304" pitchFamily="18" charset="0"/>
                  <a:cs typeface="Times New Roman" panose="02020603050405020304" pitchFamily="18" charset="0"/>
                </a:rPr>
                <a:t>Test &amp; Train Data</a:t>
              </a:r>
              <a:endParaRPr lang="en-IN" sz="1400" dirty="0">
                <a:latin typeface="Times New Roman" panose="02020603050405020304" pitchFamily="18" charset="0"/>
                <a:cs typeface="Times New Roman" panose="02020603050405020304" pitchFamily="18" charset="0"/>
              </a:endParaRPr>
            </a:p>
          </p:txBody>
        </p:sp>
        <p:cxnSp>
          <p:nvCxnSpPr>
            <p:cNvPr id="49" name="Curved Connector 48"/>
            <p:cNvCxnSpPr>
              <a:stCxn id="3" idx="4"/>
              <a:endCxn id="47" idx="0"/>
            </p:cNvCxnSpPr>
            <p:nvPr/>
          </p:nvCxnSpPr>
          <p:spPr>
            <a:xfrm rot="16200000" flipH="1">
              <a:off x="6039235" y="3976510"/>
              <a:ext cx="727294" cy="994561"/>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2964710" y="2531022"/>
              <a:ext cx="1339356" cy="10448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Times New Roman" panose="02020603050405020304" pitchFamily="18" charset="0"/>
                <a:cs typeface="Times New Roman" panose="02020603050405020304" pitchFamily="18" charset="0"/>
              </a:endParaRPr>
            </a:p>
          </p:txBody>
        </p:sp>
        <p:sp>
          <p:nvSpPr>
            <p:cNvPr id="54" name="Rectangle 53"/>
            <p:cNvSpPr/>
            <p:nvPr/>
          </p:nvSpPr>
          <p:spPr>
            <a:xfrm>
              <a:off x="3024562" y="2930168"/>
              <a:ext cx="1219649" cy="307777"/>
            </a:xfrm>
            <a:prstGeom prst="rect">
              <a:avLst/>
            </a:prstGeom>
          </p:spPr>
          <p:txBody>
            <a:bodyPr wrap="square">
              <a:spAutoFit/>
            </a:bodyPr>
            <a:lstStyle/>
            <a:p>
              <a:pPr algn="ctr"/>
              <a:r>
                <a:rPr lang="en-IN" sz="1400" dirty="0" smtClean="0">
                  <a:latin typeface="Times New Roman" panose="02020603050405020304" pitchFamily="18" charset="0"/>
                  <a:cs typeface="Times New Roman" panose="02020603050405020304" pitchFamily="18" charset="0"/>
                </a:rPr>
                <a:t>Classification</a:t>
              </a:r>
              <a:endParaRPr lang="en-IN" sz="1400" dirty="0">
                <a:latin typeface="Times New Roman" panose="02020603050405020304" pitchFamily="18" charset="0"/>
                <a:cs typeface="Times New Roman" panose="02020603050405020304" pitchFamily="18" charset="0"/>
              </a:endParaRPr>
            </a:p>
          </p:txBody>
        </p:sp>
        <p:cxnSp>
          <p:nvCxnSpPr>
            <p:cNvPr id="55" name="Curved Connector 54"/>
            <p:cNvCxnSpPr>
              <a:stCxn id="3" idx="2"/>
              <a:endCxn id="53" idx="0"/>
            </p:cNvCxnSpPr>
            <p:nvPr/>
          </p:nvCxnSpPr>
          <p:spPr>
            <a:xfrm rot="10800000">
              <a:off x="3634388" y="2531022"/>
              <a:ext cx="1454044" cy="896542"/>
            </a:xfrm>
            <a:prstGeom prst="curvedConnector4">
              <a:avLst>
                <a:gd name="adj1" fmla="val 26972"/>
                <a:gd name="adj2" fmla="val 1254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Flowchart: Alternate Process 56"/>
            <p:cNvSpPr/>
            <p:nvPr/>
          </p:nvSpPr>
          <p:spPr>
            <a:xfrm>
              <a:off x="2420717" y="4282390"/>
              <a:ext cx="1783699" cy="555048"/>
            </a:xfrm>
            <a:prstGeom prst="flowChartAlternate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smtClean="0">
                  <a:solidFill>
                    <a:schemeClr val="tx1"/>
                  </a:solidFill>
                  <a:latin typeface="Times New Roman" panose="02020603050405020304" pitchFamily="18" charset="0"/>
                  <a:cs typeface="Times New Roman" panose="02020603050405020304" pitchFamily="18" charset="0"/>
                </a:rPr>
                <a:t>Multi Layer Perceptron (MLP)</a:t>
              </a:r>
              <a:endParaRPr lang="en-IN" sz="1400" dirty="0">
                <a:solidFill>
                  <a:schemeClr val="tx1"/>
                </a:solidFill>
                <a:latin typeface="Times New Roman" panose="02020603050405020304" pitchFamily="18" charset="0"/>
                <a:cs typeface="Times New Roman" panose="02020603050405020304" pitchFamily="18" charset="0"/>
              </a:endParaRPr>
            </a:p>
          </p:txBody>
        </p:sp>
        <p:cxnSp>
          <p:nvCxnSpPr>
            <p:cNvPr id="59" name="Elbow Connector 58"/>
            <p:cNvCxnSpPr>
              <a:stCxn id="53" idx="4"/>
              <a:endCxn id="57" idx="0"/>
            </p:cNvCxnSpPr>
            <p:nvPr/>
          </p:nvCxnSpPr>
          <p:spPr>
            <a:xfrm rot="5400000">
              <a:off x="3120216" y="3768217"/>
              <a:ext cx="706525" cy="32182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391173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4" name="Title 1"/>
          <p:cNvSpPr>
            <a:spLocks noGrp="1"/>
          </p:cNvSpPr>
          <p:nvPr>
            <p:ph type="title"/>
          </p:nvPr>
        </p:nvSpPr>
        <p:spPr>
          <a:xfrm>
            <a:off x="749771" y="125387"/>
            <a:ext cx="10515600" cy="956591"/>
          </a:xfrm>
        </p:spPr>
        <p:txBody>
          <a:bodyPr/>
          <a:lstStyle/>
          <a:p>
            <a:pPr algn="ctr"/>
            <a:r>
              <a:rPr lang="en-US" b="1" dirty="0" smtClean="0">
                <a:latin typeface="Times New Roman" panose="02020603050405020304" pitchFamily="18" charset="0"/>
                <a:cs typeface="Times New Roman" panose="02020603050405020304" pitchFamily="18" charset="0"/>
              </a:rPr>
              <a:t>DFD diagram – Level 2</a:t>
            </a:r>
            <a:endParaRPr lang="en-IN" b="1" dirty="0">
              <a:latin typeface="Times New Roman" panose="02020603050405020304" pitchFamily="18" charset="0"/>
              <a:cs typeface="Times New Roman" panose="02020603050405020304" pitchFamily="18" charset="0"/>
            </a:endParaRPr>
          </a:p>
        </p:txBody>
      </p:sp>
      <p:grpSp>
        <p:nvGrpSpPr>
          <p:cNvPr id="32" name="Group 31"/>
          <p:cNvGrpSpPr/>
          <p:nvPr/>
        </p:nvGrpSpPr>
        <p:grpSpPr>
          <a:xfrm>
            <a:off x="1668537" y="985850"/>
            <a:ext cx="8276417" cy="4900866"/>
            <a:chOff x="1668537" y="985850"/>
            <a:chExt cx="8276417" cy="4900866"/>
          </a:xfrm>
        </p:grpSpPr>
        <p:sp>
          <p:nvSpPr>
            <p:cNvPr id="3" name="Oval 2"/>
            <p:cNvSpPr/>
            <p:nvPr/>
          </p:nvSpPr>
          <p:spPr>
            <a:xfrm>
              <a:off x="4972523" y="2648855"/>
              <a:ext cx="1634339" cy="136516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8052516" y="2945714"/>
              <a:ext cx="1892438" cy="774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100" b="1"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CLASSIFICATION</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12" name="Straight Arrow Connector 11"/>
            <p:cNvCxnSpPr/>
            <p:nvPr/>
          </p:nvCxnSpPr>
          <p:spPr>
            <a:xfrm>
              <a:off x="3555880" y="3117820"/>
              <a:ext cx="14456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606862" y="3153177"/>
              <a:ext cx="14456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6606862" y="3484309"/>
              <a:ext cx="1445654" cy="13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642913" y="2837779"/>
              <a:ext cx="1329610" cy="276999"/>
            </a:xfrm>
            <a:prstGeom prst="rect">
              <a:avLst/>
            </a:prstGeom>
            <a:noFill/>
          </p:spPr>
          <p:txBody>
            <a:bodyPr wrap="square" rtlCol="0">
              <a:spAutoFit/>
            </a:bodyPr>
            <a:lstStyle/>
            <a:p>
              <a:pPr algn="ctr"/>
              <a:r>
                <a:rPr lang="en-IN" sz="1200" dirty="0" smtClean="0">
                  <a:latin typeface="Times New Roman" panose="02020603050405020304" pitchFamily="18" charset="0"/>
                  <a:cs typeface="Times New Roman" panose="02020603050405020304" pitchFamily="18" charset="0"/>
                </a:rPr>
                <a:t>GLCM</a:t>
              </a:r>
              <a:endParaRPr lang="en-IN" sz="12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6599169" y="2771702"/>
              <a:ext cx="1329610" cy="338554"/>
            </a:xfrm>
            <a:prstGeom prst="rect">
              <a:avLst/>
            </a:prstGeom>
            <a:noFill/>
          </p:spPr>
          <p:txBody>
            <a:bodyPr wrap="square" rtlCol="0">
              <a:spAutoFit/>
            </a:bodyPr>
            <a:lstStyle/>
            <a:p>
              <a:pPr algn="ctr"/>
              <a:r>
                <a:rPr lang="en-IN" sz="1600" dirty="0" smtClean="0">
                  <a:latin typeface="Times New Roman" panose="02020603050405020304" pitchFamily="18" charset="0"/>
                  <a:cs typeface="Times New Roman" panose="02020603050405020304" pitchFamily="18" charset="0"/>
                </a:rPr>
                <a:t>VGG-19</a:t>
              </a:r>
              <a:endParaRPr lang="en-IN" sz="1600"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6693895" y="3482816"/>
              <a:ext cx="1329610" cy="338554"/>
            </a:xfrm>
            <a:prstGeom prst="rect">
              <a:avLst/>
            </a:prstGeom>
            <a:noFill/>
          </p:spPr>
          <p:txBody>
            <a:bodyPr wrap="square" rtlCol="0">
              <a:spAutoFit/>
            </a:bodyPr>
            <a:lstStyle/>
            <a:p>
              <a:pPr algn="ctr"/>
              <a:r>
                <a:rPr lang="en-IN" sz="1600" dirty="0" err="1" smtClean="0">
                  <a:latin typeface="Times New Roman" panose="02020603050405020304" pitchFamily="18" charset="0"/>
                  <a:cs typeface="Times New Roman" panose="02020603050405020304" pitchFamily="18" charset="0"/>
                </a:rPr>
                <a:t>MobileNet</a:t>
              </a:r>
              <a:endParaRPr lang="en-IN" sz="1600" dirty="0">
                <a:latin typeface="Times New Roman" panose="02020603050405020304" pitchFamily="18" charset="0"/>
                <a:cs typeface="Times New Roman" panose="02020603050405020304" pitchFamily="18" charset="0"/>
              </a:endParaRPr>
            </a:p>
          </p:txBody>
        </p:sp>
        <p:sp>
          <p:nvSpPr>
            <p:cNvPr id="27" name="TextBox 26"/>
            <p:cNvSpPr txBox="1"/>
            <p:nvPr/>
          </p:nvSpPr>
          <p:spPr>
            <a:xfrm>
              <a:off x="5117578" y="3054117"/>
              <a:ext cx="1329610" cy="584775"/>
            </a:xfrm>
            <a:prstGeom prst="rect">
              <a:avLst/>
            </a:prstGeom>
            <a:noFill/>
          </p:spPr>
          <p:txBody>
            <a:bodyPr wrap="square" rtlCol="0">
              <a:spAutoFit/>
            </a:bodyPr>
            <a:lstStyle/>
            <a:p>
              <a:pPr algn="ctr"/>
              <a:r>
                <a:rPr lang="en-IN" sz="1600" b="1" dirty="0" smtClean="0">
                  <a:latin typeface="Times New Roman" panose="02020603050405020304" pitchFamily="18" charset="0"/>
                  <a:cs typeface="Times New Roman" panose="02020603050405020304" pitchFamily="18" charset="0"/>
                </a:rPr>
                <a:t>Eye Disease &amp; Eye Blink</a:t>
              </a:r>
              <a:endParaRPr lang="en-IN" sz="1600" b="1" dirty="0">
                <a:latin typeface="Times New Roman" panose="02020603050405020304" pitchFamily="18" charset="0"/>
                <a:cs typeface="Times New Roman" panose="02020603050405020304" pitchFamily="18" charset="0"/>
              </a:endParaRPr>
            </a:p>
          </p:txBody>
        </p:sp>
        <p:sp>
          <p:nvSpPr>
            <p:cNvPr id="17" name="Rectangle 16"/>
            <p:cNvSpPr/>
            <p:nvPr/>
          </p:nvSpPr>
          <p:spPr>
            <a:xfrm>
              <a:off x="1668537" y="2897181"/>
              <a:ext cx="1892438" cy="774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100" b="1"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FEATURE EXTRACTION</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23" name="Straight Arrow Connector 22"/>
            <p:cNvCxnSpPr/>
            <p:nvPr/>
          </p:nvCxnSpPr>
          <p:spPr>
            <a:xfrm flipH="1" flipV="1">
              <a:off x="3543922" y="3494465"/>
              <a:ext cx="1445654" cy="13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972523" y="5112542"/>
              <a:ext cx="1892438" cy="774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100" b="1"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PERFORMANCE ANALYSIS</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9" name="Rectangle 28"/>
            <p:cNvSpPr/>
            <p:nvPr/>
          </p:nvSpPr>
          <p:spPr>
            <a:xfrm>
              <a:off x="4843473" y="985850"/>
              <a:ext cx="1892438" cy="774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100" b="1"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IMAGE SPLITTING</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6" name="Straight Arrow Connector 5"/>
            <p:cNvCxnSpPr/>
            <p:nvPr/>
          </p:nvCxnSpPr>
          <p:spPr>
            <a:xfrm>
              <a:off x="5525037" y="1760024"/>
              <a:ext cx="12878" cy="888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6007571" y="1760024"/>
              <a:ext cx="0" cy="888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537915" y="4014016"/>
              <a:ext cx="0" cy="10985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8" idx="0"/>
            </p:cNvCxnSpPr>
            <p:nvPr/>
          </p:nvCxnSpPr>
          <p:spPr>
            <a:xfrm flipV="1">
              <a:off x="5918742" y="4014016"/>
              <a:ext cx="0" cy="10985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656548" y="3543880"/>
              <a:ext cx="1329610" cy="276999"/>
            </a:xfrm>
            <a:prstGeom prst="rect">
              <a:avLst/>
            </a:prstGeom>
            <a:noFill/>
          </p:spPr>
          <p:txBody>
            <a:bodyPr wrap="square" rtlCol="0">
              <a:spAutoFit/>
            </a:bodyPr>
            <a:lstStyle/>
            <a:p>
              <a:pPr algn="ctr"/>
              <a:r>
                <a:rPr lang="en-IN" sz="1200" dirty="0" smtClean="0">
                  <a:latin typeface="Times New Roman" panose="02020603050405020304" pitchFamily="18" charset="0"/>
                  <a:cs typeface="Times New Roman" panose="02020603050405020304" pitchFamily="18" charset="0"/>
                </a:rPr>
                <a:t>Pre Render</a:t>
              </a:r>
              <a:endParaRPr lang="en-IN" sz="1200" dirty="0">
                <a:latin typeface="Times New Roman" panose="02020603050405020304" pitchFamily="18" charset="0"/>
                <a:cs typeface="Times New Roman" panose="02020603050405020304" pitchFamily="18" charset="0"/>
              </a:endParaRPr>
            </a:p>
          </p:txBody>
        </p:sp>
        <p:sp>
          <p:nvSpPr>
            <p:cNvPr id="34" name="TextBox 33"/>
            <p:cNvSpPr txBox="1"/>
            <p:nvPr/>
          </p:nvSpPr>
          <p:spPr>
            <a:xfrm>
              <a:off x="5856460" y="2089662"/>
              <a:ext cx="1329610" cy="338554"/>
            </a:xfrm>
            <a:prstGeom prst="rect">
              <a:avLst/>
            </a:prstGeom>
            <a:noFill/>
          </p:spPr>
          <p:txBody>
            <a:bodyPr wrap="square" rtlCol="0">
              <a:spAutoFit/>
            </a:bodyPr>
            <a:lstStyle/>
            <a:p>
              <a:pPr algn="ctr"/>
              <a:r>
                <a:rPr lang="en-IN" sz="1600" dirty="0" smtClean="0">
                  <a:latin typeface="Times New Roman" panose="02020603050405020304" pitchFamily="18" charset="0"/>
                  <a:cs typeface="Times New Roman" panose="02020603050405020304" pitchFamily="18" charset="0"/>
                </a:rPr>
                <a:t>Test Image</a:t>
              </a:r>
              <a:endParaRPr lang="en-IN" sz="1600" dirty="0">
                <a:latin typeface="Times New Roman" panose="02020603050405020304" pitchFamily="18" charset="0"/>
                <a:cs typeface="Times New Roman" panose="02020603050405020304" pitchFamily="18" charset="0"/>
              </a:endParaRPr>
            </a:p>
          </p:txBody>
        </p:sp>
        <p:sp>
          <p:nvSpPr>
            <p:cNvPr id="35" name="TextBox 34"/>
            <p:cNvSpPr txBox="1"/>
            <p:nvPr/>
          </p:nvSpPr>
          <p:spPr>
            <a:xfrm>
              <a:off x="4307718" y="2087514"/>
              <a:ext cx="1329610" cy="338554"/>
            </a:xfrm>
            <a:prstGeom prst="rect">
              <a:avLst/>
            </a:prstGeom>
            <a:noFill/>
          </p:spPr>
          <p:txBody>
            <a:bodyPr wrap="square" rtlCol="0">
              <a:spAutoFit/>
            </a:bodyPr>
            <a:lstStyle/>
            <a:p>
              <a:pPr algn="ctr"/>
              <a:r>
                <a:rPr lang="en-IN" sz="1600" dirty="0" smtClean="0">
                  <a:latin typeface="Times New Roman" panose="02020603050405020304" pitchFamily="18" charset="0"/>
                  <a:cs typeface="Times New Roman" panose="02020603050405020304" pitchFamily="18" charset="0"/>
                </a:rPr>
                <a:t>Train Image</a:t>
              </a:r>
              <a:endParaRPr lang="en-IN" sz="1600"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4303619" y="4339905"/>
              <a:ext cx="1329610" cy="584775"/>
            </a:xfrm>
            <a:prstGeom prst="rect">
              <a:avLst/>
            </a:prstGeom>
            <a:noFill/>
          </p:spPr>
          <p:txBody>
            <a:bodyPr wrap="square" rtlCol="0">
              <a:spAutoFit/>
            </a:bodyPr>
            <a:lstStyle/>
            <a:p>
              <a:pPr algn="ctr"/>
              <a:r>
                <a:rPr lang="en-IN" sz="1600" dirty="0" smtClean="0">
                  <a:latin typeface="Times New Roman" panose="02020603050405020304" pitchFamily="18" charset="0"/>
                  <a:cs typeface="Times New Roman" panose="02020603050405020304" pitchFamily="18" charset="0"/>
                </a:rPr>
                <a:t>Accuracy,</a:t>
              </a:r>
            </a:p>
            <a:p>
              <a:pPr algn="ctr"/>
              <a:r>
                <a:rPr lang="en-IN" sz="1600" dirty="0" smtClean="0">
                  <a:latin typeface="Times New Roman" panose="02020603050405020304" pitchFamily="18" charset="0"/>
                  <a:cs typeface="Times New Roman" panose="02020603050405020304" pitchFamily="18" charset="0"/>
                </a:rPr>
                <a:t>Error rate</a:t>
              </a:r>
              <a:endParaRPr lang="en-IN" sz="1600" dirty="0">
                <a:latin typeface="Times New Roman" panose="02020603050405020304" pitchFamily="18" charset="0"/>
                <a:cs typeface="Times New Roman" panose="02020603050405020304" pitchFamily="18" charset="0"/>
              </a:endParaRPr>
            </a:p>
          </p:txBody>
        </p:sp>
        <p:sp>
          <p:nvSpPr>
            <p:cNvPr id="37" name="TextBox 36"/>
            <p:cNvSpPr txBox="1"/>
            <p:nvPr/>
          </p:nvSpPr>
          <p:spPr>
            <a:xfrm>
              <a:off x="5867982" y="4337377"/>
              <a:ext cx="1329610" cy="338554"/>
            </a:xfrm>
            <a:prstGeom prst="rect">
              <a:avLst/>
            </a:prstGeom>
            <a:noFill/>
          </p:spPr>
          <p:txBody>
            <a:bodyPr wrap="square" rtlCol="0">
              <a:spAutoFit/>
            </a:bodyPr>
            <a:lstStyle/>
            <a:p>
              <a:pPr algn="ctr"/>
              <a:r>
                <a:rPr lang="en-IN" sz="1600" dirty="0" smtClean="0">
                  <a:latin typeface="Times New Roman" panose="02020603050405020304" pitchFamily="18" charset="0"/>
                  <a:cs typeface="Times New Roman" panose="02020603050405020304" pitchFamily="18" charset="0"/>
                </a:rPr>
                <a:t>Comparison</a:t>
              </a:r>
              <a:endParaRPr lang="en-IN" sz="16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7359835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System Requirements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28034" y="1690687"/>
            <a:ext cx="11018949" cy="4722991"/>
          </a:xfrm>
        </p:spPr>
        <p:txBody>
          <a:bodyPr>
            <a:normAutofit fontScale="92500" lnSpcReduction="20000"/>
          </a:bodyPr>
          <a:lstStyle/>
          <a:p>
            <a:pPr marL="0" indent="0" algn="just">
              <a:lnSpc>
                <a:spcPct val="150000"/>
              </a:lnSpc>
              <a:buNone/>
            </a:pPr>
            <a:r>
              <a:rPr lang="en-IN" sz="2000" b="1" dirty="0">
                <a:latin typeface="Times New Roman" panose="02020603050405020304" pitchFamily="18" charset="0"/>
                <a:cs typeface="Times New Roman" panose="02020603050405020304" pitchFamily="18" charset="0"/>
              </a:rPr>
              <a:t>HARDWARE REQUIREMENTS:</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System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Pentium IV 2.4 GHz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Hard Disk            :   200 GB</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smtClean="0">
                <a:latin typeface="Times New Roman" panose="02020603050405020304" pitchFamily="18" charset="0"/>
                <a:cs typeface="Times New Roman" panose="02020603050405020304" pitchFamily="18" charset="0"/>
              </a:rPr>
              <a:t>Ram</a:t>
            </a:r>
            <a:r>
              <a:rPr lang="en-US" sz="2000" dirty="0">
                <a:latin typeface="Times New Roman" panose="02020603050405020304" pitchFamily="18" charset="0"/>
                <a:cs typeface="Times New Roman" panose="02020603050405020304" pitchFamily="18" charset="0"/>
              </a:rPr>
              <a:t>	                 :   4GB</a:t>
            </a:r>
            <a:endParaRPr lang="en-IN" sz="2000" dirty="0">
              <a:latin typeface="Times New Roman" panose="02020603050405020304" pitchFamily="18" charset="0"/>
              <a:cs typeface="Times New Roman" panose="02020603050405020304" pitchFamily="18" charset="0"/>
            </a:endParaRPr>
          </a:p>
          <a:p>
            <a:pPr marL="0" indent="0" algn="just">
              <a:lnSpc>
                <a:spcPct val="150000"/>
              </a:lnSpc>
              <a:buNone/>
            </a:pPr>
            <a:r>
              <a:rPr lang="en-IN" sz="2000" b="1" dirty="0" smtClean="0">
                <a:latin typeface="Times New Roman" panose="02020603050405020304" pitchFamily="18" charset="0"/>
                <a:cs typeface="Times New Roman" panose="02020603050405020304" pitchFamily="18" charset="0"/>
              </a:rPr>
              <a:t>SOFTWARE </a:t>
            </a:r>
            <a:r>
              <a:rPr lang="en-IN" sz="2000" b="1" dirty="0">
                <a:latin typeface="Times New Roman" panose="02020603050405020304" pitchFamily="18" charset="0"/>
                <a:cs typeface="Times New Roman" panose="02020603050405020304" pitchFamily="18" charset="0"/>
              </a:rPr>
              <a:t>REQUIREMENTS:</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O/S                  	 :  Windows </a:t>
            </a:r>
            <a:r>
              <a:rPr lang="en-US" sz="2000" dirty="0" smtClean="0">
                <a:latin typeface="Times New Roman" panose="02020603050405020304" pitchFamily="18" charset="0"/>
                <a:cs typeface="Times New Roman" panose="02020603050405020304" pitchFamily="18" charset="0"/>
              </a:rPr>
              <a:t>10.</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Language	 :  Python</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Front End            : </a:t>
            </a:r>
            <a:r>
              <a:rPr lang="en-US" sz="2000" dirty="0" smtClean="0">
                <a:latin typeface="Times New Roman" panose="02020603050405020304" pitchFamily="18" charset="0"/>
                <a:cs typeface="Times New Roman" panose="02020603050405020304" pitchFamily="18" charset="0"/>
              </a:rPr>
              <a:t> Streamlit Framework</a:t>
            </a:r>
          </a:p>
          <a:p>
            <a:pPr lvl="0" algn="just">
              <a:lnSpc>
                <a:spcPct val="150000"/>
              </a:lnSpc>
            </a:pPr>
            <a:r>
              <a:rPr lang="en-US" sz="2000" dirty="0" smtClean="0">
                <a:latin typeface="Times New Roman" panose="02020603050405020304" pitchFamily="18" charset="0"/>
                <a:cs typeface="Times New Roman" panose="02020603050405020304" pitchFamily="18" charset="0"/>
              </a:rPr>
              <a:t>Software used      :   Anaconda </a:t>
            </a:r>
            <a:r>
              <a:rPr lang="en-US" sz="2000" dirty="0">
                <a:latin typeface="Times New Roman" panose="02020603050405020304" pitchFamily="18" charset="0"/>
                <a:cs typeface="Times New Roman" panose="02020603050405020304" pitchFamily="18" charset="0"/>
              </a:rPr>
              <a:t>Navigator – </a:t>
            </a:r>
            <a:r>
              <a:rPr lang="en-US" sz="2000" dirty="0" smtClean="0">
                <a:latin typeface="Times New Roman" panose="02020603050405020304" pitchFamily="18" charset="0"/>
                <a:cs typeface="Times New Roman" panose="02020603050405020304" pitchFamily="18" charset="0"/>
              </a:rPr>
              <a:t> Spyder IDE</a:t>
            </a:r>
            <a:endParaRPr lang="en-IN" sz="2000" dirty="0"/>
          </a:p>
          <a:p>
            <a:pPr lvl="0"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6460179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Modules – Dry Eye Prediction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5155" y="1690688"/>
            <a:ext cx="11031828" cy="4351338"/>
          </a:xfrm>
        </p:spPr>
        <p:txBody>
          <a:bodyPr>
            <a:normAutofit/>
          </a:bodyPr>
          <a:lstStyle/>
          <a:p>
            <a:pPr lvl="0" algn="just">
              <a:lnSpc>
                <a:spcPct val="150000"/>
              </a:lnSpc>
            </a:pPr>
            <a:r>
              <a:rPr lang="en-US" sz="2000" dirty="0" smtClean="0">
                <a:latin typeface="Times New Roman" panose="02020603050405020304" pitchFamily="18" charset="0"/>
                <a:cs typeface="Times New Roman" panose="02020603050405020304" pitchFamily="18" charset="0"/>
              </a:rPr>
              <a:t>Input </a:t>
            </a:r>
            <a:r>
              <a:rPr lang="en-US" sz="2000" dirty="0">
                <a:latin typeface="Times New Roman" panose="02020603050405020304" pitchFamily="18" charset="0"/>
                <a:cs typeface="Times New Roman" panose="02020603050405020304" pitchFamily="18" charset="0"/>
              </a:rPr>
              <a:t>and Pre render </a:t>
            </a:r>
            <a:endParaRPr lang="en-US" sz="2000" dirty="0" smtClean="0">
              <a:latin typeface="Times New Roman" panose="02020603050405020304" pitchFamily="18" charset="0"/>
              <a:cs typeface="Times New Roman" panose="02020603050405020304" pitchFamily="18" charset="0"/>
            </a:endParaRPr>
          </a:p>
          <a:p>
            <a:pPr lvl="0" algn="just">
              <a:lnSpc>
                <a:spcPct val="150000"/>
              </a:lnSpc>
            </a:pPr>
            <a:r>
              <a:rPr lang="en-US" sz="2000" dirty="0" smtClean="0">
                <a:latin typeface="Times New Roman" panose="02020603050405020304" pitchFamily="18" charset="0"/>
                <a:cs typeface="Times New Roman" panose="02020603050405020304" pitchFamily="18" charset="0"/>
              </a:rPr>
              <a:t>Data </a:t>
            </a:r>
            <a:r>
              <a:rPr lang="en-US" sz="2000" dirty="0">
                <a:latin typeface="Times New Roman" panose="02020603050405020304" pitchFamily="18" charset="0"/>
                <a:cs typeface="Times New Roman" panose="02020603050405020304" pitchFamily="18" charset="0"/>
              </a:rPr>
              <a:t>Splitting</a:t>
            </a:r>
          </a:p>
          <a:p>
            <a:pPr lvl="0" algn="just">
              <a:lnSpc>
                <a:spcPct val="150000"/>
              </a:lnSpc>
            </a:pPr>
            <a:r>
              <a:rPr lang="en-US" sz="2000" dirty="0" smtClean="0">
                <a:latin typeface="Times New Roman" panose="02020603050405020304" pitchFamily="18" charset="0"/>
                <a:cs typeface="Times New Roman" panose="02020603050405020304" pitchFamily="18" charset="0"/>
              </a:rPr>
              <a:t>Model </a:t>
            </a:r>
            <a:r>
              <a:rPr lang="en-US" sz="2000" dirty="0">
                <a:latin typeface="Times New Roman" panose="02020603050405020304" pitchFamily="18" charset="0"/>
                <a:cs typeface="Times New Roman" panose="02020603050405020304" pitchFamily="18" charset="0"/>
              </a:rPr>
              <a:t>Generation</a:t>
            </a:r>
          </a:p>
          <a:p>
            <a:pPr lvl="0" algn="just">
              <a:lnSpc>
                <a:spcPct val="150000"/>
              </a:lnSpc>
            </a:pPr>
            <a:r>
              <a:rPr lang="en-US" sz="2000" dirty="0" smtClean="0">
                <a:latin typeface="Times New Roman" panose="02020603050405020304" pitchFamily="18" charset="0"/>
                <a:cs typeface="Times New Roman" panose="02020603050405020304" pitchFamily="18" charset="0"/>
              </a:rPr>
              <a:t>Prediction</a:t>
            </a:r>
            <a:endParaRPr lang="en-US" sz="2000" dirty="0">
              <a:latin typeface="Times New Roman" panose="02020603050405020304" pitchFamily="18" charset="0"/>
              <a:cs typeface="Times New Roman" panose="02020603050405020304" pitchFamily="18" charset="0"/>
            </a:endParaRPr>
          </a:p>
          <a:p>
            <a:pPr lvl="0" algn="just">
              <a:lnSpc>
                <a:spcPct val="150000"/>
              </a:lnSpc>
            </a:pPr>
            <a:r>
              <a:rPr lang="en-US" sz="2000" dirty="0" smtClean="0">
                <a:latin typeface="Times New Roman" panose="02020603050405020304" pitchFamily="18" charset="0"/>
                <a:cs typeface="Times New Roman" panose="02020603050405020304" pitchFamily="18" charset="0"/>
              </a:rPr>
              <a:t>Result </a:t>
            </a:r>
            <a:r>
              <a:rPr lang="en-US" sz="2000" dirty="0">
                <a:latin typeface="Times New Roman" panose="02020603050405020304" pitchFamily="18" charset="0"/>
                <a:cs typeface="Times New Roman" panose="02020603050405020304" pitchFamily="18" charset="0"/>
              </a:rPr>
              <a:t>Generation</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2264121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774" y="2351691"/>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Modules description</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8806796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Input and Preliminary process</a:t>
            </a:r>
          </a:p>
        </p:txBody>
      </p:sp>
      <p:sp>
        <p:nvSpPr>
          <p:cNvPr id="3" name="Content Placeholder 2"/>
          <p:cNvSpPr>
            <a:spLocks noGrp="1"/>
          </p:cNvSpPr>
          <p:nvPr>
            <p:ph idx="1"/>
          </p:nvPr>
        </p:nvSpPr>
        <p:spPr>
          <a:xfrm>
            <a:off x="489396" y="1455313"/>
            <a:ext cx="11075831" cy="4906850"/>
          </a:xfrm>
        </p:spPr>
        <p:txBody>
          <a:bodyPr>
            <a:normAutofit fontScale="92500" lnSpcReduction="10000"/>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The </a:t>
            </a:r>
            <a:r>
              <a:rPr lang="en-IN" sz="2000" dirty="0">
                <a:latin typeface="Times New Roman" panose="02020603050405020304" pitchFamily="18" charset="0"/>
                <a:cs typeface="Times New Roman" panose="02020603050405020304" pitchFamily="18" charset="0"/>
              </a:rPr>
              <a:t>initial step involves selecting the Dry eye disease dataset from </a:t>
            </a:r>
            <a:r>
              <a:rPr lang="en-IN" sz="2000" dirty="0" err="1">
                <a:latin typeface="Times New Roman" panose="02020603050405020304" pitchFamily="18" charset="0"/>
                <a:cs typeface="Times New Roman" panose="02020603050405020304" pitchFamily="18" charset="0"/>
              </a:rPr>
              <a:t>Kaggle</a:t>
            </a:r>
            <a:r>
              <a:rPr lang="en-IN" sz="2000" dirty="0">
                <a:latin typeface="Times New Roman" panose="02020603050405020304" pitchFamily="18" charset="0"/>
                <a:cs typeface="Times New Roman" panose="02020603050405020304" pitchFamily="18" charset="0"/>
              </a:rPr>
              <a:t>, which is provided in a CSV file format. (</a:t>
            </a:r>
            <a:r>
              <a:rPr lang="en-IN" sz="2000" dirty="0">
                <a:latin typeface="Times New Roman" panose="02020603050405020304" pitchFamily="18" charset="0"/>
                <a:cs typeface="Times New Roman" panose="02020603050405020304" pitchFamily="18" charset="0"/>
                <a:hlinkClick r:id="rId2"/>
              </a:rPr>
              <a:t>https://</a:t>
            </a:r>
            <a:r>
              <a:rPr lang="en-IN" sz="2000" dirty="0" smtClean="0">
                <a:latin typeface="Times New Roman" panose="02020603050405020304" pitchFamily="18" charset="0"/>
                <a:cs typeface="Times New Roman" panose="02020603050405020304" pitchFamily="18" charset="0"/>
                <a:hlinkClick r:id="rId2"/>
              </a:rPr>
              <a:t>www.kaggle.com/datasets/shankar24397/dry-eye-disease-in-medical-students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smtClean="0">
                <a:latin typeface="Times New Roman" panose="02020603050405020304" pitchFamily="18" charset="0"/>
                <a:cs typeface="Times New Roman" panose="02020603050405020304" pitchFamily="18" charset="0"/>
              </a:rPr>
              <a:t>Here </a:t>
            </a:r>
            <a:r>
              <a:rPr lang="en-IN" sz="2000" dirty="0">
                <a:latin typeface="Times New Roman" panose="02020603050405020304" pitchFamily="18" charset="0"/>
                <a:cs typeface="Times New Roman" panose="02020603050405020304" pitchFamily="18" charset="0"/>
              </a:rPr>
              <a:t>we can fetch or read or load the collected data by using the pandas packages</a:t>
            </a:r>
            <a:r>
              <a:rPr lang="en-IN" sz="2000" dirty="0" smtClean="0">
                <a:latin typeface="Times New Roman" panose="02020603050405020304" pitchFamily="18" charset="0"/>
                <a:cs typeface="Times New Roman" panose="02020603050405020304" pitchFamily="18" charset="0"/>
              </a:rPr>
              <a:t>.</a:t>
            </a:r>
          </a:p>
          <a:p>
            <a:pPr lvl="0" algn="just">
              <a:lnSpc>
                <a:spcPct val="150000"/>
              </a:lnSpc>
            </a:pPr>
            <a:r>
              <a:rPr lang="en-IN" sz="2000" dirty="0" smtClean="0">
                <a:latin typeface="Times New Roman" panose="02020603050405020304" pitchFamily="18" charset="0"/>
                <a:cs typeface="Times New Roman" panose="02020603050405020304" pitchFamily="18" charset="0"/>
              </a:rPr>
              <a:t>Data </a:t>
            </a:r>
            <a:r>
              <a:rPr lang="en-IN" sz="2000" dirty="0">
                <a:latin typeface="Times New Roman" panose="02020603050405020304" pitchFamily="18" charset="0"/>
                <a:cs typeface="Times New Roman" panose="02020603050405020304" pitchFamily="18" charset="0"/>
              </a:rPr>
              <a:t>preprocessing is a crucial step to ensure the dataset is clean and ready for analysis. </a:t>
            </a:r>
          </a:p>
          <a:p>
            <a:pPr lvl="0" algn="just">
              <a:lnSpc>
                <a:spcPct val="150000"/>
              </a:lnSpc>
            </a:pPr>
            <a:r>
              <a:rPr lang="en-IN" sz="2000" b="1" dirty="0" smtClean="0">
                <a:latin typeface="Times New Roman" panose="02020603050405020304" pitchFamily="18" charset="0"/>
                <a:cs typeface="Times New Roman" panose="02020603050405020304" pitchFamily="18" charset="0"/>
              </a:rPr>
              <a:t>Handling </a:t>
            </a:r>
            <a:r>
              <a:rPr lang="en-IN" sz="2000" b="1" dirty="0">
                <a:latin typeface="Times New Roman" panose="02020603050405020304" pitchFamily="18" charset="0"/>
                <a:cs typeface="Times New Roman" panose="02020603050405020304" pitchFamily="18" charset="0"/>
              </a:rPr>
              <a:t>Missing Values</a:t>
            </a:r>
            <a:r>
              <a:rPr lang="en-IN" sz="2000" dirty="0">
                <a:latin typeface="Times New Roman" panose="02020603050405020304" pitchFamily="18" charset="0"/>
                <a:cs typeface="Times New Roman" panose="02020603050405020304" pitchFamily="18" charset="0"/>
              </a:rPr>
              <a:t>: Missing values in the dataset can lead to inaccuracies in the analysis.</a:t>
            </a:r>
          </a:p>
          <a:p>
            <a:pPr lvl="0" algn="just">
              <a:lnSpc>
                <a:spcPct val="150000"/>
              </a:lnSpc>
            </a:pP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Methods such as imputation (replacing missing values with mean, median, or mode) or removal of records with missing values are employed to handle these gaps in the data.</a:t>
            </a:r>
          </a:p>
          <a:p>
            <a:pPr lvl="0" algn="just">
              <a:lnSpc>
                <a:spcPct val="150000"/>
              </a:lnSpc>
            </a:pPr>
            <a:r>
              <a:rPr lang="en-IN" sz="2000" b="1" dirty="0" smtClean="0">
                <a:latin typeface="Times New Roman" panose="02020603050405020304" pitchFamily="18" charset="0"/>
                <a:cs typeface="Times New Roman" panose="02020603050405020304" pitchFamily="18" charset="0"/>
              </a:rPr>
              <a:t>Label </a:t>
            </a:r>
            <a:r>
              <a:rPr lang="en-IN" sz="2000" b="1" dirty="0">
                <a:latin typeface="Times New Roman" panose="02020603050405020304" pitchFamily="18" charset="0"/>
                <a:cs typeface="Times New Roman" panose="02020603050405020304" pitchFamily="18" charset="0"/>
              </a:rPr>
              <a:t>Encoding</a:t>
            </a:r>
            <a:r>
              <a:rPr lang="en-IN" sz="2000" dirty="0">
                <a:latin typeface="Times New Roman" panose="02020603050405020304" pitchFamily="18" charset="0"/>
                <a:cs typeface="Times New Roman" panose="02020603050405020304" pitchFamily="18" charset="0"/>
              </a:rPr>
              <a:t>: To convert categorical variables (such as gender and emotions) into numerical format, label encoding is used. </a:t>
            </a:r>
            <a:r>
              <a:rPr lang="en-IN" sz="2000" dirty="0" smtClean="0">
                <a:latin typeface="Times New Roman" panose="02020603050405020304" pitchFamily="18" charset="0"/>
                <a:cs typeface="Times New Roman" panose="02020603050405020304" pitchFamily="18" charset="0"/>
              </a:rPr>
              <a:t>This </a:t>
            </a:r>
            <a:r>
              <a:rPr lang="en-IN" sz="2000" dirty="0">
                <a:latin typeface="Times New Roman" panose="02020603050405020304" pitchFamily="18" charset="0"/>
                <a:cs typeface="Times New Roman" panose="02020603050405020304" pitchFamily="18" charset="0"/>
              </a:rPr>
              <a:t>process assigns a unique integer to each category, enabling machine learning algorithms to process these variables effectively.</a:t>
            </a:r>
          </a:p>
          <a:p>
            <a:pPr lvl="0"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6695716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Data Splitting </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99245" y="1481071"/>
            <a:ext cx="11359166" cy="4971244"/>
          </a:xfrm>
        </p:spPr>
        <p:txBody>
          <a:bodyPr>
            <a:normAutofit fontScale="92500" lnSpcReduction="10000"/>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During </a:t>
            </a:r>
            <a:r>
              <a:rPr lang="en-IN" sz="2000" dirty="0">
                <a:latin typeface="Times New Roman" panose="02020603050405020304" pitchFamily="18" charset="0"/>
                <a:cs typeface="Times New Roman" panose="02020603050405020304" pitchFamily="18" charset="0"/>
              </a:rPr>
              <a:t>the machine learning process, data are needed so that learning can take place. </a:t>
            </a:r>
          </a:p>
          <a:p>
            <a:pPr lvl="0" algn="just">
              <a:lnSpc>
                <a:spcPct val="150000"/>
              </a:lnSpc>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addition to the data required for training, test data are needed to evaluate the performance of the algorithm in order to see how well it works. </a:t>
            </a:r>
          </a:p>
          <a:p>
            <a:pPr lvl="0" algn="just">
              <a:lnSpc>
                <a:spcPct val="150000"/>
              </a:lnSpc>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our process, we considered 70% of the input dataset to be the training data and the remaining 30% to be the testing data.</a:t>
            </a:r>
          </a:p>
          <a:p>
            <a:pPr lvl="0" algn="just">
              <a:lnSpc>
                <a:spcPct val="150000"/>
              </a:lnSpc>
            </a:pPr>
            <a:r>
              <a:rPr lang="en-IN" sz="2000" dirty="0" smtClean="0">
                <a:latin typeface="Times New Roman" panose="02020603050405020304" pitchFamily="18" charset="0"/>
                <a:cs typeface="Times New Roman" panose="02020603050405020304" pitchFamily="18" charset="0"/>
              </a:rPr>
              <a:t>Data </a:t>
            </a:r>
            <a:r>
              <a:rPr lang="en-IN" sz="2000" dirty="0">
                <a:latin typeface="Times New Roman" panose="02020603050405020304" pitchFamily="18" charset="0"/>
                <a:cs typeface="Times New Roman" panose="02020603050405020304" pitchFamily="18" charset="0"/>
              </a:rPr>
              <a:t>splitting is the act of partitioning available data into two portions, usually for cross-validator purposes.  </a:t>
            </a:r>
          </a:p>
          <a:p>
            <a:pPr lvl="0" algn="just">
              <a:lnSpc>
                <a:spcPct val="150000"/>
              </a:lnSpc>
            </a:pPr>
            <a:r>
              <a:rPr lang="en-IN" sz="2000" dirty="0" smtClean="0">
                <a:latin typeface="Times New Roman" panose="02020603050405020304" pitchFamily="18" charset="0"/>
                <a:cs typeface="Times New Roman" panose="02020603050405020304" pitchFamily="18" charset="0"/>
              </a:rPr>
              <a:t>One </a:t>
            </a:r>
            <a:r>
              <a:rPr lang="en-IN" sz="2000" dirty="0">
                <a:latin typeface="Times New Roman" panose="02020603050405020304" pitchFamily="18" charset="0"/>
                <a:cs typeface="Times New Roman" panose="02020603050405020304" pitchFamily="18" charset="0"/>
              </a:rPr>
              <a:t>Portion of the data is used to develop a predictive model and the other to evaluate the model's performance.</a:t>
            </a:r>
          </a:p>
          <a:p>
            <a:pPr lvl="0" algn="just">
              <a:lnSpc>
                <a:spcPct val="150000"/>
              </a:lnSpc>
            </a:pPr>
            <a:r>
              <a:rPr lang="en-IN" sz="2000" dirty="0" smtClean="0">
                <a:latin typeface="Times New Roman" panose="02020603050405020304" pitchFamily="18" charset="0"/>
                <a:cs typeface="Times New Roman" panose="02020603050405020304" pitchFamily="18" charset="0"/>
              </a:rPr>
              <a:t>Separating </a:t>
            </a:r>
            <a:r>
              <a:rPr lang="en-IN" sz="2000" dirty="0">
                <a:latin typeface="Times New Roman" panose="02020603050405020304" pitchFamily="18" charset="0"/>
                <a:cs typeface="Times New Roman" panose="02020603050405020304" pitchFamily="18" charset="0"/>
              </a:rPr>
              <a:t>data into training and testing sets is an important part of evaluating data mining models. </a:t>
            </a:r>
          </a:p>
          <a:p>
            <a:pPr lvl="0" algn="just">
              <a:lnSpc>
                <a:spcPct val="150000"/>
              </a:lnSpc>
            </a:pPr>
            <a:r>
              <a:rPr lang="en-IN" sz="2000" dirty="0" smtClean="0">
                <a:latin typeface="Times New Roman" panose="02020603050405020304" pitchFamily="18" charset="0"/>
                <a:cs typeface="Times New Roman" panose="02020603050405020304" pitchFamily="18" charset="0"/>
              </a:rPr>
              <a:t>Typically</a:t>
            </a:r>
            <a:r>
              <a:rPr lang="en-IN" sz="2000" dirty="0">
                <a:latin typeface="Times New Roman" panose="02020603050405020304" pitchFamily="18" charset="0"/>
                <a:cs typeface="Times New Roman" panose="02020603050405020304" pitchFamily="18" charset="0"/>
              </a:rPr>
              <a:t>, when you separate a data set into a training set and testing set, most of the data is used for training, and a smaller portion of the data is used for testing.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481539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Model Generation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7881" y="1529589"/>
            <a:ext cx="11230377" cy="4948484"/>
          </a:xfrm>
        </p:spPr>
        <p:txBody>
          <a:bodyPr>
            <a:normAutofit fontScale="92500" lnSpcReduction="10000"/>
          </a:bodyPr>
          <a:lstStyle/>
          <a:p>
            <a:pPr lvl="0" algn="just">
              <a:lnSpc>
                <a:spcPct val="150000"/>
              </a:lnSpc>
            </a:pPr>
            <a:r>
              <a:rPr lang="en-IN" sz="2000" dirty="0">
                <a:latin typeface="Times New Roman" panose="02020603050405020304" pitchFamily="18" charset="0"/>
                <a:cs typeface="Times New Roman" panose="02020603050405020304" pitchFamily="18" charset="0"/>
              </a:rPr>
              <a:t>A Multi-Layer Perceptron (MLP) is a type of artificial neural network used in machine learning and pattern recognition. It consists of multiple layers of nodes, including an input layer, one or more hidden layers, and an output layer. Each node, or neuron, in a layer is connected to every node in the subsequent layer, allowing the network to learn complex patterns through weighted </a:t>
            </a:r>
            <a:r>
              <a:rPr lang="en-IN" sz="2000" dirty="0" smtClean="0">
                <a:latin typeface="Times New Roman" panose="02020603050405020304" pitchFamily="18" charset="0"/>
                <a:cs typeface="Times New Roman" panose="02020603050405020304" pitchFamily="18" charset="0"/>
              </a:rPr>
              <a:t>connections.</a:t>
            </a:r>
          </a:p>
          <a:p>
            <a:pPr lvl="0" algn="just">
              <a:lnSpc>
                <a:spcPct val="150000"/>
              </a:lnSpc>
            </a:pPr>
            <a:r>
              <a:rPr lang="en-IN" sz="2000" dirty="0">
                <a:latin typeface="Times New Roman" panose="02020603050405020304" pitchFamily="18" charset="0"/>
                <a:cs typeface="Times New Roman" panose="02020603050405020304" pitchFamily="18" charset="0"/>
              </a:rPr>
              <a:t>1.	</a:t>
            </a:r>
            <a:r>
              <a:rPr lang="en-IN" sz="2000" dirty="0" err="1">
                <a:latin typeface="Times New Roman" panose="02020603050405020304" pitchFamily="18" charset="0"/>
                <a:cs typeface="Times New Roman" panose="02020603050405020304" pitchFamily="18" charset="0"/>
              </a:rPr>
              <a:t>Feedforward</a:t>
            </a:r>
            <a:r>
              <a:rPr lang="en-IN" sz="2000" dirty="0">
                <a:latin typeface="Times New Roman" panose="02020603050405020304" pitchFamily="18" charset="0"/>
                <a:cs typeface="Times New Roman" panose="02020603050405020304" pitchFamily="18" charset="0"/>
              </a:rPr>
              <a:t> Structure: Data flows in one direction from the input layer through the hidden layers to the output layer, with no cycles or loops.</a:t>
            </a:r>
          </a:p>
          <a:p>
            <a:pPr lvl="0" algn="just">
              <a:lnSpc>
                <a:spcPct val="150000"/>
              </a:lnSpc>
            </a:pPr>
            <a:r>
              <a:rPr lang="en-IN" sz="2000" dirty="0">
                <a:latin typeface="Times New Roman" panose="02020603050405020304" pitchFamily="18" charset="0"/>
                <a:cs typeface="Times New Roman" panose="02020603050405020304" pitchFamily="18" charset="0"/>
              </a:rPr>
              <a:t>2.	Activation Functions: Neurons in the hidden layers use activation functions (such as </a:t>
            </a:r>
            <a:r>
              <a:rPr lang="en-IN" sz="2000" dirty="0" err="1">
                <a:latin typeface="Times New Roman" panose="02020603050405020304" pitchFamily="18" charset="0"/>
                <a:cs typeface="Times New Roman" panose="02020603050405020304" pitchFamily="18" charset="0"/>
              </a:rPr>
              <a:t>ReLU</a:t>
            </a:r>
            <a:r>
              <a:rPr lang="en-IN" sz="2000" dirty="0">
                <a:latin typeface="Times New Roman" panose="02020603050405020304" pitchFamily="18" charset="0"/>
                <a:cs typeface="Times New Roman" panose="02020603050405020304" pitchFamily="18" charset="0"/>
              </a:rPr>
              <a:t>, sigmoid, or </a:t>
            </a:r>
            <a:r>
              <a:rPr lang="en-IN" sz="2000" dirty="0" err="1">
                <a:latin typeface="Times New Roman" panose="02020603050405020304" pitchFamily="18" charset="0"/>
                <a:cs typeface="Times New Roman" panose="02020603050405020304" pitchFamily="18" charset="0"/>
              </a:rPr>
              <a:t>tanh</a:t>
            </a:r>
            <a:r>
              <a:rPr lang="en-IN" sz="2000" dirty="0">
                <a:latin typeface="Times New Roman" panose="02020603050405020304" pitchFamily="18" charset="0"/>
                <a:cs typeface="Times New Roman" panose="02020603050405020304" pitchFamily="18" charset="0"/>
              </a:rPr>
              <a:t>) to introduce non-linearity, enabling the network to learn more complex relationships.</a:t>
            </a:r>
          </a:p>
          <a:p>
            <a:pPr lvl="0" algn="just">
              <a:lnSpc>
                <a:spcPct val="150000"/>
              </a:lnSpc>
            </a:pPr>
            <a:r>
              <a:rPr lang="en-IN" sz="2000" dirty="0">
                <a:latin typeface="Times New Roman" panose="02020603050405020304" pitchFamily="18" charset="0"/>
                <a:cs typeface="Times New Roman" panose="02020603050405020304" pitchFamily="18" charset="0"/>
              </a:rPr>
              <a:t>3.	</a:t>
            </a:r>
            <a:r>
              <a:rPr lang="en-IN" sz="2000" dirty="0" err="1">
                <a:latin typeface="Times New Roman" panose="02020603050405020304" pitchFamily="18" charset="0"/>
                <a:cs typeface="Times New Roman" panose="02020603050405020304" pitchFamily="18" charset="0"/>
              </a:rPr>
              <a:t>Backpropagation</a:t>
            </a:r>
            <a:r>
              <a:rPr lang="en-IN" sz="2000" dirty="0">
                <a:latin typeface="Times New Roman" panose="02020603050405020304" pitchFamily="18" charset="0"/>
                <a:cs typeface="Times New Roman" panose="02020603050405020304" pitchFamily="18" charset="0"/>
              </a:rPr>
              <a:t>: MLPs use </a:t>
            </a:r>
            <a:r>
              <a:rPr lang="en-IN" sz="2000" dirty="0" err="1">
                <a:latin typeface="Times New Roman" panose="02020603050405020304" pitchFamily="18" charset="0"/>
                <a:cs typeface="Times New Roman" panose="02020603050405020304" pitchFamily="18" charset="0"/>
              </a:rPr>
              <a:t>backpropagation</a:t>
            </a:r>
            <a:r>
              <a:rPr lang="en-IN" sz="2000" dirty="0">
                <a:latin typeface="Times New Roman" panose="02020603050405020304" pitchFamily="18" charset="0"/>
                <a:cs typeface="Times New Roman" panose="02020603050405020304" pitchFamily="18" charset="0"/>
              </a:rPr>
              <a:t> to train the network by adjusting weights based on the error between the predicted and actual outputs, minimizing this error through optimization algorithms like gradient descent.</a:t>
            </a:r>
            <a:endParaRPr lang="en-IN" sz="2000"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9858479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Prediction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92429" y="1812924"/>
            <a:ext cx="10959920" cy="4368935"/>
          </a:xfrm>
        </p:spPr>
        <p:txBody>
          <a:bodyPr>
            <a:normAutofit/>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Based </a:t>
            </a:r>
            <a:r>
              <a:rPr lang="en-IN" sz="2000" dirty="0">
                <a:latin typeface="Times New Roman" panose="02020603050405020304" pitchFamily="18" charset="0"/>
                <a:cs typeface="Times New Roman" panose="02020603050405020304" pitchFamily="18" charset="0"/>
              </a:rPr>
              <a:t>on the model's analysis, it produces a prediction output. </a:t>
            </a:r>
          </a:p>
          <a:p>
            <a:pPr lvl="0" algn="just">
              <a:lnSpc>
                <a:spcPct val="150000"/>
              </a:lnSpc>
            </a:pPr>
            <a:r>
              <a:rPr lang="en-IN" sz="2000" dirty="0" smtClean="0">
                <a:latin typeface="Times New Roman" panose="02020603050405020304" pitchFamily="18" charset="0"/>
                <a:cs typeface="Times New Roman" panose="02020603050405020304" pitchFamily="18" charset="0"/>
              </a:rPr>
              <a:t>This </a:t>
            </a:r>
            <a:r>
              <a:rPr lang="en-IN" sz="2000" dirty="0">
                <a:latin typeface="Times New Roman" panose="02020603050405020304" pitchFamily="18" charset="0"/>
                <a:cs typeface="Times New Roman" panose="02020603050405020304" pitchFamily="18" charset="0"/>
              </a:rPr>
              <a:t>output is typically a binary classification indicating whether the individual is likely to be affected by dry eye disease or not. </a:t>
            </a:r>
            <a:endParaRPr lang="en-IN" sz="2000" dirty="0" smtClean="0">
              <a:latin typeface="Times New Roman" panose="02020603050405020304" pitchFamily="18" charset="0"/>
              <a:cs typeface="Times New Roman" panose="02020603050405020304" pitchFamily="18" charset="0"/>
            </a:endParaRPr>
          </a:p>
          <a:p>
            <a:pPr lvl="0" algn="just">
              <a:lnSpc>
                <a:spcPct val="150000"/>
              </a:lnSpc>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some models, it might also provide a probability score reflecting the likelihood of the disease.</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2990910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Modules –Eye Disease &amp; Eye Blink</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5155" y="1690688"/>
            <a:ext cx="11031828" cy="4351338"/>
          </a:xfrm>
        </p:spPr>
        <p:txBody>
          <a:bodyPr>
            <a:normAutofit/>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Input </a:t>
            </a:r>
            <a:r>
              <a:rPr lang="en-IN" sz="2000" dirty="0">
                <a:latin typeface="Times New Roman" panose="02020603050405020304" pitchFamily="18" charset="0"/>
                <a:cs typeface="Times New Roman" panose="02020603050405020304" pitchFamily="18" charset="0"/>
              </a:rPr>
              <a:t>and Pre render</a:t>
            </a:r>
          </a:p>
          <a:p>
            <a:pPr lvl="0" algn="just">
              <a:lnSpc>
                <a:spcPct val="150000"/>
              </a:lnSpc>
            </a:pPr>
            <a:r>
              <a:rPr lang="en-IN" sz="2000" dirty="0" smtClean="0">
                <a:latin typeface="Times New Roman" panose="02020603050405020304" pitchFamily="18" charset="0"/>
                <a:cs typeface="Times New Roman" panose="02020603050405020304" pitchFamily="18" charset="0"/>
              </a:rPr>
              <a:t>Feature </a:t>
            </a:r>
            <a:r>
              <a:rPr lang="en-IN" sz="2000" dirty="0">
                <a:latin typeface="Times New Roman" panose="02020603050405020304" pitchFamily="18" charset="0"/>
                <a:cs typeface="Times New Roman" panose="02020603050405020304" pitchFamily="18" charset="0"/>
              </a:rPr>
              <a:t>Extraction</a:t>
            </a:r>
          </a:p>
          <a:p>
            <a:pPr lvl="0" algn="just">
              <a:lnSpc>
                <a:spcPct val="150000"/>
              </a:lnSpc>
            </a:pPr>
            <a:r>
              <a:rPr lang="en-IN" sz="2000" dirty="0" smtClean="0">
                <a:latin typeface="Times New Roman" panose="02020603050405020304" pitchFamily="18" charset="0"/>
                <a:cs typeface="Times New Roman" panose="02020603050405020304" pitchFamily="18" charset="0"/>
              </a:rPr>
              <a:t>Image </a:t>
            </a:r>
            <a:r>
              <a:rPr lang="en-IN" sz="2000" dirty="0">
                <a:latin typeface="Times New Roman" panose="02020603050405020304" pitchFamily="18" charset="0"/>
                <a:cs typeface="Times New Roman" panose="02020603050405020304" pitchFamily="18" charset="0"/>
              </a:rPr>
              <a:t>splitting </a:t>
            </a:r>
          </a:p>
          <a:p>
            <a:pPr lvl="0" algn="just">
              <a:lnSpc>
                <a:spcPct val="150000"/>
              </a:lnSpc>
            </a:pPr>
            <a:r>
              <a:rPr lang="en-IN" sz="2000" dirty="0" smtClean="0">
                <a:latin typeface="Times New Roman" panose="02020603050405020304" pitchFamily="18" charset="0"/>
                <a:cs typeface="Times New Roman" panose="02020603050405020304" pitchFamily="18" charset="0"/>
              </a:rPr>
              <a:t>Classification</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smtClean="0">
                <a:latin typeface="Times New Roman" panose="02020603050405020304" pitchFamily="18" charset="0"/>
                <a:cs typeface="Times New Roman" panose="02020603050405020304" pitchFamily="18" charset="0"/>
              </a:rPr>
              <a:t>Prediction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smtClean="0">
                <a:latin typeface="Times New Roman" panose="02020603050405020304" pitchFamily="18" charset="0"/>
                <a:cs typeface="Times New Roman" panose="02020603050405020304" pitchFamily="18" charset="0"/>
              </a:rPr>
              <a:t>Result </a:t>
            </a:r>
            <a:r>
              <a:rPr lang="en-IN" sz="2000" dirty="0">
                <a:latin typeface="Times New Roman" panose="02020603050405020304" pitchFamily="18" charset="0"/>
                <a:cs typeface="Times New Roman" panose="02020603050405020304" pitchFamily="18" charset="0"/>
              </a:rPr>
              <a:t>generation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6022738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774" y="2351691"/>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Modules description</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7364844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Input and Preliminary process</a:t>
            </a:r>
          </a:p>
        </p:txBody>
      </p:sp>
      <p:sp>
        <p:nvSpPr>
          <p:cNvPr id="3" name="Content Placeholder 2"/>
          <p:cNvSpPr>
            <a:spLocks noGrp="1"/>
          </p:cNvSpPr>
          <p:nvPr>
            <p:ph idx="1"/>
          </p:nvPr>
        </p:nvSpPr>
        <p:spPr>
          <a:xfrm>
            <a:off x="489396" y="1455313"/>
            <a:ext cx="11075831" cy="4906850"/>
          </a:xfrm>
        </p:spPr>
        <p:txBody>
          <a:bodyPr>
            <a:normAutofit/>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The </a:t>
            </a:r>
            <a:r>
              <a:rPr lang="en-IN" sz="2000" dirty="0">
                <a:latin typeface="Times New Roman" panose="02020603050405020304" pitchFamily="18" charset="0"/>
                <a:cs typeface="Times New Roman" panose="02020603050405020304" pitchFamily="18" charset="0"/>
              </a:rPr>
              <a:t>dataset, Eye disease and eye blink dataset is implemented as input. The dataset is taken from dataset repository. The input dataset is in the format ‘.</a:t>
            </a:r>
            <a:r>
              <a:rPr lang="en-IN" sz="2000" dirty="0" err="1">
                <a:latin typeface="Times New Roman" panose="02020603050405020304" pitchFamily="18" charset="0"/>
                <a:cs typeface="Times New Roman" panose="02020603050405020304" pitchFamily="18" charset="0"/>
              </a:rPr>
              <a:t>png</a:t>
            </a:r>
            <a:r>
              <a:rPr lang="en-IN" sz="2000" dirty="0">
                <a:latin typeface="Times New Roman" panose="02020603050405020304" pitchFamily="18" charset="0"/>
                <a:cs typeface="Times New Roman" panose="02020603050405020304" pitchFamily="18" charset="0"/>
              </a:rPr>
              <a:t>, ‘.jpg.</a:t>
            </a:r>
          </a:p>
          <a:p>
            <a:pPr lvl="0" algn="just">
              <a:lnSpc>
                <a:spcPct val="150000"/>
              </a:lnSpc>
            </a:pPr>
            <a:r>
              <a:rPr lang="en-IN" sz="2000" dirty="0" smtClean="0">
                <a:latin typeface="Times New Roman" panose="02020603050405020304" pitchFamily="18" charset="0"/>
                <a:cs typeface="Times New Roman" panose="02020603050405020304" pitchFamily="18" charset="0"/>
              </a:rPr>
              <a:t>Dataset </a:t>
            </a:r>
            <a:r>
              <a:rPr lang="en-IN" sz="2000" dirty="0">
                <a:latin typeface="Times New Roman" panose="02020603050405020304" pitchFamily="18" charset="0"/>
                <a:cs typeface="Times New Roman" panose="02020603050405020304" pitchFamily="18" charset="0"/>
              </a:rPr>
              <a:t>Link: (</a:t>
            </a:r>
            <a:r>
              <a:rPr lang="en-IN" sz="2000" dirty="0">
                <a:latin typeface="Times New Roman" panose="02020603050405020304" pitchFamily="18" charset="0"/>
                <a:cs typeface="Times New Roman" panose="02020603050405020304" pitchFamily="18" charset="0"/>
                <a:hlinkClick r:id="rId2"/>
              </a:rPr>
              <a:t>https://</a:t>
            </a:r>
            <a:r>
              <a:rPr lang="en-IN" sz="2000" dirty="0" smtClean="0">
                <a:latin typeface="Times New Roman" panose="02020603050405020304" pitchFamily="18" charset="0"/>
                <a:cs typeface="Times New Roman" panose="02020603050405020304" pitchFamily="18" charset="0"/>
                <a:hlinkClick r:id="rId2"/>
              </a:rPr>
              <a:t>github.com/MGD1K/MGD1k/tree/main</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t>
            </a:r>
          </a:p>
          <a:p>
            <a:pPr lvl="0" algn="just">
              <a:lnSpc>
                <a:spcPct val="150000"/>
              </a:lnSpc>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this step, we have to read or load the input image by using the </a:t>
            </a:r>
            <a:r>
              <a:rPr lang="en-IN" sz="2000" dirty="0" err="1">
                <a:latin typeface="Times New Roman" panose="02020603050405020304" pitchFamily="18" charset="0"/>
                <a:cs typeface="Times New Roman" panose="02020603050405020304" pitchFamily="18" charset="0"/>
              </a:rPr>
              <a:t>imread</a:t>
            </a:r>
            <a:r>
              <a:rPr lang="en-IN" sz="2000" dirty="0">
                <a:latin typeface="Times New Roman" panose="02020603050405020304" pitchFamily="18" charset="0"/>
                <a:cs typeface="Times New Roman" panose="02020603050405020304" pitchFamily="18" charset="0"/>
              </a:rPr>
              <a:t> () function.</a:t>
            </a:r>
          </a:p>
          <a:p>
            <a:pPr lvl="0" algn="just">
              <a:lnSpc>
                <a:spcPct val="150000"/>
              </a:lnSpc>
            </a:pPr>
            <a:r>
              <a:rPr lang="en-IN" sz="2000" dirty="0" smtClean="0">
                <a:latin typeface="Times New Roman" panose="02020603050405020304" pitchFamily="18" charset="0"/>
                <a:cs typeface="Times New Roman" panose="02020603050405020304" pitchFamily="18" charset="0"/>
              </a:rPr>
              <a:t>The </a:t>
            </a:r>
            <a:r>
              <a:rPr lang="en-IN" sz="2000" dirty="0">
                <a:latin typeface="Times New Roman" panose="02020603050405020304" pitchFamily="18" charset="0"/>
                <a:cs typeface="Times New Roman" panose="02020603050405020304" pitchFamily="18" charset="0"/>
              </a:rPr>
              <a:t>input image is used to detect or classify the affected or not.</a:t>
            </a:r>
          </a:p>
          <a:p>
            <a:pPr lvl="0" algn="just">
              <a:lnSpc>
                <a:spcPct val="150000"/>
              </a:lnSpc>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our process, we are used the </a:t>
            </a:r>
            <a:r>
              <a:rPr lang="en-IN" sz="2000" dirty="0" err="1">
                <a:latin typeface="Times New Roman" panose="02020603050405020304" pitchFamily="18" charset="0"/>
                <a:cs typeface="Times New Roman" panose="02020603050405020304" pitchFamily="18" charset="0"/>
              </a:rPr>
              <a:t>tkinter</a:t>
            </a:r>
            <a:r>
              <a:rPr lang="en-IN" sz="2000" dirty="0">
                <a:latin typeface="Times New Roman" panose="02020603050405020304" pitchFamily="18" charset="0"/>
                <a:cs typeface="Times New Roman" panose="02020603050405020304" pitchFamily="18" charset="0"/>
              </a:rPr>
              <a:t> file dialogue box for selecting the input image.</a:t>
            </a:r>
          </a:p>
          <a:p>
            <a:pPr lvl="0" algn="just">
              <a:lnSpc>
                <a:spcPct val="150000"/>
              </a:lnSpc>
            </a:pPr>
            <a:r>
              <a:rPr lang="en-IN" sz="2000" dirty="0" smtClean="0">
                <a:latin typeface="Times New Roman" panose="02020603050405020304" pitchFamily="18" charset="0"/>
                <a:cs typeface="Times New Roman" panose="02020603050405020304" pitchFamily="18" charset="0"/>
              </a:rPr>
              <a:t>Eye </a:t>
            </a:r>
            <a:r>
              <a:rPr lang="en-IN" sz="2000" dirty="0">
                <a:latin typeface="Times New Roman" panose="02020603050405020304" pitchFamily="18" charset="0"/>
                <a:cs typeface="Times New Roman" panose="02020603050405020304" pitchFamily="18" charset="0"/>
              </a:rPr>
              <a:t>disease images are sourced from </a:t>
            </a:r>
            <a:r>
              <a:rPr lang="en-IN" sz="2000" dirty="0" err="1">
                <a:latin typeface="Times New Roman" panose="02020603050405020304" pitchFamily="18" charset="0"/>
                <a:cs typeface="Times New Roman" panose="02020603050405020304" pitchFamily="18" charset="0"/>
              </a:rPr>
              <a:t>Kaggle</a:t>
            </a:r>
            <a:r>
              <a:rPr lang="en-IN" sz="2000" dirty="0">
                <a:latin typeface="Times New Roman" panose="02020603050405020304" pitchFamily="18" charset="0"/>
                <a:cs typeface="Times New Roman" panose="02020603050405020304" pitchFamily="18" charset="0"/>
              </a:rPr>
              <a:t> or similar repositories to ensure a diverse dataset encompassing various types and stages of Eye disease or Eye Blink. This step ensures that the dataset is representative and suitable for training and evaluation of the models.</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625122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Input and Preliminary </a:t>
            </a:r>
            <a:r>
              <a:rPr lang="en-US" b="1" dirty="0" smtClean="0">
                <a:latin typeface="Times New Roman" panose="02020603050405020304" pitchFamily="18" charset="0"/>
                <a:cs typeface="Times New Roman" panose="02020603050405020304" pitchFamily="18" charset="0"/>
              </a:rPr>
              <a:t>process contd..</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9396" y="1455313"/>
            <a:ext cx="11075831" cy="4906850"/>
          </a:xfrm>
        </p:spPr>
        <p:txBody>
          <a:bodyPr>
            <a:normAutofit/>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our process, we have to resize the image and convert the image into </a:t>
            </a:r>
            <a:r>
              <a:rPr lang="en-IN" sz="2000" dirty="0" err="1">
                <a:latin typeface="Times New Roman" panose="02020603050405020304" pitchFamily="18" charset="0"/>
                <a:cs typeface="Times New Roman" panose="02020603050405020304" pitchFamily="18" charset="0"/>
              </a:rPr>
              <a:t>gray</a:t>
            </a:r>
            <a:r>
              <a:rPr lang="en-IN" sz="2000" dirty="0">
                <a:latin typeface="Times New Roman" panose="02020603050405020304" pitchFamily="18" charset="0"/>
                <a:cs typeface="Times New Roman" panose="02020603050405020304" pitchFamily="18" charset="0"/>
              </a:rPr>
              <a:t> scale.</a:t>
            </a:r>
          </a:p>
          <a:p>
            <a:pPr lvl="0" algn="just">
              <a:lnSpc>
                <a:spcPct val="150000"/>
              </a:lnSpc>
            </a:pPr>
            <a:r>
              <a:rPr lang="en-IN" sz="2000" dirty="0" smtClean="0">
                <a:latin typeface="Times New Roman" panose="02020603050405020304" pitchFamily="18" charset="0"/>
                <a:cs typeface="Times New Roman" panose="02020603050405020304" pitchFamily="18" charset="0"/>
              </a:rPr>
              <a:t>To </a:t>
            </a:r>
            <a:r>
              <a:rPr lang="en-IN" sz="2000" dirty="0">
                <a:latin typeface="Times New Roman" panose="02020603050405020304" pitchFamily="18" charset="0"/>
                <a:cs typeface="Times New Roman" panose="02020603050405020304" pitchFamily="18" charset="0"/>
              </a:rPr>
              <a:t>resize an image, you call the resize () method on it, passing in a two-integer tuple argument representing the width and height of the resized image. </a:t>
            </a:r>
          </a:p>
          <a:p>
            <a:pPr lvl="0" algn="just">
              <a:lnSpc>
                <a:spcPct val="150000"/>
              </a:lnSpc>
            </a:pPr>
            <a:r>
              <a:rPr lang="en-IN" sz="2000" dirty="0" smtClean="0">
                <a:latin typeface="Times New Roman" panose="02020603050405020304" pitchFamily="18" charset="0"/>
                <a:cs typeface="Times New Roman" panose="02020603050405020304" pitchFamily="18" charset="0"/>
              </a:rPr>
              <a:t>The </a:t>
            </a:r>
            <a:r>
              <a:rPr lang="en-IN" sz="2000" dirty="0">
                <a:latin typeface="Times New Roman" panose="02020603050405020304" pitchFamily="18" charset="0"/>
                <a:cs typeface="Times New Roman" panose="02020603050405020304" pitchFamily="18" charset="0"/>
              </a:rPr>
              <a:t>function doesn't modify the used image; it instead returns another Image with the new dimensions.</a:t>
            </a:r>
          </a:p>
          <a:p>
            <a:pPr lvl="0" algn="just">
              <a:lnSpc>
                <a:spcPct val="150000"/>
              </a:lnSpc>
            </a:pPr>
            <a:r>
              <a:rPr lang="en-IN" sz="2000" dirty="0" smtClean="0">
                <a:latin typeface="Times New Roman" panose="02020603050405020304" pitchFamily="18" charset="0"/>
                <a:cs typeface="Times New Roman" panose="02020603050405020304" pitchFamily="18" charset="0"/>
              </a:rPr>
              <a:t>Convert </a:t>
            </a:r>
            <a:r>
              <a:rPr lang="en-IN" sz="2000" dirty="0">
                <a:latin typeface="Times New Roman" panose="02020603050405020304" pitchFamily="18" charset="0"/>
                <a:cs typeface="Times New Roman" panose="02020603050405020304" pitchFamily="18" charset="0"/>
              </a:rPr>
              <a:t>an Image to Grayscale in Python Using the Conversion Formula and the </a:t>
            </a:r>
            <a:r>
              <a:rPr lang="en-IN" sz="2000" dirty="0" err="1">
                <a:latin typeface="Times New Roman" panose="02020603050405020304" pitchFamily="18" charset="0"/>
                <a:cs typeface="Times New Roman" panose="02020603050405020304" pitchFamily="18" charset="0"/>
              </a:rPr>
              <a:t>matplotlib</a:t>
            </a:r>
            <a:r>
              <a:rPr lang="en-IN" sz="2000" dirty="0">
                <a:latin typeface="Times New Roman" panose="02020603050405020304" pitchFamily="18" charset="0"/>
                <a:cs typeface="Times New Roman" panose="02020603050405020304" pitchFamily="18" charset="0"/>
              </a:rPr>
              <a:t> Library. </a:t>
            </a:r>
          </a:p>
          <a:p>
            <a:pPr lvl="0" algn="just">
              <a:lnSpc>
                <a:spcPct val="150000"/>
              </a:lnSpc>
            </a:pPr>
            <a:r>
              <a:rPr lang="en-IN" sz="2000" dirty="0" smtClean="0">
                <a:latin typeface="Times New Roman" panose="02020603050405020304" pitchFamily="18" charset="0"/>
                <a:cs typeface="Times New Roman" panose="02020603050405020304" pitchFamily="18" charset="0"/>
              </a:rPr>
              <a:t>We </a:t>
            </a:r>
            <a:r>
              <a:rPr lang="en-IN" sz="2000" dirty="0">
                <a:latin typeface="Times New Roman" panose="02020603050405020304" pitchFamily="18" charset="0"/>
                <a:cs typeface="Times New Roman" panose="02020603050405020304" pitchFamily="18" charset="0"/>
              </a:rPr>
              <a:t>can also convert an image to grayscale using the standard RGB to grayscale conversion formula that is </a:t>
            </a:r>
            <a:r>
              <a:rPr lang="en-IN" sz="2000" dirty="0" err="1">
                <a:latin typeface="Times New Roman" panose="02020603050405020304" pitchFamily="18" charset="0"/>
                <a:cs typeface="Times New Roman" panose="02020603050405020304" pitchFamily="18" charset="0"/>
              </a:rPr>
              <a:t>imgGray</a:t>
            </a:r>
            <a:r>
              <a:rPr lang="en-IN" sz="2000" dirty="0">
                <a:latin typeface="Times New Roman" panose="02020603050405020304" pitchFamily="18" charset="0"/>
                <a:cs typeface="Times New Roman" panose="02020603050405020304" pitchFamily="18" charset="0"/>
              </a:rPr>
              <a:t> = 0.2989 * R + 0.5870 * G + 0.1140 * B.</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0975301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Feature Extraction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9396" y="1455313"/>
            <a:ext cx="11075831" cy="4906850"/>
          </a:xfrm>
        </p:spPr>
        <p:txBody>
          <a:bodyPr>
            <a:normAutofit/>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Mean</a:t>
            </a:r>
            <a:r>
              <a:rPr lang="en-IN" sz="2000" dirty="0">
                <a:latin typeface="Times New Roman" panose="02020603050405020304" pitchFamily="18" charset="0"/>
                <a:cs typeface="Times New Roman" panose="02020603050405020304" pitchFamily="18" charset="0"/>
              </a:rPr>
              <a:t>, median, and variance are also commonly used in image processing to characterize the statistical properties of pixel values within an image. Here's how they are applied:</a:t>
            </a:r>
          </a:p>
          <a:p>
            <a:pPr lvl="0" algn="just">
              <a:lnSpc>
                <a:spcPct val="150000"/>
              </a:lnSpc>
            </a:pPr>
            <a:r>
              <a:rPr lang="en-IN" sz="2000" b="1" dirty="0" smtClean="0">
                <a:latin typeface="Times New Roman" panose="02020603050405020304" pitchFamily="18" charset="0"/>
                <a:cs typeface="Times New Roman" panose="02020603050405020304" pitchFamily="18" charset="0"/>
              </a:rPr>
              <a:t>Mean</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In image processing, the mean can be calculated across pixel values within a region of interest (ROI) or the entire image. </a:t>
            </a:r>
            <a:endParaRPr lang="en-IN" sz="2000" dirty="0" smtClean="0">
              <a:latin typeface="Times New Roman" panose="02020603050405020304" pitchFamily="18" charset="0"/>
              <a:cs typeface="Times New Roman" panose="02020603050405020304" pitchFamily="18" charset="0"/>
            </a:endParaRPr>
          </a:p>
          <a:p>
            <a:pPr lvl="0" algn="just">
              <a:lnSpc>
                <a:spcPct val="150000"/>
              </a:lnSpc>
            </a:pPr>
            <a:r>
              <a:rPr lang="en-IN" sz="2000" b="1" dirty="0" smtClean="0">
                <a:latin typeface="Times New Roman" panose="02020603050405020304" pitchFamily="18" charset="0"/>
                <a:cs typeface="Times New Roman" panose="02020603050405020304" pitchFamily="18" charset="0"/>
              </a:rPr>
              <a:t>Median</a:t>
            </a:r>
            <a:r>
              <a:rPr lang="en-IN" sz="2000" dirty="0">
                <a:latin typeface="Times New Roman" panose="02020603050405020304" pitchFamily="18" charset="0"/>
                <a:cs typeface="Times New Roman" panose="02020603050405020304" pitchFamily="18" charset="0"/>
              </a:rPr>
              <a:t>: The median is particularly useful for noise reduction in images. </a:t>
            </a:r>
            <a:endParaRPr lang="en-IN" sz="2000" dirty="0" smtClean="0">
              <a:latin typeface="Times New Roman" panose="02020603050405020304" pitchFamily="18" charset="0"/>
              <a:cs typeface="Times New Roman" panose="02020603050405020304" pitchFamily="18" charset="0"/>
            </a:endParaRPr>
          </a:p>
          <a:p>
            <a:pPr lvl="0" algn="just">
              <a:lnSpc>
                <a:spcPct val="150000"/>
              </a:lnSpc>
            </a:pPr>
            <a:r>
              <a:rPr lang="en-IN" sz="2000" b="1" dirty="0" smtClean="0">
                <a:latin typeface="Times New Roman" panose="02020603050405020304" pitchFamily="18" charset="0"/>
                <a:cs typeface="Times New Roman" panose="02020603050405020304" pitchFamily="18" charset="0"/>
              </a:rPr>
              <a:t>Variance</a:t>
            </a:r>
            <a:r>
              <a:rPr lang="en-IN" sz="2000" dirty="0">
                <a:latin typeface="Times New Roman" panose="02020603050405020304" pitchFamily="18" charset="0"/>
                <a:cs typeface="Times New Roman" panose="02020603050405020304" pitchFamily="18" charset="0"/>
              </a:rPr>
              <a:t>: Variance measures the variability or contrast in pixel values within an image. </a:t>
            </a:r>
            <a:endParaRPr lang="en-IN" sz="2000" dirty="0" smtClean="0">
              <a:latin typeface="Times New Roman" panose="02020603050405020304" pitchFamily="18" charset="0"/>
              <a:cs typeface="Times New Roman" panose="02020603050405020304" pitchFamily="18" charset="0"/>
            </a:endParaRPr>
          </a:p>
          <a:p>
            <a:pPr lvl="0" algn="just">
              <a:lnSpc>
                <a:spcPct val="150000"/>
              </a:lnSpc>
            </a:pPr>
            <a:r>
              <a:rPr lang="en-IN" sz="2000" b="1" dirty="0" smtClean="0">
                <a:latin typeface="Times New Roman" panose="02020603050405020304" pitchFamily="18" charset="0"/>
                <a:cs typeface="Times New Roman" panose="02020603050405020304" pitchFamily="18" charset="0"/>
              </a:rPr>
              <a:t>GLCM</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computes the frequency of pixel pair occurrences at various spatial relationships within an image, providing insights into texture properties such as contrast, homogeneity, and entropy.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1794967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Classification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9396" y="1455313"/>
            <a:ext cx="11075831" cy="4906850"/>
          </a:xfrm>
        </p:spPr>
        <p:txBody>
          <a:bodyPr>
            <a:normAutofit/>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our process, we have to implement the deep learning algorithm such as and VGG-19 and Mobile Net effectively. </a:t>
            </a:r>
          </a:p>
          <a:p>
            <a:pPr lvl="0" algn="just">
              <a:lnSpc>
                <a:spcPct val="150000"/>
              </a:lnSpc>
            </a:pPr>
            <a:r>
              <a:rPr lang="en-IN" sz="2000" b="1" dirty="0" smtClean="0">
                <a:latin typeface="Times New Roman" panose="02020603050405020304" pitchFamily="18" charset="0"/>
                <a:cs typeface="Times New Roman" panose="02020603050405020304" pitchFamily="18" charset="0"/>
              </a:rPr>
              <a:t>VGG-19</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is a deep convolutional neural network known for its simplicity and effectiveness in image classification tasks. It was developed by the Visual Geometry Group (VGG) at the University of </a:t>
            </a:r>
            <a:r>
              <a:rPr lang="en-IN" sz="2000" dirty="0" smtClean="0">
                <a:latin typeface="Times New Roman" panose="02020603050405020304" pitchFamily="18" charset="0"/>
                <a:cs typeface="Times New Roman" panose="02020603050405020304" pitchFamily="18" charset="0"/>
              </a:rPr>
              <a:t>Oxford.</a:t>
            </a:r>
          </a:p>
          <a:p>
            <a:pPr lvl="0" algn="just">
              <a:lnSpc>
                <a:spcPct val="150000"/>
              </a:lnSpc>
            </a:pPr>
            <a:r>
              <a:rPr lang="en-IN" sz="2000" b="1" dirty="0" err="1">
                <a:latin typeface="Times New Roman" panose="02020603050405020304" pitchFamily="18" charset="0"/>
                <a:cs typeface="Times New Roman" panose="02020603050405020304" pitchFamily="18" charset="0"/>
              </a:rPr>
              <a:t>MobileNet</a:t>
            </a:r>
            <a:r>
              <a:rPr lang="en-IN" sz="2000" dirty="0">
                <a:latin typeface="Times New Roman" panose="02020603050405020304" pitchFamily="18" charset="0"/>
                <a:cs typeface="Times New Roman" panose="02020603050405020304" pitchFamily="18" charset="0"/>
              </a:rPr>
              <a:t> is designed for mobile and embedded vision applications, focusing on lightweight and efficient performance</a:t>
            </a:r>
            <a:r>
              <a:rPr lang="en-IN" sz="2000" dirty="0" smtClean="0">
                <a:latin typeface="Times New Roman" panose="02020603050405020304" pitchFamily="18" charset="0"/>
                <a:cs typeface="Times New Roman" panose="02020603050405020304" pitchFamily="18" charset="0"/>
              </a:rPr>
              <a:t>.</a:t>
            </a:r>
          </a:p>
          <a:p>
            <a:pPr lvl="0" algn="just">
              <a:lnSpc>
                <a:spcPct val="150000"/>
              </a:lnSpc>
            </a:pP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Its architecture is based on </a:t>
            </a:r>
            <a:r>
              <a:rPr lang="en-IN" sz="2000" dirty="0" err="1">
                <a:latin typeface="Times New Roman" panose="02020603050405020304" pitchFamily="18" charset="0"/>
                <a:cs typeface="Times New Roman" panose="02020603050405020304" pitchFamily="18" charset="0"/>
              </a:rPr>
              <a:t>depthwise</a:t>
            </a:r>
            <a:r>
              <a:rPr lang="en-IN" sz="2000" dirty="0">
                <a:latin typeface="Times New Roman" panose="02020603050405020304" pitchFamily="18" charset="0"/>
                <a:cs typeface="Times New Roman" panose="02020603050405020304" pitchFamily="18" charset="0"/>
              </a:rPr>
              <a:t> separable convolutions, which reduces computational cost and model size.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4704225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Prediction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9396" y="1455313"/>
            <a:ext cx="11075831" cy="4906850"/>
          </a:xfrm>
        </p:spPr>
        <p:txBody>
          <a:bodyPr>
            <a:normAutofit/>
          </a:bodyPr>
          <a:lstStyle/>
          <a:p>
            <a:pPr lvl="0" algn="just">
              <a:lnSpc>
                <a:spcPct val="150000"/>
              </a:lnSpc>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the prediction module, eye disease is classified using the </a:t>
            </a:r>
            <a:r>
              <a:rPr lang="en-IN" sz="2000" dirty="0" err="1">
                <a:latin typeface="Times New Roman" panose="02020603050405020304" pitchFamily="18" charset="0"/>
                <a:cs typeface="Times New Roman" panose="02020603050405020304" pitchFamily="18" charset="0"/>
              </a:rPr>
              <a:t>MobileNet</a:t>
            </a:r>
            <a:r>
              <a:rPr lang="en-IN" sz="2000" dirty="0">
                <a:latin typeface="Times New Roman" panose="02020603050405020304" pitchFamily="18" charset="0"/>
                <a:cs typeface="Times New Roman" panose="02020603050405020304" pitchFamily="18" charset="0"/>
              </a:rPr>
              <a:t> architecture, which efficiently handles the computational load with its </a:t>
            </a:r>
            <a:r>
              <a:rPr lang="en-IN" sz="2000" dirty="0" err="1">
                <a:latin typeface="Times New Roman" panose="02020603050405020304" pitchFamily="18" charset="0"/>
                <a:cs typeface="Times New Roman" panose="02020603050405020304" pitchFamily="18" charset="0"/>
              </a:rPr>
              <a:t>depthwise</a:t>
            </a:r>
            <a:r>
              <a:rPr lang="en-IN" sz="2000" dirty="0">
                <a:latin typeface="Times New Roman" panose="02020603050405020304" pitchFamily="18" charset="0"/>
                <a:cs typeface="Times New Roman" panose="02020603050405020304" pitchFamily="18" charset="0"/>
              </a:rPr>
              <a:t> separable convolutions, making it ideal for processing and classifying eye images in resource-constrained environments. </a:t>
            </a:r>
          </a:p>
          <a:p>
            <a:pPr lvl="0" algn="just">
              <a:lnSpc>
                <a:spcPct val="150000"/>
              </a:lnSpc>
            </a:pPr>
            <a:r>
              <a:rPr lang="en-IN" sz="2000" dirty="0" smtClean="0">
                <a:latin typeface="Times New Roman" panose="02020603050405020304" pitchFamily="18" charset="0"/>
                <a:cs typeface="Times New Roman" panose="02020603050405020304" pitchFamily="18" charset="0"/>
              </a:rPr>
              <a:t>For </a:t>
            </a:r>
            <a:r>
              <a:rPr lang="en-IN" sz="2000" dirty="0">
                <a:latin typeface="Times New Roman" panose="02020603050405020304" pitchFamily="18" charset="0"/>
                <a:cs typeface="Times New Roman" panose="02020603050405020304" pitchFamily="18" charset="0"/>
              </a:rPr>
              <a:t>detecting and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eye blinks, the VGG-19 architecture is employed due to its deep convolutional layers and high accuracy in capturing intricate features from image datasets. </a:t>
            </a:r>
          </a:p>
          <a:p>
            <a:pPr lvl="0" algn="just">
              <a:lnSpc>
                <a:spcPct val="150000"/>
              </a:lnSpc>
            </a:pPr>
            <a:r>
              <a:rPr lang="en-IN" sz="2000" dirty="0" smtClean="0">
                <a:latin typeface="Times New Roman" panose="02020603050405020304" pitchFamily="18" charset="0"/>
                <a:cs typeface="Times New Roman" panose="02020603050405020304" pitchFamily="18" charset="0"/>
              </a:rPr>
              <a:t>By </a:t>
            </a:r>
            <a:r>
              <a:rPr lang="en-IN" sz="2000" dirty="0">
                <a:latin typeface="Times New Roman" panose="02020603050405020304" pitchFamily="18" charset="0"/>
                <a:cs typeface="Times New Roman" panose="02020603050405020304" pitchFamily="18" charset="0"/>
              </a:rPr>
              <a:t>leveraging </a:t>
            </a:r>
            <a:r>
              <a:rPr lang="en-IN" sz="2000" dirty="0" err="1">
                <a:latin typeface="Times New Roman" panose="02020603050405020304" pitchFamily="18" charset="0"/>
                <a:cs typeface="Times New Roman" panose="02020603050405020304" pitchFamily="18" charset="0"/>
              </a:rPr>
              <a:t>MobileNet</a:t>
            </a:r>
            <a:r>
              <a:rPr lang="en-IN" sz="2000" dirty="0">
                <a:latin typeface="Times New Roman" panose="02020603050405020304" pitchFamily="18" charset="0"/>
                <a:cs typeface="Times New Roman" panose="02020603050405020304" pitchFamily="18" charset="0"/>
              </a:rPr>
              <a:t> for eye disease classification and VGG-19 for eye blink detection, the system effectively combines efficiency and accuracy to deliver robust predictions for both tasks.</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7615317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Result generation </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3" y="1275007"/>
            <a:ext cx="11294772" cy="5203065"/>
          </a:xfrm>
        </p:spPr>
        <p:txBody>
          <a:bodyPr>
            <a:normAutofit lnSpcReduction="10000"/>
          </a:bodyPr>
          <a:lstStyle/>
          <a:p>
            <a:pPr lvl="0" algn="just">
              <a:lnSpc>
                <a:spcPct val="150000"/>
              </a:lnSpc>
            </a:pPr>
            <a:r>
              <a:rPr lang="en-IN" sz="2000" dirty="0">
                <a:latin typeface="Times New Roman" panose="02020603050405020304" pitchFamily="18" charset="0"/>
                <a:cs typeface="Times New Roman" panose="02020603050405020304" pitchFamily="18" charset="0"/>
              </a:rPr>
              <a:t>The Final Result will get generated based on the overall classification and prediction. The performance of this proposed approach is evaluated using some measures like</a:t>
            </a:r>
            <a:r>
              <a:rPr lang="en-IN" sz="2000" dirty="0" smtClean="0">
                <a:latin typeface="Times New Roman" panose="02020603050405020304" pitchFamily="18" charset="0"/>
                <a:cs typeface="Times New Roman" panose="02020603050405020304" pitchFamily="18" charset="0"/>
              </a:rPr>
              <a:t>,</a:t>
            </a:r>
          </a:p>
          <a:p>
            <a:pPr lvl="0" algn="just">
              <a:lnSpc>
                <a:spcPct val="150000"/>
              </a:lnSpc>
            </a:pPr>
            <a:r>
              <a:rPr lang="en-IN" sz="2000" b="1" dirty="0" smtClean="0">
                <a:latin typeface="Times New Roman" panose="02020603050405020304" pitchFamily="18" charset="0"/>
                <a:cs typeface="Times New Roman" panose="02020603050405020304" pitchFamily="18" charset="0"/>
              </a:rPr>
              <a:t>Accuracy</a:t>
            </a:r>
            <a:endParaRPr lang="en-IN" sz="2000" b="1"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Accuracy of classifier refers to the ability of classifier. It predicts the class label correctly and the accuracy of the predictor refers to how well a given predictor can guess the value of predicted attribute for a new data.</a:t>
            </a:r>
          </a:p>
          <a:p>
            <a:pPr marL="0" lvl="0" indent="0" algn="ctr">
              <a:lnSpc>
                <a:spcPct val="150000"/>
              </a:lnSpc>
              <a:buNone/>
            </a:pPr>
            <a:r>
              <a:rPr lang="en-IN" sz="2000" dirty="0" smtClean="0">
                <a:latin typeface="Times New Roman" panose="02020603050405020304" pitchFamily="18" charset="0"/>
                <a:cs typeface="Times New Roman" panose="02020603050405020304" pitchFamily="18" charset="0"/>
              </a:rPr>
              <a:t>AC</a:t>
            </a:r>
            <a:r>
              <a:rPr lang="en-IN" sz="2000" dirty="0">
                <a:latin typeface="Times New Roman" panose="02020603050405020304" pitchFamily="18" charset="0"/>
                <a:cs typeface="Times New Roman" panose="02020603050405020304" pitchFamily="18" charset="0"/>
              </a:rPr>
              <a:t>= (TP+TN)/ (TP+TN+FP+FN</a:t>
            </a:r>
            <a:r>
              <a:rPr lang="en-IN" sz="2000" dirty="0" smtClean="0">
                <a:latin typeface="Times New Roman" panose="02020603050405020304" pitchFamily="18" charset="0"/>
                <a:cs typeface="Times New Roman" panose="02020603050405020304" pitchFamily="18" charset="0"/>
              </a:rPr>
              <a:t>)</a:t>
            </a:r>
          </a:p>
          <a:p>
            <a:pPr marL="0" lvl="0" indent="0">
              <a:lnSpc>
                <a:spcPct val="150000"/>
              </a:lnSpc>
              <a:buNone/>
            </a:pPr>
            <a:r>
              <a:rPr lang="en-IN" sz="2000" dirty="0" smtClean="0">
                <a:latin typeface="Times New Roman" panose="02020603050405020304" pitchFamily="18" charset="0"/>
                <a:cs typeface="Times New Roman" panose="02020603050405020304" pitchFamily="18" charset="0"/>
              </a:rPr>
              <a:t>TP – True Positive , TN – True Negative , FP – False Positive , FN – False Negative</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b="1" dirty="0" smtClean="0">
                <a:latin typeface="Times New Roman" panose="02020603050405020304" pitchFamily="18" charset="0"/>
                <a:cs typeface="Times New Roman" panose="02020603050405020304" pitchFamily="18" charset="0"/>
              </a:rPr>
              <a:t>Error </a:t>
            </a:r>
            <a:r>
              <a:rPr lang="en-IN" sz="2000" b="1" dirty="0">
                <a:latin typeface="Times New Roman" panose="02020603050405020304" pitchFamily="18" charset="0"/>
                <a:cs typeface="Times New Roman" panose="02020603050405020304" pitchFamily="18" charset="0"/>
              </a:rPr>
              <a:t>Rate</a:t>
            </a:r>
            <a:r>
              <a:rPr lang="en-IN" sz="2000" dirty="0">
                <a:latin typeface="Times New Roman" panose="02020603050405020304" pitchFamily="18" charset="0"/>
                <a:cs typeface="Times New Roman" panose="02020603050405020304" pitchFamily="18" charset="0"/>
              </a:rPr>
              <a:t>: Error rate, also known as classification error or misclassification rate, measures the frequency of incorrect predictions made by an algorithm compared to the ground truth.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02225117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774" y="2351691"/>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Screenshots</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22247921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Register</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p:nvPr/>
        </p:nvPicPr>
        <p:blipFill rotWithShape="1">
          <a:blip r:embed="rId2"/>
          <a:srcRect t="7172"/>
          <a:stretch/>
        </p:blipFill>
        <p:spPr bwMode="auto">
          <a:xfrm>
            <a:off x="456034" y="1324768"/>
            <a:ext cx="5731510" cy="2835275"/>
          </a:xfrm>
          <a:prstGeom prst="rect">
            <a:avLst/>
          </a:prstGeom>
          <a:ln>
            <a:noFill/>
          </a:ln>
          <a:extLst>
            <a:ext uri="{53640926-AAD7-44D8-BBD7-CCE9431645EC}">
              <a14:shadowObscured xmlns:a14="http://schemas.microsoft.com/office/drawing/2010/main"/>
            </a:ext>
          </a:extLst>
        </p:spPr>
      </p:pic>
      <p:pic>
        <p:nvPicPr>
          <p:cNvPr id="7" name="Picture 6"/>
          <p:cNvPicPr/>
          <p:nvPr/>
        </p:nvPicPr>
        <p:blipFill>
          <a:blip r:embed="rId3"/>
          <a:stretch>
            <a:fillRect/>
          </a:stretch>
        </p:blipFill>
        <p:spPr>
          <a:xfrm>
            <a:off x="6372115" y="3786389"/>
            <a:ext cx="5377550" cy="2783002"/>
          </a:xfrm>
          <a:prstGeom prst="rect">
            <a:avLst/>
          </a:prstGeom>
        </p:spPr>
      </p:pic>
    </p:spTree>
    <p:extLst>
      <p:ext uri="{BB962C8B-B14F-4D97-AF65-F5344CB8AC3E}">
        <p14:creationId xmlns:p14="http://schemas.microsoft.com/office/powerpoint/2010/main" val="10223317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Login</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8" name="Picture 7"/>
          <p:cNvPicPr/>
          <p:nvPr/>
        </p:nvPicPr>
        <p:blipFill>
          <a:blip r:embed="rId2"/>
          <a:stretch>
            <a:fillRect/>
          </a:stretch>
        </p:blipFill>
        <p:spPr>
          <a:xfrm>
            <a:off x="2753726" y="1998524"/>
            <a:ext cx="6802398" cy="3552270"/>
          </a:xfrm>
          <a:prstGeom prst="rect">
            <a:avLst/>
          </a:prstGeom>
        </p:spPr>
      </p:pic>
    </p:spTree>
    <p:extLst>
      <p:ext uri="{BB962C8B-B14F-4D97-AF65-F5344CB8AC3E}">
        <p14:creationId xmlns:p14="http://schemas.microsoft.com/office/powerpoint/2010/main" val="208219214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Prediction Page – Dry Eye Disease</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7" name="Picture 6"/>
          <p:cNvPicPr/>
          <p:nvPr/>
        </p:nvPicPr>
        <p:blipFill>
          <a:blip r:embed="rId2"/>
          <a:stretch>
            <a:fillRect/>
          </a:stretch>
        </p:blipFill>
        <p:spPr>
          <a:xfrm>
            <a:off x="3011304" y="2294738"/>
            <a:ext cx="5731510" cy="2886710"/>
          </a:xfrm>
          <a:prstGeom prst="rect">
            <a:avLst/>
          </a:prstGeom>
        </p:spPr>
      </p:pic>
    </p:spTree>
    <p:extLst>
      <p:ext uri="{BB962C8B-B14F-4D97-AF65-F5344CB8AC3E}">
        <p14:creationId xmlns:p14="http://schemas.microsoft.com/office/powerpoint/2010/main" val="214835961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Data Selection</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p:nvPr/>
        </p:nvPicPr>
        <p:blipFill>
          <a:blip r:embed="rId2"/>
          <a:stretch>
            <a:fillRect/>
          </a:stretch>
        </p:blipFill>
        <p:spPr>
          <a:xfrm>
            <a:off x="3230245" y="2292515"/>
            <a:ext cx="5731510" cy="2891155"/>
          </a:xfrm>
          <a:prstGeom prst="rect">
            <a:avLst/>
          </a:prstGeom>
        </p:spPr>
      </p:pic>
    </p:spTree>
    <p:extLst>
      <p:ext uri="{BB962C8B-B14F-4D97-AF65-F5344CB8AC3E}">
        <p14:creationId xmlns:p14="http://schemas.microsoft.com/office/powerpoint/2010/main" val="33850432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Preprocessing – Checking Missing Values</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6" name="Picture 5"/>
          <p:cNvPicPr/>
          <p:nvPr/>
        </p:nvPicPr>
        <p:blipFill>
          <a:blip r:embed="rId2"/>
          <a:stretch>
            <a:fillRect/>
          </a:stretch>
        </p:blipFill>
        <p:spPr>
          <a:xfrm>
            <a:off x="364490" y="2405834"/>
            <a:ext cx="5731510" cy="2893060"/>
          </a:xfrm>
          <a:prstGeom prst="rect">
            <a:avLst/>
          </a:prstGeom>
        </p:spPr>
      </p:pic>
      <p:pic>
        <p:nvPicPr>
          <p:cNvPr id="7" name="Picture 6"/>
          <p:cNvPicPr/>
          <p:nvPr/>
        </p:nvPicPr>
        <p:blipFill>
          <a:blip r:embed="rId3"/>
          <a:stretch>
            <a:fillRect/>
          </a:stretch>
        </p:blipFill>
        <p:spPr>
          <a:xfrm>
            <a:off x="6147276" y="2405834"/>
            <a:ext cx="5731510" cy="2901315"/>
          </a:xfrm>
          <a:prstGeom prst="rect">
            <a:avLst/>
          </a:prstGeom>
        </p:spPr>
      </p:pic>
    </p:spTree>
    <p:extLst>
      <p:ext uri="{BB962C8B-B14F-4D97-AF65-F5344CB8AC3E}">
        <p14:creationId xmlns:p14="http://schemas.microsoft.com/office/powerpoint/2010/main" val="302597132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Preprocessing – </a:t>
            </a:r>
            <a:r>
              <a:rPr lang="en-US" b="1" dirty="0" smtClean="0">
                <a:latin typeface="Times New Roman" panose="02020603050405020304" pitchFamily="18" charset="0"/>
                <a:cs typeface="Times New Roman" panose="02020603050405020304" pitchFamily="18" charset="0"/>
              </a:rPr>
              <a:t>Label Encoding</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p:nvPr/>
        </p:nvPicPr>
        <p:blipFill>
          <a:blip r:embed="rId2"/>
          <a:stretch>
            <a:fillRect/>
          </a:stretch>
        </p:blipFill>
        <p:spPr>
          <a:xfrm>
            <a:off x="364490" y="1991836"/>
            <a:ext cx="5731510" cy="2888615"/>
          </a:xfrm>
          <a:prstGeom prst="rect">
            <a:avLst/>
          </a:prstGeom>
        </p:spPr>
      </p:pic>
      <p:pic>
        <p:nvPicPr>
          <p:cNvPr id="7" name="Picture 6"/>
          <p:cNvPicPr/>
          <p:nvPr/>
        </p:nvPicPr>
        <p:blipFill>
          <a:blip r:embed="rId3"/>
          <a:stretch>
            <a:fillRect/>
          </a:stretch>
        </p:blipFill>
        <p:spPr>
          <a:xfrm>
            <a:off x="6147276" y="1991836"/>
            <a:ext cx="5731510" cy="2891155"/>
          </a:xfrm>
          <a:prstGeom prst="rect">
            <a:avLst/>
          </a:prstGeom>
        </p:spPr>
      </p:pic>
    </p:spTree>
    <p:extLst>
      <p:ext uri="{BB962C8B-B14F-4D97-AF65-F5344CB8AC3E}">
        <p14:creationId xmlns:p14="http://schemas.microsoft.com/office/powerpoint/2010/main" val="22997108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Data Splitting</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6" name="Picture 5"/>
          <p:cNvPicPr/>
          <p:nvPr/>
        </p:nvPicPr>
        <p:blipFill>
          <a:blip r:embed="rId2"/>
          <a:stretch>
            <a:fillRect/>
          </a:stretch>
        </p:blipFill>
        <p:spPr>
          <a:xfrm>
            <a:off x="3075699" y="1990566"/>
            <a:ext cx="5731510" cy="2891155"/>
          </a:xfrm>
          <a:prstGeom prst="rect">
            <a:avLst/>
          </a:prstGeom>
        </p:spPr>
      </p:pic>
    </p:spTree>
    <p:extLst>
      <p:ext uri="{BB962C8B-B14F-4D97-AF65-F5344CB8AC3E}">
        <p14:creationId xmlns:p14="http://schemas.microsoft.com/office/powerpoint/2010/main" val="402065057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MLP &amp; Prediction</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p:nvPr/>
        </p:nvPicPr>
        <p:blipFill>
          <a:blip r:embed="rId2"/>
          <a:stretch>
            <a:fillRect/>
          </a:stretch>
        </p:blipFill>
        <p:spPr>
          <a:xfrm>
            <a:off x="364490" y="2202363"/>
            <a:ext cx="5731510" cy="2891155"/>
          </a:xfrm>
          <a:prstGeom prst="rect">
            <a:avLst/>
          </a:prstGeom>
        </p:spPr>
      </p:pic>
      <p:pic>
        <p:nvPicPr>
          <p:cNvPr id="7" name="Picture 6"/>
          <p:cNvPicPr/>
          <p:nvPr/>
        </p:nvPicPr>
        <p:blipFill>
          <a:blip r:embed="rId3"/>
          <a:stretch>
            <a:fillRect/>
          </a:stretch>
        </p:blipFill>
        <p:spPr>
          <a:xfrm>
            <a:off x="6147276" y="2202363"/>
            <a:ext cx="5731510" cy="2891155"/>
          </a:xfrm>
          <a:prstGeom prst="rect">
            <a:avLst/>
          </a:prstGeom>
        </p:spPr>
      </p:pic>
    </p:spTree>
    <p:extLst>
      <p:ext uri="{BB962C8B-B14F-4D97-AF65-F5344CB8AC3E}">
        <p14:creationId xmlns:p14="http://schemas.microsoft.com/office/powerpoint/2010/main" val="40808758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Eye Disease Prediction – Upload Image</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p:nvPr/>
        </p:nvPicPr>
        <p:blipFill>
          <a:blip r:embed="rId2"/>
          <a:stretch>
            <a:fillRect/>
          </a:stretch>
        </p:blipFill>
        <p:spPr>
          <a:xfrm>
            <a:off x="3114335" y="2236873"/>
            <a:ext cx="5731510" cy="2899410"/>
          </a:xfrm>
          <a:prstGeom prst="rect">
            <a:avLst/>
          </a:prstGeom>
        </p:spPr>
      </p:pic>
    </p:spTree>
    <p:extLst>
      <p:ext uri="{BB962C8B-B14F-4D97-AF65-F5344CB8AC3E}">
        <p14:creationId xmlns:p14="http://schemas.microsoft.com/office/powerpoint/2010/main" val="302519516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Input &amp; Pre-render</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p:nvPr/>
        </p:nvPicPr>
        <p:blipFill>
          <a:blip r:embed="rId2"/>
          <a:stretch>
            <a:fillRect/>
          </a:stretch>
        </p:blipFill>
        <p:spPr>
          <a:xfrm>
            <a:off x="364490" y="2257358"/>
            <a:ext cx="5731510" cy="2874010"/>
          </a:xfrm>
          <a:prstGeom prst="rect">
            <a:avLst/>
          </a:prstGeom>
        </p:spPr>
      </p:pic>
      <p:pic>
        <p:nvPicPr>
          <p:cNvPr id="7" name="Picture 6"/>
          <p:cNvPicPr/>
          <p:nvPr/>
        </p:nvPicPr>
        <p:blipFill>
          <a:blip r:embed="rId3"/>
          <a:stretch>
            <a:fillRect/>
          </a:stretch>
        </p:blipFill>
        <p:spPr>
          <a:xfrm>
            <a:off x="6189027" y="2257358"/>
            <a:ext cx="5731510" cy="2905760"/>
          </a:xfrm>
          <a:prstGeom prst="rect">
            <a:avLst/>
          </a:prstGeom>
        </p:spPr>
      </p:pic>
    </p:spTree>
    <p:extLst>
      <p:ext uri="{BB962C8B-B14F-4D97-AF65-F5344CB8AC3E}">
        <p14:creationId xmlns:p14="http://schemas.microsoft.com/office/powerpoint/2010/main" val="265348816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Feature extraction &amp; Image Splitting</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p:nvPr/>
        </p:nvPicPr>
        <p:blipFill>
          <a:blip r:embed="rId2"/>
          <a:stretch>
            <a:fillRect/>
          </a:stretch>
        </p:blipFill>
        <p:spPr>
          <a:xfrm>
            <a:off x="3230245" y="2301267"/>
            <a:ext cx="5731510" cy="2899410"/>
          </a:xfrm>
          <a:prstGeom prst="rect">
            <a:avLst/>
          </a:prstGeom>
        </p:spPr>
      </p:pic>
    </p:spTree>
    <p:extLst>
      <p:ext uri="{BB962C8B-B14F-4D97-AF65-F5344CB8AC3E}">
        <p14:creationId xmlns:p14="http://schemas.microsoft.com/office/powerpoint/2010/main" val="407025052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Classification &amp; Prediction</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p:nvPr/>
        </p:nvPicPr>
        <p:blipFill>
          <a:blip r:embed="rId2"/>
          <a:stretch>
            <a:fillRect/>
          </a:stretch>
        </p:blipFill>
        <p:spPr>
          <a:xfrm>
            <a:off x="2998425" y="2240999"/>
            <a:ext cx="5731510" cy="2891155"/>
          </a:xfrm>
          <a:prstGeom prst="rect">
            <a:avLst/>
          </a:prstGeom>
        </p:spPr>
      </p:pic>
    </p:spTree>
    <p:extLst>
      <p:ext uri="{BB962C8B-B14F-4D97-AF65-F5344CB8AC3E}">
        <p14:creationId xmlns:p14="http://schemas.microsoft.com/office/powerpoint/2010/main" val="287691062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Eye Blink Prediction – Upload Image</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6" name="Picture 5"/>
          <p:cNvPicPr/>
          <p:nvPr/>
        </p:nvPicPr>
        <p:blipFill>
          <a:blip r:embed="rId2"/>
          <a:stretch>
            <a:fillRect/>
          </a:stretch>
        </p:blipFill>
        <p:spPr>
          <a:xfrm>
            <a:off x="2946910" y="2137969"/>
            <a:ext cx="5731510" cy="2891155"/>
          </a:xfrm>
          <a:prstGeom prst="rect">
            <a:avLst/>
          </a:prstGeom>
        </p:spPr>
      </p:pic>
    </p:spTree>
    <p:extLst>
      <p:ext uri="{BB962C8B-B14F-4D97-AF65-F5344CB8AC3E}">
        <p14:creationId xmlns:p14="http://schemas.microsoft.com/office/powerpoint/2010/main" val="355119673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Input &amp; Pre-render</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6" name="Picture 5"/>
          <p:cNvPicPr/>
          <p:nvPr/>
        </p:nvPicPr>
        <p:blipFill>
          <a:blip r:embed="rId2"/>
          <a:stretch>
            <a:fillRect/>
          </a:stretch>
        </p:blipFill>
        <p:spPr>
          <a:xfrm>
            <a:off x="364490" y="2114434"/>
            <a:ext cx="5731510" cy="2886710"/>
          </a:xfrm>
          <a:prstGeom prst="rect">
            <a:avLst/>
          </a:prstGeom>
        </p:spPr>
      </p:pic>
      <p:pic>
        <p:nvPicPr>
          <p:cNvPr id="8" name="Picture 7"/>
          <p:cNvPicPr/>
          <p:nvPr/>
        </p:nvPicPr>
        <p:blipFill>
          <a:blip r:embed="rId3"/>
          <a:stretch>
            <a:fillRect/>
          </a:stretch>
        </p:blipFill>
        <p:spPr>
          <a:xfrm>
            <a:off x="6147276" y="2114434"/>
            <a:ext cx="5731510" cy="2894965"/>
          </a:xfrm>
          <a:prstGeom prst="rect">
            <a:avLst/>
          </a:prstGeom>
        </p:spPr>
      </p:pic>
    </p:spTree>
    <p:extLst>
      <p:ext uri="{BB962C8B-B14F-4D97-AF65-F5344CB8AC3E}">
        <p14:creationId xmlns:p14="http://schemas.microsoft.com/office/powerpoint/2010/main" val="275741003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Feature extraction &amp; Image Splitting</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6" name="Picture 5"/>
          <p:cNvPicPr/>
          <p:nvPr/>
        </p:nvPicPr>
        <p:blipFill>
          <a:blip r:embed="rId2"/>
          <a:stretch>
            <a:fillRect/>
          </a:stretch>
        </p:blipFill>
        <p:spPr>
          <a:xfrm>
            <a:off x="3127214" y="2272155"/>
            <a:ext cx="5731510" cy="2880360"/>
          </a:xfrm>
          <a:prstGeom prst="rect">
            <a:avLst/>
          </a:prstGeom>
        </p:spPr>
      </p:pic>
    </p:spTree>
    <p:extLst>
      <p:ext uri="{BB962C8B-B14F-4D97-AF65-F5344CB8AC3E}">
        <p14:creationId xmlns:p14="http://schemas.microsoft.com/office/powerpoint/2010/main" val="185204203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latin typeface="Times New Roman" panose="02020603050405020304" pitchFamily="18" charset="0"/>
                <a:cs typeface="Times New Roman" panose="02020603050405020304" pitchFamily="18" charset="0"/>
              </a:rPr>
              <a:t>Classification &amp; Prediction</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6" name="Picture 5"/>
          <p:cNvPicPr/>
          <p:nvPr/>
        </p:nvPicPr>
        <p:blipFill>
          <a:blip r:embed="rId2"/>
          <a:stretch>
            <a:fillRect/>
          </a:stretch>
        </p:blipFill>
        <p:spPr>
          <a:xfrm>
            <a:off x="3230245" y="1983422"/>
            <a:ext cx="5731510" cy="2891155"/>
          </a:xfrm>
          <a:prstGeom prst="rect">
            <a:avLst/>
          </a:prstGeom>
        </p:spPr>
      </p:pic>
    </p:spTree>
    <p:extLst>
      <p:ext uri="{BB962C8B-B14F-4D97-AF65-F5344CB8AC3E}">
        <p14:creationId xmlns:p14="http://schemas.microsoft.com/office/powerpoint/2010/main" val="73065359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521471"/>
            <a:ext cx="11126053" cy="1325563"/>
          </a:xfrm>
        </p:spPr>
        <p:txBody>
          <a:bodyPr>
            <a:normAutofit/>
          </a:bodyPr>
          <a:lstStyle/>
          <a:p>
            <a:pPr algn="ctr"/>
            <a:r>
              <a:rPr lang="en-US" b="1" dirty="0" smtClean="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6728085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2618121532"/>
              </p:ext>
            </p:extLst>
          </p:nvPr>
        </p:nvGraphicFramePr>
        <p:xfrm>
          <a:off x="528035" y="358865"/>
          <a:ext cx="11088710" cy="6066779"/>
        </p:xfrm>
        <a:graphic>
          <a:graphicData uri="http://schemas.openxmlformats.org/drawingml/2006/table">
            <a:tbl>
              <a:tblPr firstRow="1" bandRow="1">
                <a:tableStyleId>{F5AB1C69-6EDB-4FF4-983F-18BD219EF322}</a:tableStyleId>
              </a:tblPr>
              <a:tblGrid>
                <a:gridCol w="2217742"/>
                <a:gridCol w="2217742"/>
                <a:gridCol w="2217742"/>
                <a:gridCol w="2217742"/>
                <a:gridCol w="2217742"/>
              </a:tblGrid>
              <a:tr h="323315">
                <a:tc>
                  <a:txBody>
                    <a:bodyPr/>
                    <a:lstStyle/>
                    <a:p>
                      <a:r>
                        <a:rPr lang="en-US" sz="1600" b="1" dirty="0" smtClean="0">
                          <a:latin typeface="Times New Roman" panose="02020603050405020304" pitchFamily="18" charset="0"/>
                          <a:cs typeface="Times New Roman" panose="02020603050405020304" pitchFamily="18" charset="0"/>
                        </a:rPr>
                        <a:t>Title</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Author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Demerits</a:t>
                      </a:r>
                      <a:endParaRPr lang="en-IN" sz="1600" dirty="0">
                        <a:latin typeface="Times New Roman" panose="02020603050405020304" pitchFamily="18" charset="0"/>
                        <a:cs typeface="Times New Roman" panose="02020603050405020304" pitchFamily="18" charset="0"/>
                      </a:endParaRPr>
                    </a:p>
                  </a:txBody>
                  <a:tcPr/>
                </a:tc>
              </a:tr>
              <a:tr h="5731499">
                <a:tc>
                  <a:txBody>
                    <a:bodyPr/>
                    <a:lstStyle/>
                    <a:p>
                      <a:pPr algn="just"/>
                      <a:r>
                        <a:rPr lang="en-IN" sz="1600" b="1" dirty="0" smtClean="0">
                          <a:latin typeface="Times New Roman" panose="02020603050405020304" pitchFamily="18" charset="0"/>
                          <a:cs typeface="Times New Roman" panose="02020603050405020304" pitchFamily="18" charset="0"/>
                        </a:rPr>
                        <a:t>Deep Learning for Dry Eye Disease Diagnosis: A Review of Recent Advances</a:t>
                      </a:r>
                      <a:endParaRPr lang="en-IN" sz="1600" b="1" dirty="0">
                        <a:latin typeface="Times New Roman" panose="02020603050405020304" pitchFamily="18" charset="0"/>
                        <a:cs typeface="Times New Roman" panose="02020603050405020304" pitchFamily="18" charset="0"/>
                      </a:endParaRPr>
                    </a:p>
                  </a:txBody>
                  <a:tcPr/>
                </a:tc>
                <a:tc>
                  <a:txBody>
                    <a:bodyPr/>
                    <a:lstStyle/>
                    <a:p>
                      <a:pPr algn="just"/>
                      <a:r>
                        <a:rPr lang="en-US" sz="1600" b="0" dirty="0" smtClean="0">
                          <a:latin typeface="Times New Roman" panose="02020603050405020304" pitchFamily="18" charset="0"/>
                          <a:cs typeface="Times New Roman" panose="02020603050405020304" pitchFamily="18" charset="0"/>
                        </a:rPr>
                        <a:t>2024</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it-IT" sz="1600" b="0" dirty="0" smtClean="0">
                          <a:latin typeface="Times New Roman" panose="02020603050405020304" pitchFamily="18" charset="0"/>
                          <a:cs typeface="Times New Roman" panose="02020603050405020304" pitchFamily="18" charset="0"/>
                        </a:rPr>
                        <a:t>Dr. Jessica Tran, Dr. Michael Hernandez</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b="0" dirty="0" smtClean="0">
                          <a:latin typeface="Times New Roman" panose="02020603050405020304" pitchFamily="18" charset="0"/>
                          <a:cs typeface="Times New Roman" panose="02020603050405020304" pitchFamily="18" charset="0"/>
                        </a:rPr>
                        <a:t>This review paper provides an overview of recent advancements in applying deep learning techniques for diagnosing dry eye disease. The authors evaluate various deep learning architectures, including Convolutional Neural Networks (CNNs) and Recurrent Neural Networks (RNNs), used for </a:t>
                      </a:r>
                      <a:r>
                        <a:rPr lang="en-IN" sz="1600" b="0" dirty="0" err="1" smtClean="0">
                          <a:latin typeface="Times New Roman" panose="02020603050405020304" pitchFamily="18" charset="0"/>
                          <a:cs typeface="Times New Roman" panose="02020603050405020304" pitchFamily="18" charset="0"/>
                        </a:rPr>
                        <a:t>analyzing</a:t>
                      </a:r>
                      <a:r>
                        <a:rPr lang="en-IN" sz="1600" b="0" dirty="0" smtClean="0">
                          <a:latin typeface="Times New Roman" panose="02020603050405020304" pitchFamily="18" charset="0"/>
                          <a:cs typeface="Times New Roman" panose="02020603050405020304" pitchFamily="18" charset="0"/>
                        </a:rPr>
                        <a:t> ocular images and patient data. </a:t>
                      </a:r>
                      <a:endParaRPr lang="en-IN" sz="1600" b="0" dirty="0">
                        <a:latin typeface="Times New Roman" panose="02020603050405020304" pitchFamily="18" charset="0"/>
                        <a:cs typeface="Times New Roman" panose="02020603050405020304" pitchFamily="18" charset="0"/>
                      </a:endParaRPr>
                    </a:p>
                  </a:txBody>
                  <a:tcPr/>
                </a:tc>
                <a:tc>
                  <a:txBody>
                    <a:bodyPr/>
                    <a:lstStyle/>
                    <a:p>
                      <a:pPr lvl="0" algn="just"/>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	The paper may be limited by its focus on a broad overview without in-depth analysis of specific algorithms or their comparative performance. </a:t>
                      </a:r>
                    </a:p>
                    <a:p>
                      <a:pPr lvl="0" algn="just"/>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	Additionally, it may not cover the latest unpublished or emerging technologies in the field.</a:t>
                      </a:r>
                    </a:p>
                    <a:p>
                      <a:pPr lvl="0" algn="just"/>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	Variability in data quality can significantly affect model performance. </a:t>
                      </a:r>
                    </a:p>
                  </a:txBody>
                  <a:tcPr/>
                </a:tc>
              </a:tr>
            </a:tbl>
          </a:graphicData>
        </a:graphic>
      </p:graphicFrame>
    </p:spTree>
    <p:extLst>
      <p:ext uri="{BB962C8B-B14F-4D97-AF65-F5344CB8AC3E}">
        <p14:creationId xmlns:p14="http://schemas.microsoft.com/office/powerpoint/2010/main" val="29722986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1812407268"/>
              </p:ext>
            </p:extLst>
          </p:nvPr>
        </p:nvGraphicFramePr>
        <p:xfrm>
          <a:off x="386365" y="489397"/>
          <a:ext cx="11372046" cy="6035040"/>
        </p:xfrm>
        <a:graphic>
          <a:graphicData uri="http://schemas.openxmlformats.org/drawingml/2006/table">
            <a:tbl>
              <a:tblPr firstRow="1" bandRow="1">
                <a:tableStyleId>{F5AB1C69-6EDB-4FF4-983F-18BD219EF322}</a:tableStyleId>
              </a:tblPr>
              <a:tblGrid>
                <a:gridCol w="2274409"/>
                <a:gridCol w="2274409"/>
                <a:gridCol w="1712027"/>
                <a:gridCol w="2836792"/>
                <a:gridCol w="2274409"/>
              </a:tblGrid>
              <a:tr h="318656">
                <a:tc>
                  <a:txBody>
                    <a:bodyPr/>
                    <a:lstStyle/>
                    <a:p>
                      <a:r>
                        <a:rPr lang="en-US" sz="1600" dirty="0" smtClean="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Author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Demerits</a:t>
                      </a:r>
                      <a:endParaRPr lang="en-IN" sz="1600" dirty="0">
                        <a:latin typeface="Times New Roman" panose="02020603050405020304" pitchFamily="18" charset="0"/>
                        <a:cs typeface="Times New Roman" panose="02020603050405020304" pitchFamily="18" charset="0"/>
                      </a:endParaRPr>
                    </a:p>
                  </a:txBody>
                  <a:tcPr/>
                </a:tc>
              </a:tr>
              <a:tr h="5657141">
                <a:tc>
                  <a:txBody>
                    <a:bodyPr/>
                    <a:lstStyle/>
                    <a:p>
                      <a:pPr algn="just"/>
                      <a:r>
                        <a:rPr lang="en-IN" sz="1600" b="1" kern="1200" dirty="0" smtClean="0">
                          <a:solidFill>
                            <a:schemeClr val="dk1"/>
                          </a:solidFill>
                          <a:effectLst/>
                          <a:latin typeface="Times New Roman" panose="02020603050405020304" pitchFamily="18" charset="0"/>
                          <a:ea typeface="+mn-ea"/>
                          <a:cs typeface="Times New Roman" panose="02020603050405020304" pitchFamily="18" charset="0"/>
                        </a:rPr>
                        <a:t>Evaluation of </a:t>
                      </a:r>
                      <a:r>
                        <a:rPr lang="en-IN" sz="1600" b="1" kern="1200" dirty="0" err="1" smtClean="0">
                          <a:solidFill>
                            <a:schemeClr val="dk1"/>
                          </a:solidFill>
                          <a:effectLst/>
                          <a:latin typeface="Times New Roman" panose="02020603050405020304" pitchFamily="18" charset="0"/>
                          <a:ea typeface="+mn-ea"/>
                          <a:cs typeface="Times New Roman" panose="02020603050405020304" pitchFamily="18" charset="0"/>
                        </a:rPr>
                        <a:t>MobileNet</a:t>
                      </a:r>
                      <a:r>
                        <a:rPr lang="en-IN" sz="1600" b="1" kern="1200" dirty="0" smtClean="0">
                          <a:solidFill>
                            <a:schemeClr val="dk1"/>
                          </a:solidFill>
                          <a:effectLst/>
                          <a:latin typeface="Times New Roman" panose="02020603050405020304" pitchFamily="18" charset="0"/>
                          <a:ea typeface="+mn-ea"/>
                          <a:cs typeface="Times New Roman" panose="02020603050405020304" pitchFamily="18" charset="0"/>
                        </a:rPr>
                        <a:t> for Real-Time Eye Disease Detection</a:t>
                      </a:r>
                      <a:endParaRPr lang="en-IN" sz="1600" b="1"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600" b="0" u="none" dirty="0" smtClean="0">
                          <a:latin typeface="Times New Roman" panose="02020603050405020304" pitchFamily="18" charset="0"/>
                          <a:cs typeface="Times New Roman" panose="02020603050405020304" pitchFamily="18" charset="0"/>
                        </a:rPr>
                        <a:t>2024</a:t>
                      </a:r>
                      <a:endParaRPr lang="en-IN" sz="1600" b="0" u="none" dirty="0">
                        <a:latin typeface="Times New Roman" panose="02020603050405020304" pitchFamily="18" charset="0"/>
                        <a:cs typeface="Times New Roman" panose="02020603050405020304" pitchFamily="18" charset="0"/>
                      </a:endParaRPr>
                    </a:p>
                  </a:txBody>
                  <a:tcPr/>
                </a:tc>
                <a:tc>
                  <a:txBody>
                    <a:bodyPr/>
                    <a:lstStyle/>
                    <a:p>
                      <a:pPr algn="just"/>
                      <a:r>
                        <a:rPr lang="en-IN" sz="1600" b="0" u="none" dirty="0" err="1" smtClean="0">
                          <a:latin typeface="Times New Roman" panose="02020603050405020304" pitchFamily="18" charset="0"/>
                          <a:cs typeface="Times New Roman" panose="02020603050405020304" pitchFamily="18" charset="0"/>
                        </a:rPr>
                        <a:t>Dr.</a:t>
                      </a:r>
                      <a:r>
                        <a:rPr lang="en-IN" sz="1600" b="0" u="none" dirty="0" smtClean="0">
                          <a:latin typeface="Times New Roman" panose="02020603050405020304" pitchFamily="18" charset="0"/>
                          <a:cs typeface="Times New Roman" panose="02020603050405020304" pitchFamily="18" charset="0"/>
                        </a:rPr>
                        <a:t> </a:t>
                      </a:r>
                      <a:r>
                        <a:rPr lang="en-IN" sz="1600" b="0" u="none" dirty="0" err="1" smtClean="0">
                          <a:latin typeface="Times New Roman" panose="02020603050405020304" pitchFamily="18" charset="0"/>
                          <a:cs typeface="Times New Roman" panose="02020603050405020304" pitchFamily="18" charset="0"/>
                        </a:rPr>
                        <a:t>Arun</a:t>
                      </a:r>
                      <a:r>
                        <a:rPr lang="en-IN" sz="1600" b="0" u="none" dirty="0" smtClean="0">
                          <a:latin typeface="Times New Roman" panose="02020603050405020304" pitchFamily="18" charset="0"/>
                          <a:cs typeface="Times New Roman" panose="02020603050405020304" pitchFamily="18" charset="0"/>
                        </a:rPr>
                        <a:t> Patel, </a:t>
                      </a:r>
                      <a:r>
                        <a:rPr lang="en-IN" sz="1600" b="0" u="none" dirty="0" err="1" smtClean="0">
                          <a:latin typeface="Times New Roman" panose="02020603050405020304" pitchFamily="18" charset="0"/>
                          <a:cs typeface="Times New Roman" panose="02020603050405020304" pitchFamily="18" charset="0"/>
                        </a:rPr>
                        <a:t>Dr.</a:t>
                      </a:r>
                      <a:r>
                        <a:rPr lang="en-IN" sz="1600" b="0" u="none" dirty="0" smtClean="0">
                          <a:latin typeface="Times New Roman" panose="02020603050405020304" pitchFamily="18" charset="0"/>
                          <a:cs typeface="Times New Roman" panose="02020603050405020304" pitchFamily="18" charset="0"/>
                        </a:rPr>
                        <a:t> Elena Gomez</a:t>
                      </a:r>
                      <a:endParaRPr lang="en-IN" sz="1600" b="0" u="none" dirty="0">
                        <a:latin typeface="Times New Roman" panose="02020603050405020304" pitchFamily="18" charset="0"/>
                        <a:cs typeface="Times New Roman" panose="02020603050405020304" pitchFamily="18" charset="0"/>
                      </a:endParaRPr>
                    </a:p>
                  </a:txBody>
                  <a:tcPr/>
                </a:tc>
                <a:tc>
                  <a:txBody>
                    <a:bodyPr/>
                    <a:lstStyle/>
                    <a:p>
                      <a:pPr algn="just"/>
                      <a:r>
                        <a:rPr lang="en-IN" sz="1600" b="0" dirty="0" smtClean="0">
                          <a:latin typeface="Times New Roman" panose="02020603050405020304" pitchFamily="18" charset="0"/>
                          <a:cs typeface="Times New Roman" panose="02020603050405020304" pitchFamily="18" charset="0"/>
                        </a:rPr>
                        <a:t>This study explores the application of </a:t>
                      </a:r>
                      <a:r>
                        <a:rPr lang="en-IN" sz="1600" b="0" dirty="0" err="1" smtClean="0">
                          <a:latin typeface="Times New Roman" panose="02020603050405020304" pitchFamily="18" charset="0"/>
                          <a:cs typeface="Times New Roman" panose="02020603050405020304" pitchFamily="18" charset="0"/>
                        </a:rPr>
                        <a:t>MobileNet</a:t>
                      </a:r>
                      <a:r>
                        <a:rPr lang="en-IN" sz="1600" b="0" dirty="0" smtClean="0">
                          <a:latin typeface="Times New Roman" panose="02020603050405020304" pitchFamily="18" charset="0"/>
                          <a:cs typeface="Times New Roman" panose="02020603050405020304" pitchFamily="18" charset="0"/>
                        </a:rPr>
                        <a:t>, a lightweight convolutional neural network, for real-time detection of eye diseases from digital images. The authors </a:t>
                      </a:r>
                      <a:r>
                        <a:rPr lang="en-IN" sz="1600" b="0" dirty="0" err="1" smtClean="0">
                          <a:latin typeface="Times New Roman" panose="02020603050405020304" pitchFamily="18" charset="0"/>
                          <a:cs typeface="Times New Roman" panose="02020603050405020304" pitchFamily="18" charset="0"/>
                        </a:rPr>
                        <a:t>preprocess</a:t>
                      </a:r>
                      <a:r>
                        <a:rPr lang="en-IN" sz="1600" b="0" dirty="0" smtClean="0">
                          <a:latin typeface="Times New Roman" panose="02020603050405020304" pitchFamily="18" charset="0"/>
                          <a:cs typeface="Times New Roman" panose="02020603050405020304" pitchFamily="18" charset="0"/>
                        </a:rPr>
                        <a:t> images through resizing and grayscale conversion, and then apply </a:t>
                      </a:r>
                      <a:r>
                        <a:rPr lang="en-IN" sz="1600" b="0" dirty="0" err="1" smtClean="0">
                          <a:latin typeface="Times New Roman" panose="02020603050405020304" pitchFamily="18" charset="0"/>
                          <a:cs typeface="Times New Roman" panose="02020603050405020304" pitchFamily="18" charset="0"/>
                        </a:rPr>
                        <a:t>MobileNet</a:t>
                      </a:r>
                      <a:r>
                        <a:rPr lang="en-IN" sz="1600" b="0" dirty="0" smtClean="0">
                          <a:latin typeface="Times New Roman" panose="02020603050405020304" pitchFamily="18" charset="0"/>
                          <a:cs typeface="Times New Roman" panose="02020603050405020304" pitchFamily="18" charset="0"/>
                        </a:rPr>
                        <a:t> for feature extraction and classification. The study includes performance metrics such as accuracy, precision, recall, and F1-score to evaluate the model’s effectiveness in distinguishing between affected and non-affected eyes. The methodology also involves data augmentation techniques to improve model robustness and generalizability.</a:t>
                      </a:r>
                      <a:endParaRPr lang="en-IN" sz="1600" b="0" dirty="0">
                        <a:latin typeface="Times New Roman" panose="02020603050405020304" pitchFamily="18" charset="0"/>
                        <a:cs typeface="Times New Roman" panose="02020603050405020304" pitchFamily="18" charset="0"/>
                      </a:endParaRPr>
                    </a:p>
                  </a:txBody>
                  <a:tcPr/>
                </a:tc>
                <a:tc>
                  <a:txBody>
                    <a:bodyPr/>
                    <a:lstStyle/>
                    <a:p>
                      <a:pPr lvl="0" algn="just"/>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	The study may face limitations related to the generalizability of the model to diverse populations and varying image qualities. </a:t>
                      </a:r>
                    </a:p>
                    <a:p>
                      <a:pPr lvl="0" algn="just"/>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a:t>
                      </a:r>
                      <a:r>
                        <a:rPr lang="en-IN" sz="1600" kern="1200" baseline="0" dirty="0" smtClean="0">
                          <a:solidFill>
                            <a:schemeClr val="dk1"/>
                          </a:solidFill>
                          <a:effectLst/>
                          <a:latin typeface="Times New Roman" panose="02020603050405020304" pitchFamily="18" charset="0"/>
                          <a:ea typeface="+mn-ea"/>
                          <a:cs typeface="Times New Roman" panose="02020603050405020304" pitchFamily="18" charset="0"/>
                        </a:rPr>
                        <a:t> </a:t>
                      </a:r>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Additionally, </a:t>
                      </a:r>
                      <a:r>
                        <a:rPr lang="en-IN" sz="1600" kern="1200" dirty="0" err="1" smtClean="0">
                          <a:solidFill>
                            <a:schemeClr val="dk1"/>
                          </a:solidFill>
                          <a:effectLst/>
                          <a:latin typeface="Times New Roman" panose="02020603050405020304" pitchFamily="18" charset="0"/>
                          <a:ea typeface="+mn-ea"/>
                          <a:cs typeface="Times New Roman" panose="02020603050405020304" pitchFamily="18" charset="0"/>
                        </a:rPr>
                        <a:t>MobileNet’s</a:t>
                      </a:r>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 lightweight architecture may sometimes compromise classification accuracy compared to more complex models.</a:t>
                      </a:r>
                    </a:p>
                    <a:p>
                      <a:pPr lvl="0" algn="just"/>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	Challenges related to incorporating </a:t>
                      </a:r>
                      <a:r>
                        <a:rPr lang="en-IN" sz="1600" kern="1200" dirty="0" err="1" smtClean="0">
                          <a:solidFill>
                            <a:schemeClr val="dk1"/>
                          </a:solidFill>
                          <a:effectLst/>
                          <a:latin typeface="Times New Roman" panose="02020603050405020304" pitchFamily="18" charset="0"/>
                          <a:ea typeface="+mn-ea"/>
                          <a:cs typeface="Times New Roman" panose="02020603050405020304" pitchFamily="18" charset="0"/>
                        </a:rPr>
                        <a:t>MobileNet</a:t>
                      </a:r>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 into clinical workflows, including compatibility with current diagnostic tools or electronic health record systems, might be overlooked.</a:t>
                      </a:r>
                    </a:p>
                  </a:txBody>
                  <a:tcPr/>
                </a:tc>
              </a:tr>
            </a:tbl>
          </a:graphicData>
        </a:graphic>
      </p:graphicFrame>
    </p:spTree>
    <p:extLst>
      <p:ext uri="{BB962C8B-B14F-4D97-AF65-F5344CB8AC3E}">
        <p14:creationId xmlns:p14="http://schemas.microsoft.com/office/powerpoint/2010/main" val="92841324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2211215092"/>
              </p:ext>
            </p:extLst>
          </p:nvPr>
        </p:nvGraphicFramePr>
        <p:xfrm>
          <a:off x="515154" y="350520"/>
          <a:ext cx="11153105" cy="5816809"/>
        </p:xfrm>
        <a:graphic>
          <a:graphicData uri="http://schemas.openxmlformats.org/drawingml/2006/table">
            <a:tbl>
              <a:tblPr firstRow="1" bandRow="1">
                <a:tableStyleId>{F5AB1C69-6EDB-4FF4-983F-18BD219EF322}</a:tableStyleId>
              </a:tblPr>
              <a:tblGrid>
                <a:gridCol w="2230621"/>
                <a:gridCol w="2230621"/>
                <a:gridCol w="1641456"/>
                <a:gridCol w="2819786"/>
                <a:gridCol w="2230621"/>
              </a:tblGrid>
              <a:tr h="275328">
                <a:tc>
                  <a:txBody>
                    <a:bodyPr/>
                    <a:lstStyle/>
                    <a:p>
                      <a:r>
                        <a:rPr lang="en-US" sz="1600" dirty="0" smtClean="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Author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Demerits</a:t>
                      </a:r>
                      <a:endParaRPr lang="en-IN" sz="1600" dirty="0">
                        <a:latin typeface="Times New Roman" panose="02020603050405020304" pitchFamily="18" charset="0"/>
                        <a:cs typeface="Times New Roman" panose="02020603050405020304" pitchFamily="18" charset="0"/>
                      </a:endParaRPr>
                    </a:p>
                  </a:txBody>
                  <a:tcPr/>
                </a:tc>
              </a:tr>
              <a:tr h="5481529">
                <a:tc>
                  <a:txBody>
                    <a:bodyPr/>
                    <a:lstStyle/>
                    <a:p>
                      <a:pPr algn="just"/>
                      <a:r>
                        <a:rPr lang="en-IN" sz="1600" b="1" kern="1200" dirty="0" smtClean="0">
                          <a:solidFill>
                            <a:schemeClr val="dk1"/>
                          </a:solidFill>
                          <a:effectLst/>
                          <a:latin typeface="Times New Roman" panose="02020603050405020304" pitchFamily="18" charset="0"/>
                          <a:ea typeface="+mn-ea"/>
                          <a:cs typeface="Times New Roman" panose="02020603050405020304" pitchFamily="18" charset="0"/>
                        </a:rPr>
                        <a:t>Predicting Dry Eye Disease Using Multi-Layer </a:t>
                      </a:r>
                      <a:r>
                        <a:rPr lang="en-IN" sz="1600" b="1" kern="1200" dirty="0" err="1" smtClean="0">
                          <a:solidFill>
                            <a:schemeClr val="dk1"/>
                          </a:solidFill>
                          <a:effectLst/>
                          <a:latin typeface="Times New Roman" panose="02020603050405020304" pitchFamily="18" charset="0"/>
                          <a:ea typeface="+mn-ea"/>
                          <a:cs typeface="Times New Roman" panose="02020603050405020304" pitchFamily="18" charset="0"/>
                        </a:rPr>
                        <a:t>Perceptrons</a:t>
                      </a:r>
                      <a:r>
                        <a:rPr lang="en-IN" sz="1600" b="1" kern="1200" dirty="0" smtClean="0">
                          <a:solidFill>
                            <a:schemeClr val="dk1"/>
                          </a:solidFill>
                          <a:effectLst/>
                          <a:latin typeface="Times New Roman" panose="02020603050405020304" pitchFamily="18" charset="0"/>
                          <a:ea typeface="+mn-ea"/>
                          <a:cs typeface="Times New Roman" panose="02020603050405020304" pitchFamily="18" charset="0"/>
                        </a:rPr>
                        <a:t>: A Novel Approach</a:t>
                      </a:r>
                      <a:endParaRPr lang="en-IN" sz="1600" b="1"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600" b="0" dirty="0" smtClean="0">
                          <a:latin typeface="Times New Roman" panose="02020603050405020304" pitchFamily="18" charset="0"/>
                          <a:cs typeface="Times New Roman" panose="02020603050405020304" pitchFamily="18" charset="0"/>
                        </a:rPr>
                        <a:t>2023</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de-DE" sz="1600" b="0" dirty="0" smtClean="0">
                          <a:latin typeface="Times New Roman" panose="02020603050405020304" pitchFamily="18" charset="0"/>
                          <a:cs typeface="Times New Roman" panose="02020603050405020304" pitchFamily="18" charset="0"/>
                        </a:rPr>
                        <a:t>Dr. Sarah Williams, Dr. Rajiv Kumar</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his research investigates the use of Multi-Layer </a:t>
                      </a:r>
                      <a:r>
                        <a:rPr lang="en-IN" sz="1600" kern="1200" dirty="0" err="1" smtClean="0">
                          <a:solidFill>
                            <a:schemeClr val="dk1"/>
                          </a:solidFill>
                          <a:effectLst/>
                          <a:latin typeface="Times New Roman" panose="02020603050405020304" pitchFamily="18" charset="0"/>
                          <a:ea typeface="+mn-ea"/>
                          <a:cs typeface="Times New Roman" panose="02020603050405020304" pitchFamily="18" charset="0"/>
                        </a:rPr>
                        <a:t>Perceptrons</a:t>
                      </a:r>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 (MLP) for predicting dry eye disease based on symptomatic data. The methodology involves preprocessing patient data to handle missing values and label encoding, followed by splitting the dataset into training and test sets. The MLP model is then trained to classify the likelihood of dry eye disease based on various symptom features. Performance is evaluated using accuracy, precision, recall, and F1-score, providing a detailed assessment of the model’s predictive capabilities.</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lvl="0" algn="just"/>
                      <a:r>
                        <a:rPr lang="en-IN" sz="1600" dirty="0" smtClean="0">
                          <a:latin typeface="Times New Roman" panose="02020603050405020304" pitchFamily="18" charset="0"/>
                          <a:cs typeface="Times New Roman" panose="02020603050405020304" pitchFamily="18" charset="0"/>
                        </a:rPr>
                        <a:t>•	MLPs require extensive training and tuning, which can be computationally intensive. </a:t>
                      </a:r>
                    </a:p>
                    <a:p>
                      <a:pPr lvl="0" algn="just"/>
                      <a:r>
                        <a:rPr lang="en-IN" sz="1600" dirty="0" smtClean="0">
                          <a:latin typeface="Times New Roman" panose="02020603050405020304" pitchFamily="18" charset="0"/>
                          <a:cs typeface="Times New Roman" panose="02020603050405020304" pitchFamily="18" charset="0"/>
                        </a:rPr>
                        <a:t>•	Additionally, the model’s performance may be affected by the quality and completeness of the input data, and it may struggle with high-dimensional or noisy data.</a:t>
                      </a:r>
                    </a:p>
                    <a:p>
                      <a:pPr lvl="0" algn="just"/>
                      <a:r>
                        <a:rPr lang="en-IN" sz="1600" dirty="0" smtClean="0">
                          <a:latin typeface="Times New Roman" panose="02020603050405020304" pitchFamily="18" charset="0"/>
                          <a:cs typeface="Times New Roman" panose="02020603050405020304" pitchFamily="18" charset="0"/>
                        </a:rPr>
                        <a:t>•	The inability to easily interpret the model’s decision-making process can be a significant drawback, </a:t>
                      </a:r>
                    </a:p>
                  </a:txBody>
                  <a:tcPr/>
                </a:tc>
              </a:tr>
            </a:tbl>
          </a:graphicData>
        </a:graphic>
      </p:graphicFrame>
    </p:spTree>
    <p:extLst>
      <p:ext uri="{BB962C8B-B14F-4D97-AF65-F5344CB8AC3E}">
        <p14:creationId xmlns:p14="http://schemas.microsoft.com/office/powerpoint/2010/main" val="120883870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2950729308"/>
              </p:ext>
            </p:extLst>
          </p:nvPr>
        </p:nvGraphicFramePr>
        <p:xfrm>
          <a:off x="669701" y="386366"/>
          <a:ext cx="11075830" cy="5547360"/>
        </p:xfrm>
        <a:graphic>
          <a:graphicData uri="http://schemas.openxmlformats.org/drawingml/2006/table">
            <a:tbl>
              <a:tblPr firstRow="1" bandRow="1">
                <a:tableStyleId>{F5AB1C69-6EDB-4FF4-983F-18BD219EF322}</a:tableStyleId>
              </a:tblPr>
              <a:tblGrid>
                <a:gridCol w="2215166"/>
                <a:gridCol w="2215166"/>
                <a:gridCol w="1830317"/>
                <a:gridCol w="2600015"/>
                <a:gridCol w="2215166"/>
              </a:tblGrid>
              <a:tr h="279363">
                <a:tc>
                  <a:txBody>
                    <a:bodyPr/>
                    <a:lstStyle/>
                    <a:p>
                      <a:r>
                        <a:rPr lang="en-US" sz="1600" dirty="0" smtClean="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Author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Demerits</a:t>
                      </a:r>
                      <a:endParaRPr lang="en-IN" sz="1600" dirty="0">
                        <a:latin typeface="Times New Roman" panose="02020603050405020304" pitchFamily="18" charset="0"/>
                        <a:cs typeface="Times New Roman" panose="02020603050405020304" pitchFamily="18" charset="0"/>
                      </a:endParaRPr>
                    </a:p>
                  </a:txBody>
                  <a:tcPr/>
                </a:tc>
              </a:tr>
              <a:tr h="5155522">
                <a:tc>
                  <a:txBody>
                    <a:bodyPr/>
                    <a:lstStyle/>
                    <a:p>
                      <a:pPr algn="just"/>
                      <a:r>
                        <a:rPr lang="en-IN" sz="1600" b="1" kern="1200" dirty="0" smtClean="0">
                          <a:solidFill>
                            <a:schemeClr val="dk1"/>
                          </a:solidFill>
                          <a:effectLst/>
                          <a:latin typeface="Times New Roman" panose="02020603050405020304" pitchFamily="18" charset="0"/>
                          <a:ea typeface="+mn-ea"/>
                          <a:cs typeface="Times New Roman" panose="02020603050405020304" pitchFamily="18" charset="0"/>
                        </a:rPr>
                        <a:t>Using VGG-19 for Eye Blink Detection: A Comparative Study</a:t>
                      </a:r>
                      <a:endParaRPr lang="en-IN" sz="1600" b="1"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600" b="0" dirty="0" smtClean="0">
                          <a:latin typeface="Times New Roman" panose="02020603050405020304" pitchFamily="18" charset="0"/>
                          <a:cs typeface="Times New Roman" panose="02020603050405020304" pitchFamily="18" charset="0"/>
                        </a:rPr>
                        <a:t>2024</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nn-NO" sz="1600" b="0" dirty="0" smtClean="0">
                          <a:latin typeface="Times New Roman" panose="02020603050405020304" pitchFamily="18" charset="0"/>
                          <a:cs typeface="Times New Roman" panose="02020603050405020304" pitchFamily="18" charset="0"/>
                        </a:rPr>
                        <a:t>Dr. Emily Chen, Dr. Ahmed Al-Mansoori</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This paper evaluates the effectiveness of VGG-19, a deep convolutional neural network, for detecting eye blinks from video datasets. The study </a:t>
                      </a:r>
                      <a:r>
                        <a:rPr lang="en-IN" sz="1600" kern="1200" dirty="0" err="1" smtClean="0">
                          <a:solidFill>
                            <a:schemeClr val="dk1"/>
                          </a:solidFill>
                          <a:effectLst/>
                          <a:latin typeface="Times New Roman" panose="02020603050405020304" pitchFamily="18" charset="0"/>
                          <a:ea typeface="+mn-ea"/>
                          <a:cs typeface="Times New Roman" panose="02020603050405020304" pitchFamily="18" charset="0"/>
                        </a:rPr>
                        <a:t>preprocesses</a:t>
                      </a:r>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 video frames by resizing and converting them to grayscale, and then extracts features using VGG-19. The performance of VGG-19 in predicting eye blink occurrences is assessed through accuracy and error rate metrics. The methodology includes training the model on a diverse dataset of eye blink images and comparing its performance with other neural network architectures.</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lvl="0" algn="just"/>
                      <a:r>
                        <a:rPr lang="en-IN" sz="1600" dirty="0" smtClean="0">
                          <a:latin typeface="Times New Roman" panose="02020603050405020304" pitchFamily="18" charset="0"/>
                          <a:cs typeface="Times New Roman" panose="02020603050405020304" pitchFamily="18" charset="0"/>
                        </a:rPr>
                        <a:t>•	VGG-19’s computational complexity can lead to high resource consumption and longer training times. </a:t>
                      </a:r>
                    </a:p>
                    <a:p>
                      <a:pPr lvl="0" algn="just"/>
                      <a:r>
                        <a:rPr lang="en-IN" sz="1600" dirty="0" smtClean="0">
                          <a:latin typeface="Times New Roman" panose="02020603050405020304" pitchFamily="18" charset="0"/>
                          <a:cs typeface="Times New Roman" panose="02020603050405020304" pitchFamily="18" charset="0"/>
                        </a:rPr>
                        <a:t>•	Additionally, the model’s performance may be influenced by variations in video quality and lighting conditions.</a:t>
                      </a:r>
                    </a:p>
                    <a:p>
                      <a:pPr lvl="0" algn="just"/>
                      <a:r>
                        <a:rPr lang="en-IN" sz="1600" dirty="0" smtClean="0">
                          <a:latin typeface="Times New Roman" panose="02020603050405020304" pitchFamily="18" charset="0"/>
                          <a:cs typeface="Times New Roman" panose="02020603050405020304" pitchFamily="18" charset="0"/>
                        </a:rPr>
                        <a:t>•	The time required to process each video frame using VGG-19 might be too high for real-time applications, affecting the system's usability in scenarios that demand instant feedback.</a:t>
                      </a:r>
                    </a:p>
                  </a:txBody>
                  <a:tcPr/>
                </a:tc>
              </a:tr>
            </a:tbl>
          </a:graphicData>
        </a:graphic>
      </p:graphicFrame>
    </p:spTree>
    <p:extLst>
      <p:ext uri="{BB962C8B-B14F-4D97-AF65-F5344CB8AC3E}">
        <p14:creationId xmlns:p14="http://schemas.microsoft.com/office/powerpoint/2010/main" val="236117708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364584333"/>
              </p:ext>
            </p:extLst>
          </p:nvPr>
        </p:nvGraphicFramePr>
        <p:xfrm>
          <a:off x="669701" y="386366"/>
          <a:ext cx="11050075" cy="6130344"/>
        </p:xfrm>
        <a:graphic>
          <a:graphicData uri="http://schemas.openxmlformats.org/drawingml/2006/table">
            <a:tbl>
              <a:tblPr firstRow="1" bandRow="1">
                <a:tableStyleId>{F5AB1C69-6EDB-4FF4-983F-18BD219EF322}</a:tableStyleId>
              </a:tblPr>
              <a:tblGrid>
                <a:gridCol w="2210015"/>
                <a:gridCol w="2210015"/>
                <a:gridCol w="1719518"/>
                <a:gridCol w="2700512"/>
                <a:gridCol w="2210015"/>
              </a:tblGrid>
              <a:tr h="340575">
                <a:tc>
                  <a:txBody>
                    <a:bodyPr/>
                    <a:lstStyle/>
                    <a:p>
                      <a:r>
                        <a:rPr lang="en-US" sz="1600" dirty="0" smtClean="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Author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Methodology</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smtClean="0">
                          <a:latin typeface="Times New Roman" panose="02020603050405020304" pitchFamily="18" charset="0"/>
                          <a:cs typeface="Times New Roman" panose="02020603050405020304" pitchFamily="18" charset="0"/>
                        </a:rPr>
                        <a:t>Demerits</a:t>
                      </a:r>
                      <a:endParaRPr lang="en-IN" sz="1600" dirty="0">
                        <a:latin typeface="Times New Roman" panose="02020603050405020304" pitchFamily="18" charset="0"/>
                        <a:cs typeface="Times New Roman" panose="02020603050405020304" pitchFamily="18" charset="0"/>
                      </a:endParaRPr>
                    </a:p>
                  </a:txBody>
                  <a:tcPr/>
                </a:tc>
              </a:tr>
              <a:tr h="5789769">
                <a:tc>
                  <a:txBody>
                    <a:bodyPr/>
                    <a:lstStyle/>
                    <a:p>
                      <a:pPr algn="just"/>
                      <a:r>
                        <a:rPr lang="en-IN" sz="1600" b="1" kern="1200" dirty="0" smtClean="0">
                          <a:solidFill>
                            <a:schemeClr val="dk1"/>
                          </a:solidFill>
                          <a:effectLst/>
                          <a:latin typeface="Times New Roman" panose="02020603050405020304" pitchFamily="18" charset="0"/>
                          <a:ea typeface="+mn-ea"/>
                          <a:cs typeface="Times New Roman" panose="02020603050405020304" pitchFamily="18" charset="0"/>
                        </a:rPr>
                        <a:t>Integrating AI with Traditional Methods for Comprehensive Dry Eye Disease Management</a:t>
                      </a:r>
                      <a:endParaRPr lang="en-IN" sz="1600" b="1"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US" sz="1600" b="0" dirty="0" smtClean="0">
                          <a:latin typeface="Times New Roman" panose="02020603050405020304" pitchFamily="18" charset="0"/>
                          <a:cs typeface="Times New Roman" panose="02020603050405020304" pitchFamily="18" charset="0"/>
                        </a:rPr>
                        <a:t>2024</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b="0" dirty="0" err="1" smtClean="0">
                          <a:latin typeface="Times New Roman" panose="02020603050405020304" pitchFamily="18" charset="0"/>
                          <a:cs typeface="Times New Roman" panose="02020603050405020304" pitchFamily="18" charset="0"/>
                        </a:rPr>
                        <a:t>Dr.</a:t>
                      </a:r>
                      <a:r>
                        <a:rPr lang="en-IN" sz="1600" b="0" dirty="0" smtClean="0">
                          <a:latin typeface="Times New Roman" panose="02020603050405020304" pitchFamily="18" charset="0"/>
                          <a:cs typeface="Times New Roman" panose="02020603050405020304" pitchFamily="18" charset="0"/>
                        </a:rPr>
                        <a:t> Lily Zhang, </a:t>
                      </a:r>
                      <a:r>
                        <a:rPr lang="en-IN" sz="1600" b="0" dirty="0" err="1" smtClean="0">
                          <a:latin typeface="Times New Roman" panose="02020603050405020304" pitchFamily="18" charset="0"/>
                          <a:cs typeface="Times New Roman" panose="02020603050405020304" pitchFamily="18" charset="0"/>
                        </a:rPr>
                        <a:t>Dr.</a:t>
                      </a:r>
                      <a:r>
                        <a:rPr lang="en-IN" sz="1600" b="0" dirty="0" smtClean="0">
                          <a:latin typeface="Times New Roman" panose="02020603050405020304" pitchFamily="18" charset="0"/>
                          <a:cs typeface="Times New Roman" panose="02020603050405020304" pitchFamily="18" charset="0"/>
                        </a:rPr>
                        <a:t> John Brooks</a:t>
                      </a:r>
                      <a:endParaRPr lang="en-IN" sz="1600" b="0" dirty="0">
                        <a:latin typeface="Times New Roman" panose="02020603050405020304" pitchFamily="18" charset="0"/>
                        <a:cs typeface="Times New Roman" panose="02020603050405020304" pitchFamily="18" charset="0"/>
                      </a:endParaRPr>
                    </a:p>
                  </a:txBody>
                  <a:tcPr/>
                </a:tc>
                <a:tc>
                  <a:txBody>
                    <a:bodyPr/>
                    <a:lstStyle/>
                    <a:p>
                      <a:pPr algn="just"/>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This study explores the integration of AI techniques with traditional diagnostic methods for managing dry eye disease. The approach combines symptom questionnaires, clinical tests, and AI-based models, including CNNs and ensemble learning methods, to enhance diagnostic accuracy. The paper discusses how AI can complement traditional methods by providing objective analyses and integrating multi-source evidence. The effectiveness of the integrated approach is evaluated through case studies and performance metrics such as accuracy and diagnostic accuracy.</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lvl="0" algn="just"/>
                      <a:r>
                        <a:rPr lang="en-IN" sz="1600" dirty="0" smtClean="0">
                          <a:latin typeface="Times New Roman" panose="02020603050405020304" pitchFamily="18" charset="0"/>
                          <a:cs typeface="Times New Roman" panose="02020603050405020304" pitchFamily="18" charset="0"/>
                        </a:rPr>
                        <a:t>•	The integration process may be complex and require significant resources for implementation. </a:t>
                      </a:r>
                    </a:p>
                    <a:p>
                      <a:pPr lvl="0" algn="just"/>
                      <a:r>
                        <a:rPr lang="en-IN" sz="1600" dirty="0" smtClean="0">
                          <a:latin typeface="Times New Roman" panose="02020603050405020304" pitchFamily="18" charset="0"/>
                          <a:cs typeface="Times New Roman" panose="02020603050405020304" pitchFamily="18" charset="0"/>
                        </a:rPr>
                        <a:t>•	There may also be challenges in harmonizing AI outputs with traditional diagnostic practices and ensuring seamless integration into existing clinical workflows.</a:t>
                      </a:r>
                    </a:p>
                  </a:txBody>
                  <a:tcPr/>
                </a:tc>
              </a:tr>
            </a:tbl>
          </a:graphicData>
        </a:graphic>
      </p:graphicFrame>
    </p:spTree>
    <p:extLst>
      <p:ext uri="{BB962C8B-B14F-4D97-AF65-F5344CB8AC3E}">
        <p14:creationId xmlns:p14="http://schemas.microsoft.com/office/powerpoint/2010/main" val="144981877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007"/>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Conclusion</a:t>
            </a:r>
            <a:endParaRPr lang="en-IN" b="1" dirty="0"/>
          </a:p>
        </p:txBody>
      </p:sp>
      <p:sp>
        <p:nvSpPr>
          <p:cNvPr id="3" name="Content Placeholder 2"/>
          <p:cNvSpPr>
            <a:spLocks noGrp="1"/>
          </p:cNvSpPr>
          <p:nvPr>
            <p:ph idx="1"/>
          </p:nvPr>
        </p:nvSpPr>
        <p:spPr>
          <a:xfrm>
            <a:off x="412124" y="1339403"/>
            <a:ext cx="11331262" cy="5074275"/>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In conclusion, the integrated system for dry eye disease detection and eye blink analysis demonstrates a robust approach to medical image processing and classification.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By </a:t>
            </a:r>
            <a:r>
              <a:rPr lang="en-IN" sz="2000" dirty="0">
                <a:latin typeface="Times New Roman" panose="02020603050405020304" pitchFamily="18" charset="0"/>
                <a:cs typeface="Times New Roman" panose="02020603050405020304" pitchFamily="18" charset="0"/>
              </a:rPr>
              <a:t>combining a CSV file with dry eye disease data and an image dataset of eye conditions and blinks, the system employs a comprehensive workflow that includes preprocessing steps such as resizing and grayscale conversion to standardize the input data.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Classification </a:t>
            </a:r>
            <a:r>
              <a:rPr lang="en-IN" sz="2000" dirty="0">
                <a:latin typeface="Times New Roman" panose="02020603050405020304" pitchFamily="18" charset="0"/>
                <a:cs typeface="Times New Roman" panose="02020603050405020304" pitchFamily="18" charset="0"/>
              </a:rPr>
              <a:t>is carried out using Multi-Layer Perceptron (MLP) for disease prediction, and VGG-19 and </a:t>
            </a:r>
            <a:r>
              <a:rPr lang="en-IN" sz="2000" dirty="0" err="1">
                <a:latin typeface="Times New Roman" panose="02020603050405020304" pitchFamily="18" charset="0"/>
                <a:cs typeface="Times New Roman" panose="02020603050405020304" pitchFamily="18" charset="0"/>
              </a:rPr>
              <a:t>MobileNet</a:t>
            </a:r>
            <a:r>
              <a:rPr lang="en-IN" sz="2000" dirty="0">
                <a:latin typeface="Times New Roman" panose="02020603050405020304" pitchFamily="18" charset="0"/>
                <a:cs typeface="Times New Roman" panose="02020603050405020304" pitchFamily="18" charset="0"/>
              </a:rPr>
              <a:t> for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eye blinks and eye disease, respectively.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Overall</a:t>
            </a:r>
            <a:r>
              <a:rPr lang="en-IN" sz="2000" dirty="0">
                <a:latin typeface="Times New Roman" panose="02020603050405020304" pitchFamily="18" charset="0"/>
                <a:cs typeface="Times New Roman" panose="02020603050405020304" pitchFamily="18" charset="0"/>
              </a:rPr>
              <a:t>, this approach ensures a detailed and accurate diagnosis of dry eye disease and effective detection of eye blinks, paving the way for advanced diagnostic tools in ophthalmology.</a:t>
            </a:r>
            <a:endParaRPr lang="en-IN" sz="2000"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06671887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007"/>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Future Work</a:t>
            </a:r>
            <a:endParaRPr lang="en-IN" b="1" dirty="0"/>
          </a:p>
        </p:txBody>
      </p:sp>
      <p:sp>
        <p:nvSpPr>
          <p:cNvPr id="3" name="Content Placeholder 2"/>
          <p:cNvSpPr>
            <a:spLocks noGrp="1"/>
          </p:cNvSpPr>
          <p:nvPr>
            <p:ph idx="1"/>
          </p:nvPr>
        </p:nvSpPr>
        <p:spPr>
          <a:xfrm>
            <a:off x="502275" y="1468192"/>
            <a:ext cx="11256135" cy="4868214"/>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For future work, the system can be enhanced by incorporating several advancements to improve both accuracy and efficiency.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One </a:t>
            </a:r>
            <a:r>
              <a:rPr lang="en-IN" sz="2000" dirty="0">
                <a:latin typeface="Times New Roman" panose="02020603050405020304" pitchFamily="18" charset="0"/>
                <a:cs typeface="Times New Roman" panose="02020603050405020304" pitchFamily="18" charset="0"/>
              </a:rPr>
              <a:t>potential direction is to expand the dataset with diverse and comprehensive samples, including a wider variety of eye conditions and demographic groups, to enhance the model's generalizability.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smtClean="0">
                <a:latin typeface="Times New Roman" panose="02020603050405020304" pitchFamily="18" charset="0"/>
                <a:cs typeface="Times New Roman" panose="02020603050405020304" pitchFamily="18" charset="0"/>
              </a:rPr>
              <a:t>Incorporating </a:t>
            </a:r>
            <a:r>
              <a:rPr lang="en-IN" sz="2000" dirty="0">
                <a:latin typeface="Times New Roman" panose="02020603050405020304" pitchFamily="18" charset="0"/>
                <a:cs typeface="Times New Roman" panose="02020603050405020304" pitchFamily="18" charset="0"/>
              </a:rPr>
              <a:t>additional data sources, such as patient medical histories or environmental factors, could provide more context and improve prediction accuracy. </a:t>
            </a:r>
            <a:endParaRPr lang="en-IN" sz="2000" dirty="0" smtClean="0">
              <a:latin typeface="Times New Roman" panose="02020603050405020304" pitchFamily="18" charset="0"/>
              <a:cs typeface="Times New Roman" panose="02020603050405020304" pitchFamily="18" charset="0"/>
            </a:endParaRPr>
          </a:p>
          <a:p>
            <a:pPr algn="just">
              <a:lnSpc>
                <a:spcPct val="150000"/>
              </a:lnSpc>
            </a:pPr>
            <a:r>
              <a:rPr lang="en-IN" sz="2000" dirty="0" err="1" smtClean="0">
                <a:latin typeface="Times New Roman" panose="02020603050405020304" pitchFamily="18" charset="0"/>
                <a:cs typeface="Times New Roman" panose="02020603050405020304" pitchFamily="18" charset="0"/>
              </a:rPr>
              <a:t>urther</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refinement of preprocessing techniques, such as incorporating advanced image enhancement methods, might also yield better feature extraction results.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36577096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007"/>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References</a:t>
            </a:r>
            <a:endParaRPr lang="en-IN" b="1" dirty="0"/>
          </a:p>
        </p:txBody>
      </p:sp>
      <p:sp>
        <p:nvSpPr>
          <p:cNvPr id="3" name="Content Placeholder 2"/>
          <p:cNvSpPr>
            <a:spLocks noGrp="1"/>
          </p:cNvSpPr>
          <p:nvPr>
            <p:ph idx="1"/>
          </p:nvPr>
        </p:nvSpPr>
        <p:spPr>
          <a:xfrm>
            <a:off x="489398" y="1455313"/>
            <a:ext cx="11241110" cy="4803820"/>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1.	Shao, X., Zhang, Y., Liu, M., Zhang, H., &amp; Li, Y. (2023). "Deep learning-based methods for dry eye disease diagnosis: A systematic review and meta-analysis." Journal of Biomedical Informatics, 136, 104185. </a:t>
            </a:r>
          </a:p>
          <a:p>
            <a:pPr algn="just">
              <a:lnSpc>
                <a:spcPct val="150000"/>
              </a:lnSpc>
            </a:pPr>
            <a:r>
              <a:rPr lang="en-IN" sz="2000" dirty="0">
                <a:latin typeface="Times New Roman" panose="02020603050405020304" pitchFamily="18" charset="0"/>
                <a:cs typeface="Times New Roman" panose="02020603050405020304" pitchFamily="18" charset="0"/>
              </a:rPr>
              <a:t>2.	Wang, Z., Li, X., Zhang, Y., &amp; Liu, Q. (2023). "Automated detection of dry eye disease using deep convolutional neural networks." IEEE Transactions on Medical Imaging, 42(7), 1505-1515. DOI: 10.1109/TMI.2023.3250447</a:t>
            </a:r>
          </a:p>
          <a:p>
            <a:pPr algn="just">
              <a:lnSpc>
                <a:spcPct val="150000"/>
              </a:lnSpc>
            </a:pPr>
            <a:r>
              <a:rPr lang="en-IN" sz="2000" dirty="0">
                <a:latin typeface="Times New Roman" panose="02020603050405020304" pitchFamily="18" charset="0"/>
                <a:cs typeface="Times New Roman" panose="02020603050405020304" pitchFamily="18" charset="0"/>
              </a:rPr>
              <a:t>3.	Jiang, Y., Zhang, X., Liu, Y., &amp; Zhang, Q. (2022). "Application of machine learning in ophthalmology: A comprehensive review of recent advances." Artificial Intelligence Review, 55(6), 4305-4330. DOI: </a:t>
            </a:r>
            <a:r>
              <a:rPr lang="en-IN" sz="2000" dirty="0" smtClean="0">
                <a:latin typeface="Times New Roman" panose="02020603050405020304" pitchFamily="18" charset="0"/>
                <a:cs typeface="Times New Roman" panose="02020603050405020304" pitchFamily="18" charset="0"/>
              </a:rPr>
              <a:t>10.1007/s10462-022-10110-1</a:t>
            </a: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60532163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007"/>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References</a:t>
            </a:r>
            <a:endParaRPr lang="en-IN" b="1" dirty="0"/>
          </a:p>
        </p:txBody>
      </p:sp>
      <p:sp>
        <p:nvSpPr>
          <p:cNvPr id="3" name="Content Placeholder 2"/>
          <p:cNvSpPr>
            <a:spLocks noGrp="1"/>
          </p:cNvSpPr>
          <p:nvPr>
            <p:ph idx="1"/>
          </p:nvPr>
        </p:nvSpPr>
        <p:spPr>
          <a:xfrm>
            <a:off x="540913" y="1629570"/>
            <a:ext cx="11202473" cy="4539410"/>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4.	Liu, X., Liu, Y., Zhang, X., &amp; Chen, L. (2022). "Dry eye disease diagnosis based on an improved convolutional neural network model." BMC Ophthalmology, 22(1), 320. DOI: 10.1186/s12886-022-02361-3</a:t>
            </a:r>
          </a:p>
          <a:p>
            <a:pPr algn="just">
              <a:lnSpc>
                <a:spcPct val="150000"/>
              </a:lnSpc>
            </a:pPr>
            <a:r>
              <a:rPr lang="en-IN" sz="2000" dirty="0">
                <a:latin typeface="Times New Roman" panose="02020603050405020304" pitchFamily="18" charset="0"/>
                <a:cs typeface="Times New Roman" panose="02020603050405020304" pitchFamily="18" charset="0"/>
              </a:rPr>
              <a:t>5.	Kumar, S., Choi, S., &amp; Lee, H. (2023). "Eye blink detection using deep learning techniques: A review and future directions." Sensors, 23(4), 1541. DOI: 10.3390/s23041541</a:t>
            </a:r>
          </a:p>
          <a:p>
            <a:pPr algn="just">
              <a:lnSpc>
                <a:spcPct val="150000"/>
              </a:lnSpc>
            </a:pPr>
            <a:r>
              <a:rPr lang="en-IN" sz="2000" dirty="0">
                <a:latin typeface="Times New Roman" panose="02020603050405020304" pitchFamily="18" charset="0"/>
                <a:cs typeface="Times New Roman" panose="02020603050405020304" pitchFamily="18" charset="0"/>
              </a:rPr>
              <a:t>6.	Nair, A., Sinha, R., &amp; Mittal, A. (2023). "Evaluation of </a:t>
            </a:r>
            <a:r>
              <a:rPr lang="en-IN" sz="2000" dirty="0" err="1">
                <a:latin typeface="Times New Roman" panose="02020603050405020304" pitchFamily="18" charset="0"/>
                <a:cs typeface="Times New Roman" panose="02020603050405020304" pitchFamily="18" charset="0"/>
              </a:rPr>
              <a:t>MobileNet</a:t>
            </a:r>
            <a:r>
              <a:rPr lang="en-IN" sz="2000" dirty="0">
                <a:latin typeface="Times New Roman" panose="02020603050405020304" pitchFamily="18" charset="0"/>
                <a:cs typeface="Times New Roman" panose="02020603050405020304" pitchFamily="18" charset="0"/>
              </a:rPr>
              <a:t> for real-time eye disease detection." Journal of Computer Vision and Image Understanding, 231, 103349. DOI: 10.1016/j.jcvi.2023.103349</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97251025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5731"/>
            <a:ext cx="10515600" cy="1325563"/>
          </a:xfrm>
        </p:spPr>
        <p:txBody>
          <a:bodyPr>
            <a:normAutofit/>
          </a:bodyPr>
          <a:lstStyle/>
          <a:p>
            <a:pPr algn="ctr"/>
            <a:r>
              <a:rPr lang="en-US" sz="5200" b="1"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IN" sz="5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976344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2837</TotalTime>
  <Words>3487</Words>
  <Application>Microsoft Office PowerPoint</Application>
  <PresentationFormat>Widescreen</PresentationFormat>
  <Paragraphs>371</Paragraphs>
  <Slides>62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Calibri Light</vt:lpstr>
      <vt:lpstr>Times New Roman</vt:lpstr>
      <vt:lpstr>Office Theme</vt:lpstr>
      <vt:lpstr>AI-Based Advanced Approaches and Dry Eye Disease Detection Based on Multi-Source Evidence: Cases, Applications, Issues, and Future Directions</vt:lpstr>
      <vt:lpstr>Domain Introduction</vt:lpstr>
      <vt:lpstr>Abstract</vt:lpstr>
      <vt:lpstr>Objectives</vt:lpstr>
      <vt:lpstr>Introduction</vt:lpstr>
      <vt:lpstr>Existing system</vt:lpstr>
      <vt:lpstr>Disadvantages</vt:lpstr>
      <vt:lpstr>Proposed system</vt:lpstr>
      <vt:lpstr>Advantages</vt:lpstr>
      <vt:lpstr>Architecture diagram</vt:lpstr>
      <vt:lpstr>Flow diagram</vt:lpstr>
      <vt:lpstr>PowerPoint Presentation</vt:lpstr>
      <vt:lpstr>PowerPoint Presentation</vt:lpstr>
      <vt:lpstr>PowerPoint Presentation</vt:lpstr>
      <vt:lpstr>PowerPoint Presentation</vt:lpstr>
      <vt:lpstr>PowerPoint Presentation</vt:lpstr>
      <vt:lpstr>DFD diagram – Level 0</vt:lpstr>
      <vt:lpstr>DFD diagram – Level 1</vt:lpstr>
      <vt:lpstr>DFD diagram – Level 2</vt:lpstr>
      <vt:lpstr>System Requirements</vt:lpstr>
      <vt:lpstr>Modules – Dry Eye Prediction</vt:lpstr>
      <vt:lpstr>Modules description</vt:lpstr>
      <vt:lpstr>Input and Preliminary process</vt:lpstr>
      <vt:lpstr>Data Splitting </vt:lpstr>
      <vt:lpstr>Model Generation</vt:lpstr>
      <vt:lpstr>Prediction</vt:lpstr>
      <vt:lpstr>Modules –Eye Disease &amp; Eye Blink</vt:lpstr>
      <vt:lpstr>Modules description</vt:lpstr>
      <vt:lpstr>Input and Preliminary process</vt:lpstr>
      <vt:lpstr>Input and Preliminary process contd..</vt:lpstr>
      <vt:lpstr>Feature Extraction</vt:lpstr>
      <vt:lpstr>Classification</vt:lpstr>
      <vt:lpstr>Prediction</vt:lpstr>
      <vt:lpstr>Result generation  </vt:lpstr>
      <vt:lpstr>Screenshots</vt:lpstr>
      <vt:lpstr>Register</vt:lpstr>
      <vt:lpstr>Login</vt:lpstr>
      <vt:lpstr>Prediction Page – Dry Eye Disease</vt:lpstr>
      <vt:lpstr>Data Selection</vt:lpstr>
      <vt:lpstr>Preprocessing – Checking Missing Values</vt:lpstr>
      <vt:lpstr>Preprocessing – Label Encoding</vt:lpstr>
      <vt:lpstr>Data Splitting</vt:lpstr>
      <vt:lpstr>MLP &amp; Prediction</vt:lpstr>
      <vt:lpstr>Eye Disease Prediction – Upload Image</vt:lpstr>
      <vt:lpstr>Input &amp; Pre-render</vt:lpstr>
      <vt:lpstr>Feature extraction &amp; Image Splitting</vt:lpstr>
      <vt:lpstr>Classification &amp; Prediction</vt:lpstr>
      <vt:lpstr>Eye Blink Prediction – Upload Image</vt:lpstr>
      <vt:lpstr>Input &amp; Pre-render</vt:lpstr>
      <vt:lpstr>Feature extraction &amp; Image Splitting</vt:lpstr>
      <vt:lpstr>Classification &amp; Prediction</vt:lpstr>
      <vt:lpstr>Literature survey</vt:lpstr>
      <vt:lpstr>PowerPoint Presentation</vt:lpstr>
      <vt:lpstr>PowerPoint Presentation</vt:lpstr>
      <vt:lpstr>PowerPoint Presentation</vt:lpstr>
      <vt:lpstr>PowerPoint Presentation</vt:lpstr>
      <vt:lpstr>PowerPoint Presentation</vt:lpstr>
      <vt:lpstr>Conclusion</vt:lpstr>
      <vt:lpstr>Future Work</vt:lpstr>
      <vt:lpstr>References</vt:lpstr>
      <vt:lpstr>References</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method for flow-based network intrusion detection using the inverse Potts model </dc:title>
  <dc:creator>EGC</dc:creator>
  <cp:lastModifiedBy>IT</cp:lastModifiedBy>
  <cp:revision>827</cp:revision>
  <dcterms:created xsi:type="dcterms:W3CDTF">2021-12-17T07:36:29Z</dcterms:created>
  <dcterms:modified xsi:type="dcterms:W3CDTF">2024-11-18T12:13:59Z</dcterms:modified>
</cp:coreProperties>
</file>